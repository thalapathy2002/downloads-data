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7556500" cy="10693400"/>
  <p:notesSz cx="7556500" cy="10693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7724" y="2758415"/>
            <a:ext cx="5664834" cy="110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2721382"/>
            <a:ext cx="6673850" cy="2988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8.png"/><Relationship Id="rId15" Type="http://schemas.openxmlformats.org/officeDocument/2006/relationships/image" Target="../media/image49.png"/><Relationship Id="rId16" Type="http://schemas.openxmlformats.org/officeDocument/2006/relationships/image" Target="../media/image50.png"/><Relationship Id="rId17" Type="http://schemas.openxmlformats.org/officeDocument/2006/relationships/image" Target="../media/image51.png"/><Relationship Id="rId18" Type="http://schemas.openxmlformats.org/officeDocument/2006/relationships/image" Target="../media/image52.png"/><Relationship Id="rId19" Type="http://schemas.openxmlformats.org/officeDocument/2006/relationships/image" Target="../media/image5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Relationship Id="rId14" Type="http://schemas.openxmlformats.org/officeDocument/2006/relationships/image" Target="../media/image79.png"/><Relationship Id="rId15" Type="http://schemas.openxmlformats.org/officeDocument/2006/relationships/image" Target="../media/image80.png"/><Relationship Id="rId16" Type="http://schemas.openxmlformats.org/officeDocument/2006/relationships/image" Target="../media/image81.png"/><Relationship Id="rId17" Type="http://schemas.openxmlformats.org/officeDocument/2006/relationships/image" Target="../media/image82.png"/><Relationship Id="rId18" Type="http://schemas.openxmlformats.org/officeDocument/2006/relationships/image" Target="../media/image83.png"/><Relationship Id="rId19" Type="http://schemas.openxmlformats.org/officeDocument/2006/relationships/image" Target="../media/image84.png"/><Relationship Id="rId20" Type="http://schemas.openxmlformats.org/officeDocument/2006/relationships/image" Target="../media/image85.png"/><Relationship Id="rId21" Type="http://schemas.openxmlformats.org/officeDocument/2006/relationships/image" Target="../media/image8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Relationship Id="rId12" Type="http://schemas.openxmlformats.org/officeDocument/2006/relationships/image" Target="../media/image97.png"/><Relationship Id="rId13" Type="http://schemas.openxmlformats.org/officeDocument/2006/relationships/image" Target="../media/image98.png"/><Relationship Id="rId14" Type="http://schemas.openxmlformats.org/officeDocument/2006/relationships/image" Target="../media/image99.png"/><Relationship Id="rId15" Type="http://schemas.openxmlformats.org/officeDocument/2006/relationships/image" Target="../media/image100.png"/><Relationship Id="rId16" Type="http://schemas.openxmlformats.org/officeDocument/2006/relationships/image" Target="../media/image101.png"/><Relationship Id="rId17" Type="http://schemas.openxmlformats.org/officeDocument/2006/relationships/image" Target="../media/image102.png"/><Relationship Id="rId18" Type="http://schemas.openxmlformats.org/officeDocument/2006/relationships/image" Target="../media/image103.png"/><Relationship Id="rId19" Type="http://schemas.openxmlformats.org/officeDocument/2006/relationships/image" Target="../media/image104.png"/><Relationship Id="rId20" Type="http://schemas.openxmlformats.org/officeDocument/2006/relationships/image" Target="../media/image105.png"/><Relationship Id="rId21" Type="http://schemas.openxmlformats.org/officeDocument/2006/relationships/image" Target="../media/image106.png"/><Relationship Id="rId22" Type="http://schemas.openxmlformats.org/officeDocument/2006/relationships/image" Target="../media/image107.png"/><Relationship Id="rId23" Type="http://schemas.openxmlformats.org/officeDocument/2006/relationships/image" Target="../media/image108.png"/><Relationship Id="rId24" Type="http://schemas.openxmlformats.org/officeDocument/2006/relationships/image" Target="../media/image109.png"/><Relationship Id="rId25" Type="http://schemas.openxmlformats.org/officeDocument/2006/relationships/image" Target="../media/image110.png"/><Relationship Id="rId26" Type="http://schemas.openxmlformats.org/officeDocument/2006/relationships/image" Target="../media/image111.png"/><Relationship Id="rId27" Type="http://schemas.openxmlformats.org/officeDocument/2006/relationships/image" Target="../media/image112.png"/><Relationship Id="rId28" Type="http://schemas.openxmlformats.org/officeDocument/2006/relationships/image" Target="../media/image1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Relationship Id="rId9" Type="http://schemas.openxmlformats.org/officeDocument/2006/relationships/image" Target="../media/image121.png"/><Relationship Id="rId10" Type="http://schemas.openxmlformats.org/officeDocument/2006/relationships/image" Target="../media/image122.png"/><Relationship Id="rId11" Type="http://schemas.openxmlformats.org/officeDocument/2006/relationships/image" Target="../media/image88.png"/><Relationship Id="rId12" Type="http://schemas.openxmlformats.org/officeDocument/2006/relationships/image" Target="../media/image123.png"/><Relationship Id="rId13" Type="http://schemas.openxmlformats.org/officeDocument/2006/relationships/image" Target="../media/image124.png"/><Relationship Id="rId14" Type="http://schemas.openxmlformats.org/officeDocument/2006/relationships/image" Target="../media/image125.png"/><Relationship Id="rId15" Type="http://schemas.openxmlformats.org/officeDocument/2006/relationships/image" Target="../media/image93.png"/><Relationship Id="rId16" Type="http://schemas.openxmlformats.org/officeDocument/2006/relationships/image" Target="../media/image126.png"/><Relationship Id="rId17" Type="http://schemas.openxmlformats.org/officeDocument/2006/relationships/image" Target="../media/image127.png"/><Relationship Id="rId18" Type="http://schemas.openxmlformats.org/officeDocument/2006/relationships/image" Target="../media/image128.png"/><Relationship Id="rId19" Type="http://schemas.openxmlformats.org/officeDocument/2006/relationships/image" Target="../media/image129.png"/><Relationship Id="rId20" Type="http://schemas.openxmlformats.org/officeDocument/2006/relationships/image" Target="../media/image98.png"/><Relationship Id="rId21" Type="http://schemas.openxmlformats.org/officeDocument/2006/relationships/image" Target="../media/image130.png"/><Relationship Id="rId22" Type="http://schemas.openxmlformats.org/officeDocument/2006/relationships/image" Target="../media/image131.png"/><Relationship Id="rId23" Type="http://schemas.openxmlformats.org/officeDocument/2006/relationships/image" Target="../media/image132.png"/><Relationship Id="rId24" Type="http://schemas.openxmlformats.org/officeDocument/2006/relationships/image" Target="../media/image133.png"/><Relationship Id="rId25" Type="http://schemas.openxmlformats.org/officeDocument/2006/relationships/image" Target="../media/image13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3" Type="http://schemas.openxmlformats.org/officeDocument/2006/relationships/image" Target="../media/image88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93.png"/><Relationship Id="rId9" Type="http://schemas.openxmlformats.org/officeDocument/2006/relationships/image" Target="../media/image139.png"/><Relationship Id="rId10" Type="http://schemas.openxmlformats.org/officeDocument/2006/relationships/image" Target="../media/image140.png"/><Relationship Id="rId11" Type="http://schemas.openxmlformats.org/officeDocument/2006/relationships/image" Target="../media/image141.png"/><Relationship Id="rId12" Type="http://schemas.openxmlformats.org/officeDocument/2006/relationships/image" Target="../media/image142.png"/><Relationship Id="rId13" Type="http://schemas.openxmlformats.org/officeDocument/2006/relationships/image" Target="../media/image143.png"/><Relationship Id="rId14" Type="http://schemas.openxmlformats.org/officeDocument/2006/relationships/image" Target="../media/image144.png"/><Relationship Id="rId15" Type="http://schemas.openxmlformats.org/officeDocument/2006/relationships/image" Target="../media/image98.png"/><Relationship Id="rId16" Type="http://schemas.openxmlformats.org/officeDocument/2006/relationships/image" Target="../media/image145.png"/><Relationship Id="rId17" Type="http://schemas.openxmlformats.org/officeDocument/2006/relationships/image" Target="../media/image146.png"/><Relationship Id="rId18" Type="http://schemas.openxmlformats.org/officeDocument/2006/relationships/image" Target="../media/image147.png"/><Relationship Id="rId19" Type="http://schemas.openxmlformats.org/officeDocument/2006/relationships/image" Target="../media/image148.png"/><Relationship Id="rId20" Type="http://schemas.openxmlformats.org/officeDocument/2006/relationships/image" Target="../media/image149.png"/><Relationship Id="rId21" Type="http://schemas.openxmlformats.org/officeDocument/2006/relationships/image" Target="../media/image150.png"/><Relationship Id="rId22" Type="http://schemas.openxmlformats.org/officeDocument/2006/relationships/image" Target="../media/image151.png"/><Relationship Id="rId23" Type="http://schemas.openxmlformats.org/officeDocument/2006/relationships/image" Target="../media/image152.png"/><Relationship Id="rId24" Type="http://schemas.openxmlformats.org/officeDocument/2006/relationships/image" Target="../media/image153.png"/><Relationship Id="rId25" Type="http://schemas.openxmlformats.org/officeDocument/2006/relationships/image" Target="../media/image154.png"/><Relationship Id="rId26" Type="http://schemas.openxmlformats.org/officeDocument/2006/relationships/image" Target="../media/image155.png"/><Relationship Id="rId27" Type="http://schemas.openxmlformats.org/officeDocument/2006/relationships/image" Target="../media/image156.png"/><Relationship Id="rId28" Type="http://schemas.openxmlformats.org/officeDocument/2006/relationships/image" Target="../media/image157.png"/><Relationship Id="rId29" Type="http://schemas.openxmlformats.org/officeDocument/2006/relationships/image" Target="../media/image158.png"/><Relationship Id="rId30" Type="http://schemas.openxmlformats.org/officeDocument/2006/relationships/image" Target="../media/image15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image" Target="../media/image164.png"/><Relationship Id="rId7" Type="http://schemas.openxmlformats.org/officeDocument/2006/relationships/image" Target="../media/image165.png"/><Relationship Id="rId8" Type="http://schemas.openxmlformats.org/officeDocument/2006/relationships/image" Target="../media/image166.png"/><Relationship Id="rId9" Type="http://schemas.openxmlformats.org/officeDocument/2006/relationships/image" Target="../media/image167.png"/><Relationship Id="rId10" Type="http://schemas.openxmlformats.org/officeDocument/2006/relationships/image" Target="../media/image168.png"/><Relationship Id="rId11" Type="http://schemas.openxmlformats.org/officeDocument/2006/relationships/image" Target="../media/image169.png"/><Relationship Id="rId12" Type="http://schemas.openxmlformats.org/officeDocument/2006/relationships/image" Target="../media/image170.png"/><Relationship Id="rId13" Type="http://schemas.openxmlformats.org/officeDocument/2006/relationships/image" Target="../media/image171.png"/><Relationship Id="rId14" Type="http://schemas.openxmlformats.org/officeDocument/2006/relationships/image" Target="../media/image172.png"/><Relationship Id="rId15" Type="http://schemas.openxmlformats.org/officeDocument/2006/relationships/image" Target="../media/image173.png"/><Relationship Id="rId16" Type="http://schemas.openxmlformats.org/officeDocument/2006/relationships/image" Target="../media/image174.png"/><Relationship Id="rId17" Type="http://schemas.openxmlformats.org/officeDocument/2006/relationships/image" Target="../media/image175.png"/><Relationship Id="rId18" Type="http://schemas.openxmlformats.org/officeDocument/2006/relationships/image" Target="../media/image176.png"/><Relationship Id="rId19" Type="http://schemas.openxmlformats.org/officeDocument/2006/relationships/image" Target="../media/image177.png"/><Relationship Id="rId20" Type="http://schemas.openxmlformats.org/officeDocument/2006/relationships/image" Target="../media/image178.png"/><Relationship Id="rId21" Type="http://schemas.openxmlformats.org/officeDocument/2006/relationships/image" Target="../media/image179.png"/><Relationship Id="rId22" Type="http://schemas.openxmlformats.org/officeDocument/2006/relationships/image" Target="../media/image18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Relationship Id="rId4" Type="http://schemas.openxmlformats.org/officeDocument/2006/relationships/image" Target="../media/image183.png"/><Relationship Id="rId5" Type="http://schemas.openxmlformats.org/officeDocument/2006/relationships/image" Target="../media/image170.png"/><Relationship Id="rId6" Type="http://schemas.openxmlformats.org/officeDocument/2006/relationships/image" Target="../media/image184.png"/><Relationship Id="rId7" Type="http://schemas.openxmlformats.org/officeDocument/2006/relationships/image" Target="../media/image185.png"/><Relationship Id="rId8" Type="http://schemas.openxmlformats.org/officeDocument/2006/relationships/image" Target="../media/image186.png"/><Relationship Id="rId9" Type="http://schemas.openxmlformats.org/officeDocument/2006/relationships/image" Target="../media/image187.png"/><Relationship Id="rId10" Type="http://schemas.openxmlformats.org/officeDocument/2006/relationships/image" Target="../media/image188.png"/><Relationship Id="rId11" Type="http://schemas.openxmlformats.org/officeDocument/2006/relationships/image" Target="../media/image189.png"/><Relationship Id="rId12" Type="http://schemas.openxmlformats.org/officeDocument/2006/relationships/image" Target="../media/image190.png"/><Relationship Id="rId13" Type="http://schemas.openxmlformats.org/officeDocument/2006/relationships/image" Target="../media/image191.png"/><Relationship Id="rId14" Type="http://schemas.openxmlformats.org/officeDocument/2006/relationships/image" Target="../media/image192.png"/><Relationship Id="rId15" Type="http://schemas.openxmlformats.org/officeDocument/2006/relationships/image" Target="../media/image193.png"/><Relationship Id="rId16" Type="http://schemas.openxmlformats.org/officeDocument/2006/relationships/image" Target="../media/image194.jpg"/><Relationship Id="rId17" Type="http://schemas.openxmlformats.org/officeDocument/2006/relationships/image" Target="../media/image19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6.jpg"/><Relationship Id="rId3" Type="http://schemas.openxmlformats.org/officeDocument/2006/relationships/image" Target="../media/image197.jpg"/><Relationship Id="rId4" Type="http://schemas.openxmlformats.org/officeDocument/2006/relationships/image" Target="../media/image198.jpg"/><Relationship Id="rId5" Type="http://schemas.openxmlformats.org/officeDocument/2006/relationships/image" Target="../media/image19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forms.gle/sRtzkqQ7HXYv63be8" TargetMode="External"/><Relationship Id="rId3" Type="http://schemas.openxmlformats.org/officeDocument/2006/relationships/image" Target="../media/image20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7314" y="1866541"/>
            <a:ext cx="3804920" cy="937260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dirty="0" sz="2200" spc="-5">
                <a:latin typeface="Calibri"/>
                <a:cs typeface="Calibri"/>
              </a:rPr>
              <a:t>Community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Development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Project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70"/>
              </a:spcBef>
            </a:pPr>
            <a:r>
              <a:rPr dirty="0" sz="1800" spc="-5"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54605" marR="5080" indent="-2542540">
              <a:lnSpc>
                <a:spcPct val="135900"/>
              </a:lnSpc>
              <a:spcBef>
                <a:spcPts val="95"/>
              </a:spcBef>
            </a:pPr>
            <a:r>
              <a:rPr dirty="0" spc="-15"/>
              <a:t>Creating</a:t>
            </a:r>
            <a:r>
              <a:rPr dirty="0" spc="-10"/>
              <a:t> </a:t>
            </a:r>
            <a:r>
              <a:rPr dirty="0" spc="-15"/>
              <a:t>awareness</a:t>
            </a:r>
            <a:r>
              <a:rPr dirty="0" spc="-5"/>
              <a:t> about </a:t>
            </a:r>
            <a:r>
              <a:rPr dirty="0"/>
              <a:t>old </a:t>
            </a:r>
            <a:r>
              <a:rPr dirty="0" spc="-15"/>
              <a:t>age</a:t>
            </a:r>
            <a:r>
              <a:rPr dirty="0" spc="-10"/>
              <a:t> </a:t>
            </a:r>
            <a:r>
              <a:rPr dirty="0" spc="-5"/>
              <a:t>people </a:t>
            </a:r>
            <a:r>
              <a:rPr dirty="0" spc="-575"/>
              <a:t> </a:t>
            </a:r>
            <a:r>
              <a:rPr dirty="0" spc="-10"/>
              <a:t>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87295" y="3974718"/>
            <a:ext cx="258508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latin typeface="Calibri"/>
                <a:cs typeface="Calibri"/>
              </a:rPr>
              <a:t>Single</a:t>
            </a:r>
            <a:r>
              <a:rPr dirty="0" sz="2600" spc="-50" b="1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Parent</a:t>
            </a:r>
            <a:r>
              <a:rPr dirty="0" sz="2600" spc="-40" b="1">
                <a:latin typeface="Calibri"/>
                <a:cs typeface="Calibri"/>
              </a:rPr>
              <a:t> </a:t>
            </a:r>
            <a:r>
              <a:rPr dirty="0" sz="2600" spc="-5" b="1">
                <a:latin typeface="Calibri"/>
                <a:cs typeface="Calibri"/>
              </a:rPr>
              <a:t>Child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7335" y="4771212"/>
            <a:ext cx="1948814" cy="151892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dirty="0" sz="1400" spc="-10">
                <a:latin typeface="Calibri"/>
                <a:cs typeface="Calibri"/>
              </a:rPr>
              <a:t>Submitted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By: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dirty="0" sz="2000" b="1">
                <a:latin typeface="Calibri"/>
                <a:cs typeface="Calibri"/>
              </a:rPr>
              <a:t>Sam</a:t>
            </a:r>
            <a:r>
              <a:rPr dirty="0" sz="2000" spc="-20" b="1">
                <a:latin typeface="Calibri"/>
                <a:cs typeface="Calibri"/>
              </a:rPr>
              <a:t> Pravardhan </a:t>
            </a:r>
            <a:r>
              <a:rPr dirty="0" sz="2000" b="1">
                <a:latin typeface="Calibri"/>
                <a:cs typeface="Calibri"/>
              </a:rPr>
              <a:t>V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70"/>
              </a:spcBef>
            </a:pPr>
            <a:r>
              <a:rPr dirty="0" sz="1400" spc="-15">
                <a:latin typeface="Calibri"/>
                <a:cs typeface="Calibri"/>
              </a:rPr>
              <a:t>Registration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Number: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dirty="0" sz="2000" b="1">
                <a:latin typeface="Calibri"/>
                <a:cs typeface="Calibri"/>
              </a:rPr>
              <a:t>12217383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8987" y="7126223"/>
            <a:ext cx="6482715" cy="83121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dirty="0" sz="1800">
                <a:latin typeface="Calibri"/>
                <a:cs typeface="Calibri"/>
              </a:rPr>
              <a:t>In </a:t>
            </a:r>
            <a:r>
              <a:rPr dirty="0" sz="1800" spc="-5">
                <a:latin typeface="Calibri"/>
                <a:cs typeface="Calibri"/>
              </a:rPr>
              <a:t>partial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fulfilment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for</a:t>
            </a:r>
            <a:r>
              <a:rPr dirty="0" sz="1800" spc="-5">
                <a:latin typeface="Calibri"/>
                <a:cs typeface="Calibri"/>
              </a:rPr>
              <a:t> the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requirement</a:t>
            </a:r>
            <a:r>
              <a:rPr dirty="0" sz="1800" spc="-5">
                <a:latin typeface="Calibri"/>
                <a:cs typeface="Calibri"/>
              </a:rPr>
              <a:t> of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award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5">
                <a:latin typeface="Calibri"/>
                <a:cs typeface="Calibri"/>
              </a:rPr>
              <a:t>of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degree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1010"/>
              </a:spcBef>
            </a:pPr>
            <a:r>
              <a:rPr dirty="0" sz="1800" spc="-10" b="1">
                <a:latin typeface="Calibri"/>
                <a:cs typeface="Calibri"/>
              </a:rPr>
              <a:t>Sahara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5" b="1">
                <a:latin typeface="Calibri"/>
                <a:cs typeface="Calibri"/>
              </a:rPr>
              <a:t>Ngo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1658" y="8737904"/>
            <a:ext cx="2856865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4195" marR="5080" indent="-532130">
              <a:lnSpc>
                <a:spcPct val="1466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Lovely professional </a:t>
            </a:r>
            <a:r>
              <a:rPr dirty="0" sz="1800" spc="-5" b="1">
                <a:latin typeface="Calibri"/>
                <a:cs typeface="Calibri"/>
              </a:rPr>
              <a:t>University </a:t>
            </a:r>
            <a:r>
              <a:rPr dirty="0" sz="1800" spc="-39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Phagwara,</a:t>
            </a:r>
            <a:r>
              <a:rPr dirty="0" sz="1800" spc="-5" b="1">
                <a:latin typeface="Calibri"/>
                <a:cs typeface="Calibri"/>
              </a:rPr>
              <a:t> Punjab.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09062" y="657111"/>
            <a:ext cx="2247265" cy="1174115"/>
            <a:chOff x="2509062" y="657111"/>
            <a:chExt cx="2247265" cy="117411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0661" y="1673851"/>
              <a:ext cx="481112" cy="1570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6511" y="717045"/>
              <a:ext cx="860389" cy="8579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559244" y="725457"/>
              <a:ext cx="238760" cy="238125"/>
            </a:xfrm>
            <a:custGeom>
              <a:avLst/>
              <a:gdLst/>
              <a:ahLst/>
              <a:cxnLst/>
              <a:rect l="l" t="t" r="r" b="b"/>
              <a:pathLst>
                <a:path w="238760" h="238125">
                  <a:moveTo>
                    <a:pt x="238295" y="0"/>
                  </a:moveTo>
                  <a:lnTo>
                    <a:pt x="0" y="0"/>
                  </a:lnTo>
                  <a:lnTo>
                    <a:pt x="0" y="237631"/>
                  </a:lnTo>
                  <a:lnTo>
                    <a:pt x="238295" y="237631"/>
                  </a:lnTo>
                  <a:lnTo>
                    <a:pt x="238295" y="0"/>
                  </a:lnTo>
                  <a:close/>
                </a:path>
              </a:pathLst>
            </a:custGeom>
            <a:solidFill>
              <a:srgbClr val="F481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56076" y="722311"/>
              <a:ext cx="430530" cy="245110"/>
            </a:xfrm>
            <a:custGeom>
              <a:avLst/>
              <a:gdLst/>
              <a:ahLst/>
              <a:cxnLst/>
              <a:rect l="l" t="t" r="r" b="b"/>
              <a:pathLst>
                <a:path w="430529" h="245109">
                  <a:moveTo>
                    <a:pt x="245668" y="0"/>
                  </a:moveTo>
                  <a:lnTo>
                    <a:pt x="237236" y="0"/>
                  </a:lnTo>
                  <a:lnTo>
                    <a:pt x="237236" y="7353"/>
                  </a:lnTo>
                  <a:lnTo>
                    <a:pt x="237236" y="236575"/>
                  </a:lnTo>
                  <a:lnTo>
                    <a:pt x="7378" y="236575"/>
                  </a:lnTo>
                  <a:lnTo>
                    <a:pt x="7378" y="7353"/>
                  </a:lnTo>
                  <a:lnTo>
                    <a:pt x="237236" y="7353"/>
                  </a:lnTo>
                  <a:lnTo>
                    <a:pt x="237236" y="0"/>
                  </a:lnTo>
                  <a:lnTo>
                    <a:pt x="0" y="0"/>
                  </a:lnTo>
                  <a:lnTo>
                    <a:pt x="0" y="244983"/>
                  </a:lnTo>
                  <a:lnTo>
                    <a:pt x="245668" y="244983"/>
                  </a:lnTo>
                  <a:lnTo>
                    <a:pt x="245668" y="236575"/>
                  </a:lnTo>
                  <a:lnTo>
                    <a:pt x="245668" y="7353"/>
                  </a:lnTo>
                  <a:lnTo>
                    <a:pt x="245668" y="0"/>
                  </a:lnTo>
                  <a:close/>
                </a:path>
                <a:path w="430529" h="245109">
                  <a:moveTo>
                    <a:pt x="430199" y="119862"/>
                  </a:moveTo>
                  <a:lnTo>
                    <a:pt x="422160" y="76441"/>
                  </a:lnTo>
                  <a:lnTo>
                    <a:pt x="405917" y="53479"/>
                  </a:lnTo>
                  <a:lnTo>
                    <a:pt x="405917" y="121970"/>
                  </a:lnTo>
                  <a:lnTo>
                    <a:pt x="405726" y="127990"/>
                  </a:lnTo>
                  <a:lnTo>
                    <a:pt x="394309" y="165849"/>
                  </a:lnTo>
                  <a:lnTo>
                    <a:pt x="365874" y="191363"/>
                  </a:lnTo>
                  <a:lnTo>
                    <a:pt x="357441" y="192417"/>
                  </a:lnTo>
                  <a:lnTo>
                    <a:pt x="343738" y="192417"/>
                  </a:lnTo>
                  <a:lnTo>
                    <a:pt x="336359" y="191363"/>
                  </a:lnTo>
                  <a:lnTo>
                    <a:pt x="331076" y="188214"/>
                  </a:lnTo>
                  <a:lnTo>
                    <a:pt x="325805" y="186105"/>
                  </a:lnTo>
                  <a:lnTo>
                    <a:pt x="300507" y="155613"/>
                  </a:lnTo>
                  <a:lnTo>
                    <a:pt x="297345" y="143002"/>
                  </a:lnTo>
                  <a:lnTo>
                    <a:pt x="295236" y="135636"/>
                  </a:lnTo>
                  <a:lnTo>
                    <a:pt x="295236" y="108292"/>
                  </a:lnTo>
                  <a:lnTo>
                    <a:pt x="297345" y="100939"/>
                  </a:lnTo>
                  <a:lnTo>
                    <a:pt x="298399" y="94627"/>
                  </a:lnTo>
                  <a:lnTo>
                    <a:pt x="300507" y="87274"/>
                  </a:lnTo>
                  <a:lnTo>
                    <a:pt x="306832" y="74650"/>
                  </a:lnTo>
                  <a:lnTo>
                    <a:pt x="309994" y="69392"/>
                  </a:lnTo>
                  <a:lnTo>
                    <a:pt x="315264" y="65189"/>
                  </a:lnTo>
                  <a:lnTo>
                    <a:pt x="319481" y="60985"/>
                  </a:lnTo>
                  <a:lnTo>
                    <a:pt x="324751" y="56781"/>
                  </a:lnTo>
                  <a:lnTo>
                    <a:pt x="337413" y="52565"/>
                  </a:lnTo>
                  <a:lnTo>
                    <a:pt x="344792" y="50469"/>
                  </a:lnTo>
                  <a:lnTo>
                    <a:pt x="351116" y="50469"/>
                  </a:lnTo>
                  <a:lnTo>
                    <a:pt x="386969" y="65189"/>
                  </a:lnTo>
                  <a:lnTo>
                    <a:pt x="397510" y="80962"/>
                  </a:lnTo>
                  <a:lnTo>
                    <a:pt x="400672" y="87274"/>
                  </a:lnTo>
                  <a:lnTo>
                    <a:pt x="402780" y="93573"/>
                  </a:lnTo>
                  <a:lnTo>
                    <a:pt x="404888" y="106197"/>
                  </a:lnTo>
                  <a:lnTo>
                    <a:pt x="405790" y="112522"/>
                  </a:lnTo>
                  <a:lnTo>
                    <a:pt x="405917" y="121970"/>
                  </a:lnTo>
                  <a:lnTo>
                    <a:pt x="405917" y="53479"/>
                  </a:lnTo>
                  <a:lnTo>
                    <a:pt x="403948" y="51435"/>
                  </a:lnTo>
                  <a:lnTo>
                    <a:pt x="402767" y="50469"/>
                  </a:lnTo>
                  <a:lnTo>
                    <a:pt x="398170" y="46659"/>
                  </a:lnTo>
                  <a:lnTo>
                    <a:pt x="391756" y="42430"/>
                  </a:lnTo>
                  <a:lnTo>
                    <a:pt x="384860" y="38900"/>
                  </a:lnTo>
                  <a:lnTo>
                    <a:pt x="369316" y="34175"/>
                  </a:lnTo>
                  <a:lnTo>
                    <a:pt x="353098" y="32588"/>
                  </a:lnTo>
                  <a:lnTo>
                    <a:pt x="336664" y="34175"/>
                  </a:lnTo>
                  <a:lnTo>
                    <a:pt x="300964" y="51473"/>
                  </a:lnTo>
                  <a:lnTo>
                    <a:pt x="278358" y="85166"/>
                  </a:lnTo>
                  <a:lnTo>
                    <a:pt x="272034" y="121970"/>
                  </a:lnTo>
                  <a:lnTo>
                    <a:pt x="272415" y="131254"/>
                  </a:lnTo>
                  <a:lnTo>
                    <a:pt x="283629" y="172567"/>
                  </a:lnTo>
                  <a:lnTo>
                    <a:pt x="293128" y="185051"/>
                  </a:lnTo>
                  <a:lnTo>
                    <a:pt x="298246" y="191579"/>
                  </a:lnTo>
                  <a:lnTo>
                    <a:pt x="332790" y="209765"/>
                  </a:lnTo>
                  <a:lnTo>
                    <a:pt x="349008" y="211340"/>
                  </a:lnTo>
                  <a:lnTo>
                    <a:pt x="355333" y="211124"/>
                  </a:lnTo>
                  <a:lnTo>
                    <a:pt x="396722" y="195567"/>
                  </a:lnTo>
                  <a:lnTo>
                    <a:pt x="400392" y="192417"/>
                  </a:lnTo>
                  <a:lnTo>
                    <a:pt x="406336" y="187325"/>
                  </a:lnTo>
                  <a:lnTo>
                    <a:pt x="425983" y="152463"/>
                  </a:lnTo>
                  <a:lnTo>
                    <a:pt x="429983" y="128358"/>
                  </a:lnTo>
                  <a:lnTo>
                    <a:pt x="430199" y="11986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9234" y="759104"/>
              <a:ext cx="98059" cy="17244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005249" y="759103"/>
              <a:ext cx="334645" cy="172720"/>
            </a:xfrm>
            <a:custGeom>
              <a:avLst/>
              <a:gdLst/>
              <a:ahLst/>
              <a:cxnLst/>
              <a:rect l="l" t="t" r="r" b="b"/>
              <a:pathLst>
                <a:path w="334645" h="172719">
                  <a:moveTo>
                    <a:pt x="144449" y="0"/>
                  </a:moveTo>
                  <a:lnTo>
                    <a:pt x="120205" y="0"/>
                  </a:lnTo>
                  <a:lnTo>
                    <a:pt x="85013" y="101866"/>
                  </a:lnTo>
                  <a:lnTo>
                    <a:pt x="75526" y="133540"/>
                  </a:lnTo>
                  <a:lnTo>
                    <a:pt x="71704" y="149313"/>
                  </a:lnTo>
                  <a:lnTo>
                    <a:pt x="70650" y="149313"/>
                  </a:lnTo>
                  <a:lnTo>
                    <a:pt x="66827" y="134073"/>
                  </a:lnTo>
                  <a:lnTo>
                    <a:pt x="54648" y="93827"/>
                  </a:lnTo>
                  <a:lnTo>
                    <a:pt x="24257" y="0"/>
                  </a:lnTo>
                  <a:lnTo>
                    <a:pt x="0" y="0"/>
                  </a:lnTo>
                  <a:lnTo>
                    <a:pt x="56934" y="172440"/>
                  </a:lnTo>
                  <a:lnTo>
                    <a:pt x="82245" y="172440"/>
                  </a:lnTo>
                  <a:lnTo>
                    <a:pt x="144449" y="0"/>
                  </a:lnTo>
                  <a:close/>
                </a:path>
                <a:path w="334645" h="172719">
                  <a:moveTo>
                    <a:pt x="334391" y="153517"/>
                  </a:moveTo>
                  <a:lnTo>
                    <a:pt x="334251" y="0"/>
                  </a:lnTo>
                  <a:lnTo>
                    <a:pt x="311048" y="0"/>
                  </a:lnTo>
                  <a:lnTo>
                    <a:pt x="311048" y="167843"/>
                  </a:lnTo>
                  <a:lnTo>
                    <a:pt x="334391" y="15351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56081" y="1013558"/>
              <a:ext cx="245676" cy="24496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835488" y="1045107"/>
              <a:ext cx="283845" cy="174625"/>
            </a:xfrm>
            <a:custGeom>
              <a:avLst/>
              <a:gdLst/>
              <a:ahLst/>
              <a:cxnLst/>
              <a:rect l="l" t="t" r="r" b="b"/>
              <a:pathLst>
                <a:path w="283845" h="174625">
                  <a:moveTo>
                    <a:pt x="89623" y="42062"/>
                  </a:moveTo>
                  <a:lnTo>
                    <a:pt x="88569" y="35750"/>
                  </a:lnTo>
                  <a:lnTo>
                    <a:pt x="86461" y="29438"/>
                  </a:lnTo>
                  <a:lnTo>
                    <a:pt x="82245" y="18923"/>
                  </a:lnTo>
                  <a:lnTo>
                    <a:pt x="78028" y="14719"/>
                  </a:lnTo>
                  <a:lnTo>
                    <a:pt x="73812" y="9461"/>
                  </a:lnTo>
                  <a:lnTo>
                    <a:pt x="70383" y="7759"/>
                  </a:lnTo>
                  <a:lnTo>
                    <a:pt x="70383" y="51523"/>
                  </a:lnTo>
                  <a:lnTo>
                    <a:pt x="69392" y="60553"/>
                  </a:lnTo>
                  <a:lnTo>
                    <a:pt x="43230" y="85166"/>
                  </a:lnTo>
                  <a:lnTo>
                    <a:pt x="17932" y="85166"/>
                  </a:lnTo>
                  <a:lnTo>
                    <a:pt x="17932" y="21031"/>
                  </a:lnTo>
                  <a:lnTo>
                    <a:pt x="20040" y="19977"/>
                  </a:lnTo>
                  <a:lnTo>
                    <a:pt x="29527" y="19977"/>
                  </a:lnTo>
                  <a:lnTo>
                    <a:pt x="32689" y="18923"/>
                  </a:lnTo>
                  <a:lnTo>
                    <a:pt x="36906" y="19977"/>
                  </a:lnTo>
                  <a:lnTo>
                    <a:pt x="43230" y="19977"/>
                  </a:lnTo>
                  <a:lnTo>
                    <a:pt x="48501" y="21031"/>
                  </a:lnTo>
                  <a:lnTo>
                    <a:pt x="70383" y="51523"/>
                  </a:lnTo>
                  <a:lnTo>
                    <a:pt x="70383" y="7759"/>
                  </a:lnTo>
                  <a:lnTo>
                    <a:pt x="42176" y="800"/>
                  </a:lnTo>
                  <a:lnTo>
                    <a:pt x="35852" y="1054"/>
                  </a:lnTo>
                  <a:lnTo>
                    <a:pt x="18986" y="1054"/>
                  </a:lnTo>
                  <a:lnTo>
                    <a:pt x="14770" y="2108"/>
                  </a:lnTo>
                  <a:lnTo>
                    <a:pt x="6324" y="2108"/>
                  </a:lnTo>
                  <a:lnTo>
                    <a:pt x="0" y="4203"/>
                  </a:lnTo>
                  <a:lnTo>
                    <a:pt x="0" y="174523"/>
                  </a:lnTo>
                  <a:lnTo>
                    <a:pt x="4165" y="174523"/>
                  </a:lnTo>
                  <a:lnTo>
                    <a:pt x="18986" y="165417"/>
                  </a:lnTo>
                  <a:lnTo>
                    <a:pt x="18986" y="100939"/>
                  </a:lnTo>
                  <a:lnTo>
                    <a:pt x="41122" y="100939"/>
                  </a:lnTo>
                  <a:lnTo>
                    <a:pt x="45339" y="101993"/>
                  </a:lnTo>
                  <a:lnTo>
                    <a:pt x="50609" y="105143"/>
                  </a:lnTo>
                  <a:lnTo>
                    <a:pt x="54838" y="107251"/>
                  </a:lnTo>
                  <a:lnTo>
                    <a:pt x="58000" y="111455"/>
                  </a:lnTo>
                  <a:lnTo>
                    <a:pt x="63271" y="121970"/>
                  </a:lnTo>
                  <a:lnTo>
                    <a:pt x="65379" y="134581"/>
                  </a:lnTo>
                  <a:lnTo>
                    <a:pt x="65798" y="136664"/>
                  </a:lnTo>
                  <a:lnTo>
                    <a:pt x="82994" y="126111"/>
                  </a:lnTo>
                  <a:lnTo>
                    <a:pt x="82245" y="120916"/>
                  </a:lnTo>
                  <a:lnTo>
                    <a:pt x="79082" y="112509"/>
                  </a:lnTo>
                  <a:lnTo>
                    <a:pt x="75920" y="106197"/>
                  </a:lnTo>
                  <a:lnTo>
                    <a:pt x="72758" y="100939"/>
                  </a:lnTo>
                  <a:lnTo>
                    <a:pt x="68541" y="96735"/>
                  </a:lnTo>
                  <a:lnTo>
                    <a:pt x="62217" y="93586"/>
                  </a:lnTo>
                  <a:lnTo>
                    <a:pt x="62217" y="92532"/>
                  </a:lnTo>
                  <a:lnTo>
                    <a:pt x="67487" y="90424"/>
                  </a:lnTo>
                  <a:lnTo>
                    <a:pt x="71704" y="87274"/>
                  </a:lnTo>
                  <a:lnTo>
                    <a:pt x="73812" y="85166"/>
                  </a:lnTo>
                  <a:lnTo>
                    <a:pt x="80137" y="78854"/>
                  </a:lnTo>
                  <a:lnTo>
                    <a:pt x="83299" y="73609"/>
                  </a:lnTo>
                  <a:lnTo>
                    <a:pt x="85407" y="68351"/>
                  </a:lnTo>
                  <a:lnTo>
                    <a:pt x="87515" y="62039"/>
                  </a:lnTo>
                  <a:lnTo>
                    <a:pt x="89623" y="54673"/>
                  </a:lnTo>
                  <a:lnTo>
                    <a:pt x="89623" y="42062"/>
                  </a:lnTo>
                  <a:close/>
                </a:path>
                <a:path w="283845" h="174625">
                  <a:moveTo>
                    <a:pt x="225577" y="38569"/>
                  </a:moveTo>
                  <a:lnTo>
                    <a:pt x="196126" y="6311"/>
                  </a:lnTo>
                  <a:lnTo>
                    <a:pt x="169100" y="0"/>
                  </a:lnTo>
                  <a:lnTo>
                    <a:pt x="155054" y="1574"/>
                  </a:lnTo>
                  <a:lnTo>
                    <a:pt x="120205" y="24180"/>
                  </a:lnTo>
                  <a:lnTo>
                    <a:pt x="104343" y="61874"/>
                  </a:lnTo>
                  <a:lnTo>
                    <a:pt x="101231" y="89369"/>
                  </a:lnTo>
                  <a:lnTo>
                    <a:pt x="101460" y="98209"/>
                  </a:lnTo>
                  <a:lnTo>
                    <a:pt x="102285" y="107251"/>
                  </a:lnTo>
                  <a:lnTo>
                    <a:pt x="103416" y="113576"/>
                  </a:lnTo>
                  <a:lnTo>
                    <a:pt x="121894" y="102222"/>
                  </a:lnTo>
                  <a:lnTo>
                    <a:pt x="121323" y="98209"/>
                  </a:lnTo>
                  <a:lnTo>
                    <a:pt x="121259" y="84112"/>
                  </a:lnTo>
                  <a:lnTo>
                    <a:pt x="130746" y="44157"/>
                  </a:lnTo>
                  <a:lnTo>
                    <a:pt x="138125" y="33642"/>
                  </a:lnTo>
                  <a:lnTo>
                    <a:pt x="141287" y="29438"/>
                  </a:lnTo>
                  <a:lnTo>
                    <a:pt x="146570" y="25234"/>
                  </a:lnTo>
                  <a:lnTo>
                    <a:pt x="157111" y="21031"/>
                  </a:lnTo>
                  <a:lnTo>
                    <a:pt x="163436" y="18923"/>
                  </a:lnTo>
                  <a:lnTo>
                    <a:pt x="175031" y="18923"/>
                  </a:lnTo>
                  <a:lnTo>
                    <a:pt x="180301" y="19977"/>
                  </a:lnTo>
                  <a:lnTo>
                    <a:pt x="190855" y="26289"/>
                  </a:lnTo>
                  <a:lnTo>
                    <a:pt x="195072" y="29438"/>
                  </a:lnTo>
                  <a:lnTo>
                    <a:pt x="198234" y="33642"/>
                  </a:lnTo>
                  <a:lnTo>
                    <a:pt x="202450" y="38900"/>
                  </a:lnTo>
                  <a:lnTo>
                    <a:pt x="205613" y="44157"/>
                  </a:lnTo>
                  <a:lnTo>
                    <a:pt x="207746" y="49504"/>
                  </a:lnTo>
                  <a:lnTo>
                    <a:pt x="225577" y="38569"/>
                  </a:lnTo>
                  <a:close/>
                </a:path>
                <a:path w="283845" h="174625">
                  <a:moveTo>
                    <a:pt x="283248" y="3149"/>
                  </a:moveTo>
                  <a:lnTo>
                    <a:pt x="252006" y="3149"/>
                  </a:lnTo>
                  <a:lnTo>
                    <a:pt x="252006" y="22339"/>
                  </a:lnTo>
                  <a:lnTo>
                    <a:pt x="283248" y="314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56081" y="1304787"/>
              <a:ext cx="144866" cy="8895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618291" y="759104"/>
              <a:ext cx="106680" cy="596265"/>
            </a:xfrm>
            <a:custGeom>
              <a:avLst/>
              <a:gdLst/>
              <a:ahLst/>
              <a:cxnLst/>
              <a:rect l="l" t="t" r="r" b="b"/>
              <a:pathLst>
                <a:path w="106679" h="596265">
                  <a:moveTo>
                    <a:pt x="24251" y="0"/>
                  </a:moveTo>
                  <a:lnTo>
                    <a:pt x="2108" y="0"/>
                  </a:lnTo>
                  <a:lnTo>
                    <a:pt x="2108" y="162977"/>
                  </a:lnTo>
                  <a:lnTo>
                    <a:pt x="98059" y="162977"/>
                  </a:lnTo>
                  <a:lnTo>
                    <a:pt x="98059" y="145102"/>
                  </a:lnTo>
                  <a:lnTo>
                    <a:pt x="24251" y="145102"/>
                  </a:lnTo>
                  <a:lnTo>
                    <a:pt x="24251" y="0"/>
                  </a:lnTo>
                  <a:close/>
                </a:path>
                <a:path w="106679" h="596265">
                  <a:moveTo>
                    <a:pt x="50347" y="288906"/>
                  </a:moveTo>
                  <a:lnTo>
                    <a:pt x="43230" y="289152"/>
                  </a:lnTo>
                  <a:lnTo>
                    <a:pt x="26360" y="289152"/>
                  </a:lnTo>
                  <a:lnTo>
                    <a:pt x="11598" y="291255"/>
                  </a:lnTo>
                  <a:lnTo>
                    <a:pt x="5272" y="291255"/>
                  </a:lnTo>
                  <a:lnTo>
                    <a:pt x="0" y="292307"/>
                  </a:lnTo>
                  <a:lnTo>
                    <a:pt x="1054" y="454206"/>
                  </a:lnTo>
                  <a:lnTo>
                    <a:pt x="23196" y="454206"/>
                  </a:lnTo>
                  <a:lnTo>
                    <a:pt x="23196" y="389041"/>
                  </a:lnTo>
                  <a:lnTo>
                    <a:pt x="54829" y="389041"/>
                  </a:lnTo>
                  <a:lnTo>
                    <a:pt x="62209" y="387990"/>
                  </a:lnTo>
                  <a:lnTo>
                    <a:pt x="68536" y="386939"/>
                  </a:lnTo>
                  <a:lnTo>
                    <a:pt x="74862" y="384836"/>
                  </a:lnTo>
                  <a:lnTo>
                    <a:pt x="80134" y="381681"/>
                  </a:lnTo>
                  <a:lnTo>
                    <a:pt x="85406" y="379578"/>
                  </a:lnTo>
                  <a:lnTo>
                    <a:pt x="89624" y="375372"/>
                  </a:lnTo>
                  <a:lnTo>
                    <a:pt x="92436" y="373269"/>
                  </a:lnTo>
                  <a:lnTo>
                    <a:pt x="27414" y="373269"/>
                  </a:lnTo>
                  <a:lnTo>
                    <a:pt x="25305" y="372218"/>
                  </a:lnTo>
                  <a:lnTo>
                    <a:pt x="22142" y="372218"/>
                  </a:lnTo>
                  <a:lnTo>
                    <a:pt x="22142" y="308079"/>
                  </a:lnTo>
                  <a:lnTo>
                    <a:pt x="23196" y="308079"/>
                  </a:lnTo>
                  <a:lnTo>
                    <a:pt x="26360" y="307027"/>
                  </a:lnTo>
                  <a:lnTo>
                    <a:pt x="95950" y="307027"/>
                  </a:lnTo>
                  <a:lnTo>
                    <a:pt x="57465" y="289547"/>
                  </a:lnTo>
                  <a:lnTo>
                    <a:pt x="50347" y="288906"/>
                  </a:lnTo>
                  <a:close/>
                </a:path>
                <a:path w="106679" h="596265">
                  <a:moveTo>
                    <a:pt x="54829" y="389041"/>
                  </a:moveTo>
                  <a:lnTo>
                    <a:pt x="23196" y="389041"/>
                  </a:lnTo>
                  <a:lnTo>
                    <a:pt x="26360" y="390093"/>
                  </a:lnTo>
                  <a:lnTo>
                    <a:pt x="48502" y="390093"/>
                  </a:lnTo>
                  <a:lnTo>
                    <a:pt x="54829" y="389041"/>
                  </a:lnTo>
                  <a:close/>
                </a:path>
                <a:path w="106679" h="596265">
                  <a:moveTo>
                    <a:pt x="95950" y="307027"/>
                  </a:moveTo>
                  <a:lnTo>
                    <a:pt x="51665" y="307027"/>
                  </a:lnTo>
                  <a:lnTo>
                    <a:pt x="59046" y="308079"/>
                  </a:lnTo>
                  <a:lnTo>
                    <a:pt x="65373" y="310182"/>
                  </a:lnTo>
                  <a:lnTo>
                    <a:pt x="84352" y="344880"/>
                  </a:lnTo>
                  <a:lnTo>
                    <a:pt x="82243" y="352240"/>
                  </a:lnTo>
                  <a:lnTo>
                    <a:pt x="75917" y="362755"/>
                  </a:lnTo>
                  <a:lnTo>
                    <a:pt x="70645" y="366961"/>
                  </a:lnTo>
                  <a:lnTo>
                    <a:pt x="64318" y="369064"/>
                  </a:lnTo>
                  <a:lnTo>
                    <a:pt x="56937" y="372218"/>
                  </a:lnTo>
                  <a:lnTo>
                    <a:pt x="49556" y="373269"/>
                  </a:lnTo>
                  <a:lnTo>
                    <a:pt x="92436" y="373269"/>
                  </a:lnTo>
                  <a:lnTo>
                    <a:pt x="93841" y="372218"/>
                  </a:lnTo>
                  <a:lnTo>
                    <a:pt x="106494" y="344880"/>
                  </a:lnTo>
                  <a:lnTo>
                    <a:pt x="106494" y="331211"/>
                  </a:lnTo>
                  <a:lnTo>
                    <a:pt x="105440" y="323851"/>
                  </a:lnTo>
                  <a:lnTo>
                    <a:pt x="102277" y="317542"/>
                  </a:lnTo>
                  <a:lnTo>
                    <a:pt x="100168" y="312285"/>
                  </a:lnTo>
                  <a:lnTo>
                    <a:pt x="95950" y="307027"/>
                  </a:lnTo>
                  <a:close/>
                </a:path>
                <a:path w="106679" h="596265">
                  <a:moveTo>
                    <a:pt x="22721" y="582485"/>
                  </a:moveTo>
                  <a:lnTo>
                    <a:pt x="1054" y="582485"/>
                  </a:lnTo>
                  <a:lnTo>
                    <a:pt x="1054" y="595788"/>
                  </a:lnTo>
                  <a:lnTo>
                    <a:pt x="22721" y="58248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512226" y="660266"/>
              <a:ext cx="2239010" cy="24765"/>
            </a:xfrm>
            <a:custGeom>
              <a:avLst/>
              <a:gdLst/>
              <a:ahLst/>
              <a:cxnLst/>
              <a:rect l="l" t="t" r="r" b="b"/>
              <a:pathLst>
                <a:path w="2239010" h="24765">
                  <a:moveTo>
                    <a:pt x="2238400" y="0"/>
                  </a:moveTo>
                  <a:lnTo>
                    <a:pt x="0" y="0"/>
                  </a:lnTo>
                  <a:lnTo>
                    <a:pt x="0" y="24183"/>
                  </a:lnTo>
                  <a:lnTo>
                    <a:pt x="2199014" y="24184"/>
                  </a:lnTo>
                  <a:lnTo>
                    <a:pt x="2238400" y="0"/>
                  </a:lnTo>
                  <a:close/>
                </a:path>
              </a:pathLst>
            </a:custGeom>
            <a:solidFill>
              <a:srgbClr val="F481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509062" y="657111"/>
              <a:ext cx="2247265" cy="31115"/>
            </a:xfrm>
            <a:custGeom>
              <a:avLst/>
              <a:gdLst/>
              <a:ahLst/>
              <a:cxnLst/>
              <a:rect l="l" t="t" r="r" b="b"/>
              <a:pathLst>
                <a:path w="2247265" h="31115">
                  <a:moveTo>
                    <a:pt x="2246701" y="0"/>
                  </a:moveTo>
                  <a:lnTo>
                    <a:pt x="0" y="0"/>
                  </a:lnTo>
                  <a:lnTo>
                    <a:pt x="0" y="30492"/>
                  </a:lnTo>
                  <a:lnTo>
                    <a:pt x="2197040" y="30493"/>
                  </a:lnTo>
                  <a:lnTo>
                    <a:pt x="2207315" y="24184"/>
                  </a:lnTo>
                  <a:lnTo>
                    <a:pt x="6326" y="24183"/>
                  </a:lnTo>
                  <a:lnTo>
                    <a:pt x="6326" y="6308"/>
                  </a:lnTo>
                  <a:lnTo>
                    <a:pt x="2236426" y="6309"/>
                  </a:lnTo>
                  <a:lnTo>
                    <a:pt x="224670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512226" y="1611815"/>
              <a:ext cx="688975" cy="24765"/>
            </a:xfrm>
            <a:custGeom>
              <a:avLst/>
              <a:gdLst/>
              <a:ahLst/>
              <a:cxnLst/>
              <a:rect l="l" t="t" r="r" b="b"/>
              <a:pathLst>
                <a:path w="688975" h="24764">
                  <a:moveTo>
                    <a:pt x="688690" y="0"/>
                  </a:moveTo>
                  <a:lnTo>
                    <a:pt x="0" y="0"/>
                  </a:lnTo>
                  <a:lnTo>
                    <a:pt x="0" y="24183"/>
                  </a:lnTo>
                  <a:lnTo>
                    <a:pt x="649304" y="24183"/>
                  </a:lnTo>
                  <a:lnTo>
                    <a:pt x="688690" y="0"/>
                  </a:lnTo>
                  <a:close/>
                </a:path>
              </a:pathLst>
            </a:custGeom>
            <a:solidFill>
              <a:srgbClr val="F481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509063" y="1608660"/>
              <a:ext cx="697230" cy="31115"/>
            </a:xfrm>
            <a:custGeom>
              <a:avLst/>
              <a:gdLst/>
              <a:ahLst/>
              <a:cxnLst/>
              <a:rect l="l" t="t" r="r" b="b"/>
              <a:pathLst>
                <a:path w="697230" h="31114">
                  <a:moveTo>
                    <a:pt x="696990" y="0"/>
                  </a:moveTo>
                  <a:lnTo>
                    <a:pt x="0" y="0"/>
                  </a:lnTo>
                  <a:lnTo>
                    <a:pt x="0" y="30492"/>
                  </a:lnTo>
                  <a:lnTo>
                    <a:pt x="647330" y="30492"/>
                  </a:lnTo>
                  <a:lnTo>
                    <a:pt x="657604" y="24183"/>
                  </a:lnTo>
                  <a:lnTo>
                    <a:pt x="6326" y="24183"/>
                  </a:lnTo>
                  <a:lnTo>
                    <a:pt x="6326" y="6308"/>
                  </a:lnTo>
                  <a:lnTo>
                    <a:pt x="686716" y="6308"/>
                  </a:lnTo>
                  <a:lnTo>
                    <a:pt x="69699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11202" y="759104"/>
            <a:ext cx="134963" cy="817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33661" y="575246"/>
            <a:ext cx="1352550" cy="347980"/>
            <a:chOff x="3133661" y="575246"/>
            <a:chExt cx="1352550" cy="34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4004" y="585218"/>
              <a:ext cx="1341897" cy="33757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38423" y="580008"/>
              <a:ext cx="1322705" cy="318135"/>
            </a:xfrm>
            <a:custGeom>
              <a:avLst/>
              <a:gdLst/>
              <a:ahLst/>
              <a:cxnLst/>
              <a:rect l="l" t="t" r="r" b="b"/>
              <a:pathLst>
                <a:path w="1322704" h="318134">
                  <a:moveTo>
                    <a:pt x="182879" y="262763"/>
                  </a:moveTo>
                  <a:lnTo>
                    <a:pt x="0" y="262763"/>
                  </a:lnTo>
                  <a:lnTo>
                    <a:pt x="0" y="317626"/>
                  </a:lnTo>
                  <a:lnTo>
                    <a:pt x="182879" y="317626"/>
                  </a:lnTo>
                  <a:lnTo>
                    <a:pt x="182879" y="262763"/>
                  </a:lnTo>
                  <a:close/>
                </a:path>
                <a:path w="1322704" h="318134">
                  <a:moveTo>
                    <a:pt x="124713" y="55118"/>
                  </a:moveTo>
                  <a:lnTo>
                    <a:pt x="58038" y="55118"/>
                  </a:lnTo>
                  <a:lnTo>
                    <a:pt x="58038" y="262763"/>
                  </a:lnTo>
                  <a:lnTo>
                    <a:pt x="124713" y="262763"/>
                  </a:lnTo>
                  <a:lnTo>
                    <a:pt x="124713" y="55118"/>
                  </a:lnTo>
                  <a:close/>
                </a:path>
                <a:path w="1322704" h="318134">
                  <a:moveTo>
                    <a:pt x="182879" y="380"/>
                  </a:moveTo>
                  <a:lnTo>
                    <a:pt x="0" y="380"/>
                  </a:lnTo>
                  <a:lnTo>
                    <a:pt x="0" y="55118"/>
                  </a:lnTo>
                  <a:lnTo>
                    <a:pt x="182879" y="55118"/>
                  </a:lnTo>
                  <a:lnTo>
                    <a:pt x="182879" y="380"/>
                  </a:lnTo>
                  <a:close/>
                </a:path>
                <a:path w="1322704" h="318134">
                  <a:moveTo>
                    <a:pt x="316864" y="380"/>
                  </a:moveTo>
                  <a:lnTo>
                    <a:pt x="264413" y="380"/>
                  </a:lnTo>
                  <a:lnTo>
                    <a:pt x="264413" y="317626"/>
                  </a:lnTo>
                  <a:lnTo>
                    <a:pt x="321563" y="317626"/>
                  </a:lnTo>
                  <a:lnTo>
                    <a:pt x="321563" y="119633"/>
                  </a:lnTo>
                  <a:lnTo>
                    <a:pt x="374206" y="119633"/>
                  </a:lnTo>
                  <a:lnTo>
                    <a:pt x="316864" y="380"/>
                  </a:lnTo>
                  <a:close/>
                </a:path>
                <a:path w="1322704" h="318134">
                  <a:moveTo>
                    <a:pt x="374206" y="119633"/>
                  </a:moveTo>
                  <a:lnTo>
                    <a:pt x="321563" y="119633"/>
                  </a:lnTo>
                  <a:lnTo>
                    <a:pt x="417195" y="317626"/>
                  </a:lnTo>
                  <a:lnTo>
                    <a:pt x="469646" y="317626"/>
                  </a:lnTo>
                  <a:lnTo>
                    <a:pt x="469646" y="199263"/>
                  </a:lnTo>
                  <a:lnTo>
                    <a:pt x="412496" y="199263"/>
                  </a:lnTo>
                  <a:lnTo>
                    <a:pt x="374206" y="119633"/>
                  </a:lnTo>
                  <a:close/>
                </a:path>
                <a:path w="1322704" h="318134">
                  <a:moveTo>
                    <a:pt x="469646" y="380"/>
                  </a:moveTo>
                  <a:lnTo>
                    <a:pt x="412496" y="380"/>
                  </a:lnTo>
                  <a:lnTo>
                    <a:pt x="412496" y="199263"/>
                  </a:lnTo>
                  <a:lnTo>
                    <a:pt x="469646" y="199263"/>
                  </a:lnTo>
                  <a:lnTo>
                    <a:pt x="469646" y="380"/>
                  </a:lnTo>
                  <a:close/>
                </a:path>
                <a:path w="1322704" h="318134">
                  <a:moveTo>
                    <a:pt x="642492" y="380"/>
                  </a:moveTo>
                  <a:lnTo>
                    <a:pt x="536955" y="380"/>
                  </a:lnTo>
                  <a:lnTo>
                    <a:pt x="536955" y="317626"/>
                  </a:lnTo>
                  <a:lnTo>
                    <a:pt x="642492" y="317626"/>
                  </a:lnTo>
                  <a:lnTo>
                    <a:pt x="669948" y="315124"/>
                  </a:lnTo>
                  <a:lnTo>
                    <a:pt x="693832" y="307609"/>
                  </a:lnTo>
                  <a:lnTo>
                    <a:pt x="714144" y="295070"/>
                  </a:lnTo>
                  <a:lnTo>
                    <a:pt x="730885" y="277495"/>
                  </a:lnTo>
                  <a:lnTo>
                    <a:pt x="742084" y="258191"/>
                  </a:lnTo>
                  <a:lnTo>
                    <a:pt x="604138" y="258191"/>
                  </a:lnTo>
                  <a:lnTo>
                    <a:pt x="604138" y="59308"/>
                  </a:lnTo>
                  <a:lnTo>
                    <a:pt x="741343" y="59308"/>
                  </a:lnTo>
                  <a:lnTo>
                    <a:pt x="730503" y="40767"/>
                  </a:lnTo>
                  <a:lnTo>
                    <a:pt x="713716" y="23098"/>
                  </a:lnTo>
                  <a:lnTo>
                    <a:pt x="693451" y="10477"/>
                  </a:lnTo>
                  <a:lnTo>
                    <a:pt x="669710" y="2905"/>
                  </a:lnTo>
                  <a:lnTo>
                    <a:pt x="642492" y="380"/>
                  </a:lnTo>
                  <a:close/>
                </a:path>
                <a:path w="1322704" h="318134">
                  <a:moveTo>
                    <a:pt x="741343" y="59308"/>
                  </a:moveTo>
                  <a:lnTo>
                    <a:pt x="642492" y="59308"/>
                  </a:lnTo>
                  <a:lnTo>
                    <a:pt x="653946" y="60882"/>
                  </a:lnTo>
                  <a:lnTo>
                    <a:pt x="663924" y="65611"/>
                  </a:lnTo>
                  <a:lnTo>
                    <a:pt x="684970" y="98655"/>
                  </a:lnTo>
                  <a:lnTo>
                    <a:pt x="692150" y="158876"/>
                  </a:lnTo>
                  <a:lnTo>
                    <a:pt x="691411" y="183499"/>
                  </a:lnTo>
                  <a:lnTo>
                    <a:pt x="685506" y="221599"/>
                  </a:lnTo>
                  <a:lnTo>
                    <a:pt x="654657" y="256740"/>
                  </a:lnTo>
                  <a:lnTo>
                    <a:pt x="642492" y="258191"/>
                  </a:lnTo>
                  <a:lnTo>
                    <a:pt x="742084" y="258191"/>
                  </a:lnTo>
                  <a:lnTo>
                    <a:pt x="743886" y="255085"/>
                  </a:lnTo>
                  <a:lnTo>
                    <a:pt x="753173" y="227853"/>
                  </a:lnTo>
                  <a:lnTo>
                    <a:pt x="758745" y="195788"/>
                  </a:lnTo>
                  <a:lnTo>
                    <a:pt x="760602" y="158876"/>
                  </a:lnTo>
                  <a:lnTo>
                    <a:pt x="758721" y="122348"/>
                  </a:lnTo>
                  <a:lnTo>
                    <a:pt x="753078" y="90487"/>
                  </a:lnTo>
                  <a:lnTo>
                    <a:pt x="743672" y="63293"/>
                  </a:lnTo>
                  <a:lnTo>
                    <a:pt x="741343" y="59308"/>
                  </a:lnTo>
                  <a:close/>
                </a:path>
                <a:path w="1322704" h="318134">
                  <a:moveTo>
                    <a:pt x="1018159" y="380"/>
                  </a:moveTo>
                  <a:lnTo>
                    <a:pt x="820165" y="380"/>
                  </a:lnTo>
                  <a:lnTo>
                    <a:pt x="820165" y="317626"/>
                  </a:lnTo>
                  <a:lnTo>
                    <a:pt x="1021714" y="317626"/>
                  </a:lnTo>
                  <a:lnTo>
                    <a:pt x="1021714" y="257301"/>
                  </a:lnTo>
                  <a:lnTo>
                    <a:pt x="885951" y="257301"/>
                  </a:lnTo>
                  <a:lnTo>
                    <a:pt x="885951" y="184530"/>
                  </a:lnTo>
                  <a:lnTo>
                    <a:pt x="1004315" y="184530"/>
                  </a:lnTo>
                  <a:lnTo>
                    <a:pt x="1004315" y="123825"/>
                  </a:lnTo>
                  <a:lnTo>
                    <a:pt x="885951" y="123825"/>
                  </a:lnTo>
                  <a:lnTo>
                    <a:pt x="885951" y="60705"/>
                  </a:lnTo>
                  <a:lnTo>
                    <a:pt x="1018159" y="60705"/>
                  </a:lnTo>
                  <a:lnTo>
                    <a:pt x="1018159" y="380"/>
                  </a:lnTo>
                  <a:close/>
                </a:path>
                <a:path w="1322704" h="318134">
                  <a:moveTo>
                    <a:pt x="1144270" y="0"/>
                  </a:moveTo>
                  <a:lnTo>
                    <a:pt x="1069721" y="0"/>
                  </a:lnTo>
                  <a:lnTo>
                    <a:pt x="1157224" y="156209"/>
                  </a:lnTo>
                  <a:lnTo>
                    <a:pt x="1063878" y="317626"/>
                  </a:lnTo>
                  <a:lnTo>
                    <a:pt x="1141095" y="317626"/>
                  </a:lnTo>
                  <a:lnTo>
                    <a:pt x="1193164" y="209803"/>
                  </a:lnTo>
                  <a:lnTo>
                    <a:pt x="1261641" y="209803"/>
                  </a:lnTo>
                  <a:lnTo>
                    <a:pt x="1231138" y="155828"/>
                  </a:lnTo>
                  <a:lnTo>
                    <a:pt x="1261434" y="100838"/>
                  </a:lnTo>
                  <a:lnTo>
                    <a:pt x="1193546" y="100838"/>
                  </a:lnTo>
                  <a:lnTo>
                    <a:pt x="1144270" y="0"/>
                  </a:lnTo>
                  <a:close/>
                </a:path>
                <a:path w="1322704" h="318134">
                  <a:moveTo>
                    <a:pt x="1261641" y="209803"/>
                  </a:moveTo>
                  <a:lnTo>
                    <a:pt x="1193164" y="209803"/>
                  </a:lnTo>
                  <a:lnTo>
                    <a:pt x="1245870" y="317626"/>
                  </a:lnTo>
                  <a:lnTo>
                    <a:pt x="1322577" y="317626"/>
                  </a:lnTo>
                  <a:lnTo>
                    <a:pt x="1261641" y="209803"/>
                  </a:lnTo>
                  <a:close/>
                </a:path>
                <a:path w="1322704" h="318134">
                  <a:moveTo>
                    <a:pt x="1316989" y="0"/>
                  </a:moveTo>
                  <a:lnTo>
                    <a:pt x="1243202" y="0"/>
                  </a:lnTo>
                  <a:lnTo>
                    <a:pt x="1193546" y="100838"/>
                  </a:lnTo>
                  <a:lnTo>
                    <a:pt x="1261434" y="100838"/>
                  </a:lnTo>
                  <a:lnTo>
                    <a:pt x="131698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138423" y="580389"/>
              <a:ext cx="469900" cy="317500"/>
            </a:xfrm>
            <a:custGeom>
              <a:avLst/>
              <a:gdLst/>
              <a:ahLst/>
              <a:cxnLst/>
              <a:rect l="l" t="t" r="r" b="b"/>
              <a:pathLst>
                <a:path w="469900" h="317500">
                  <a:moveTo>
                    <a:pt x="0" y="0"/>
                  </a:moveTo>
                  <a:lnTo>
                    <a:pt x="182879" y="0"/>
                  </a:lnTo>
                  <a:lnTo>
                    <a:pt x="182879" y="54737"/>
                  </a:lnTo>
                  <a:lnTo>
                    <a:pt x="124713" y="54737"/>
                  </a:lnTo>
                  <a:lnTo>
                    <a:pt x="124713" y="262382"/>
                  </a:lnTo>
                  <a:lnTo>
                    <a:pt x="182879" y="262382"/>
                  </a:lnTo>
                  <a:lnTo>
                    <a:pt x="182879" y="317246"/>
                  </a:lnTo>
                  <a:lnTo>
                    <a:pt x="0" y="317246"/>
                  </a:lnTo>
                  <a:lnTo>
                    <a:pt x="0" y="262382"/>
                  </a:lnTo>
                  <a:lnTo>
                    <a:pt x="58038" y="262382"/>
                  </a:lnTo>
                  <a:lnTo>
                    <a:pt x="58038" y="54737"/>
                  </a:lnTo>
                  <a:lnTo>
                    <a:pt x="0" y="54737"/>
                  </a:lnTo>
                  <a:lnTo>
                    <a:pt x="0" y="0"/>
                  </a:lnTo>
                  <a:close/>
                </a:path>
                <a:path w="469900" h="317500">
                  <a:moveTo>
                    <a:pt x="264413" y="0"/>
                  </a:moveTo>
                  <a:lnTo>
                    <a:pt x="316864" y="0"/>
                  </a:lnTo>
                  <a:lnTo>
                    <a:pt x="412496" y="198882"/>
                  </a:lnTo>
                  <a:lnTo>
                    <a:pt x="412496" y="0"/>
                  </a:lnTo>
                  <a:lnTo>
                    <a:pt x="469646" y="0"/>
                  </a:lnTo>
                  <a:lnTo>
                    <a:pt x="469646" y="317246"/>
                  </a:lnTo>
                  <a:lnTo>
                    <a:pt x="417195" y="317246"/>
                  </a:lnTo>
                  <a:lnTo>
                    <a:pt x="321563" y="119252"/>
                  </a:lnTo>
                  <a:lnTo>
                    <a:pt x="321563" y="317246"/>
                  </a:lnTo>
                  <a:lnTo>
                    <a:pt x="264413" y="317246"/>
                  </a:lnTo>
                  <a:lnTo>
                    <a:pt x="26441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7800" y="634555"/>
              <a:ext cx="97536" cy="2084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75379" y="580008"/>
              <a:ext cx="786130" cy="318135"/>
            </a:xfrm>
            <a:custGeom>
              <a:avLst/>
              <a:gdLst/>
              <a:ahLst/>
              <a:cxnLst/>
              <a:rect l="l" t="t" r="r" b="b"/>
              <a:pathLst>
                <a:path w="786129" h="318134">
                  <a:moveTo>
                    <a:pt x="0" y="380"/>
                  </a:moveTo>
                  <a:lnTo>
                    <a:pt x="105537" y="380"/>
                  </a:lnTo>
                  <a:lnTo>
                    <a:pt x="132754" y="2905"/>
                  </a:lnTo>
                  <a:lnTo>
                    <a:pt x="176760" y="23098"/>
                  </a:lnTo>
                  <a:lnTo>
                    <a:pt x="206716" y="63293"/>
                  </a:lnTo>
                  <a:lnTo>
                    <a:pt x="221765" y="122348"/>
                  </a:lnTo>
                  <a:lnTo>
                    <a:pt x="223647" y="158876"/>
                  </a:lnTo>
                  <a:lnTo>
                    <a:pt x="221789" y="195788"/>
                  </a:lnTo>
                  <a:lnTo>
                    <a:pt x="206930" y="255085"/>
                  </a:lnTo>
                  <a:lnTo>
                    <a:pt x="177188" y="295070"/>
                  </a:lnTo>
                  <a:lnTo>
                    <a:pt x="132992" y="315124"/>
                  </a:lnTo>
                  <a:lnTo>
                    <a:pt x="105537" y="317626"/>
                  </a:lnTo>
                  <a:lnTo>
                    <a:pt x="0" y="317626"/>
                  </a:lnTo>
                  <a:lnTo>
                    <a:pt x="0" y="380"/>
                  </a:lnTo>
                  <a:close/>
                </a:path>
                <a:path w="786129" h="318134">
                  <a:moveTo>
                    <a:pt x="283210" y="380"/>
                  </a:moveTo>
                  <a:lnTo>
                    <a:pt x="481203" y="380"/>
                  </a:lnTo>
                  <a:lnTo>
                    <a:pt x="481203" y="60705"/>
                  </a:lnTo>
                  <a:lnTo>
                    <a:pt x="348996" y="60705"/>
                  </a:lnTo>
                  <a:lnTo>
                    <a:pt x="348996" y="123825"/>
                  </a:lnTo>
                  <a:lnTo>
                    <a:pt x="467360" y="123825"/>
                  </a:lnTo>
                  <a:lnTo>
                    <a:pt x="467360" y="184530"/>
                  </a:lnTo>
                  <a:lnTo>
                    <a:pt x="348996" y="184530"/>
                  </a:lnTo>
                  <a:lnTo>
                    <a:pt x="348996" y="257301"/>
                  </a:lnTo>
                  <a:lnTo>
                    <a:pt x="484759" y="257301"/>
                  </a:lnTo>
                  <a:lnTo>
                    <a:pt x="484759" y="317626"/>
                  </a:lnTo>
                  <a:lnTo>
                    <a:pt x="283210" y="317626"/>
                  </a:lnTo>
                  <a:lnTo>
                    <a:pt x="283210" y="380"/>
                  </a:lnTo>
                  <a:close/>
                </a:path>
                <a:path w="786129" h="318134">
                  <a:moveTo>
                    <a:pt x="532765" y="0"/>
                  </a:moveTo>
                  <a:lnTo>
                    <a:pt x="607314" y="0"/>
                  </a:lnTo>
                  <a:lnTo>
                    <a:pt x="656590" y="100838"/>
                  </a:lnTo>
                  <a:lnTo>
                    <a:pt x="706247" y="0"/>
                  </a:lnTo>
                  <a:lnTo>
                    <a:pt x="780034" y="0"/>
                  </a:lnTo>
                  <a:lnTo>
                    <a:pt x="694182" y="155828"/>
                  </a:lnTo>
                  <a:lnTo>
                    <a:pt x="785622" y="317626"/>
                  </a:lnTo>
                  <a:lnTo>
                    <a:pt x="708914" y="317626"/>
                  </a:lnTo>
                  <a:lnTo>
                    <a:pt x="656209" y="209803"/>
                  </a:lnTo>
                  <a:lnTo>
                    <a:pt x="604139" y="317626"/>
                  </a:lnTo>
                  <a:lnTo>
                    <a:pt x="526923" y="317626"/>
                  </a:lnTo>
                  <a:lnTo>
                    <a:pt x="620268" y="156209"/>
                  </a:lnTo>
                  <a:lnTo>
                    <a:pt x="53276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34923" y="1972055"/>
            <a:ext cx="5572760" cy="3843020"/>
            <a:chOff x="534923" y="1972055"/>
            <a:chExt cx="5572760" cy="38430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252" y="2117718"/>
              <a:ext cx="159764" cy="1684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3523" y="1972055"/>
              <a:ext cx="3105150" cy="51892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923" y="2305811"/>
              <a:ext cx="483857" cy="51892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3523" y="2305811"/>
              <a:ext cx="2215134" cy="51892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4923" y="2638043"/>
              <a:ext cx="483857" cy="51892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3523" y="2638043"/>
              <a:ext cx="3376422" cy="5189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4923" y="2970275"/>
              <a:ext cx="483857" cy="51892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3523" y="2970275"/>
              <a:ext cx="2062733" cy="51892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4923" y="3302507"/>
              <a:ext cx="483857" cy="51892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3523" y="3302507"/>
              <a:ext cx="4269486" cy="51892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4923" y="3634739"/>
              <a:ext cx="483857" cy="51892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3523" y="3634739"/>
              <a:ext cx="4207002" cy="51892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4923" y="3966971"/>
              <a:ext cx="483857" cy="51892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3523" y="3966971"/>
              <a:ext cx="5343906" cy="51892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4923" y="4299203"/>
              <a:ext cx="483857" cy="51892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3523" y="4299203"/>
              <a:ext cx="5229606" cy="51892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4923" y="4631435"/>
              <a:ext cx="483857" cy="51892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3523" y="4631435"/>
              <a:ext cx="1736598" cy="51892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4923" y="4963667"/>
              <a:ext cx="599694" cy="51892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20723" y="4963667"/>
              <a:ext cx="3778758" cy="51892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4923" y="5295899"/>
              <a:ext cx="599694" cy="51892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20723" y="5295899"/>
              <a:ext cx="1459230" cy="51892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73100" y="1970278"/>
            <a:ext cx="5153660" cy="368363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707390" indent="-695325">
              <a:lnSpc>
                <a:spcPct val="100000"/>
              </a:lnSpc>
              <a:spcBef>
                <a:spcPts val="565"/>
              </a:spcBef>
              <a:buAutoNum type="arabicPeriod"/>
              <a:tabLst>
                <a:tab pos="707390" algn="l"/>
                <a:tab pos="708025" algn="l"/>
              </a:tabLst>
            </a:pPr>
            <a:r>
              <a:rPr dirty="0" sz="1800" spc="-10">
                <a:latin typeface="Calibri"/>
                <a:cs typeface="Calibri"/>
              </a:rPr>
              <a:t>Certification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by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Ngo</a:t>
            </a:r>
            <a:endParaRPr sz="1800">
              <a:latin typeface="Calibri"/>
              <a:cs typeface="Calibri"/>
            </a:endParaRPr>
          </a:p>
          <a:p>
            <a:pPr marL="655955" indent="-64389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655955" algn="l"/>
                <a:tab pos="656590" algn="l"/>
              </a:tabLst>
            </a:pPr>
            <a:r>
              <a:rPr dirty="0" sz="1800">
                <a:latin typeface="Calibri"/>
                <a:cs typeface="Calibri"/>
              </a:rPr>
              <a:t>About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Ngo</a:t>
            </a:r>
            <a:endParaRPr sz="1800">
              <a:latin typeface="Calibri"/>
              <a:cs typeface="Calibri"/>
            </a:endParaRPr>
          </a:p>
          <a:p>
            <a:pPr marL="655955" indent="-643890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655955" algn="l"/>
                <a:tab pos="656590" algn="l"/>
              </a:tabLst>
            </a:pPr>
            <a:r>
              <a:rPr dirty="0" sz="1800" spc="-5">
                <a:latin typeface="Calibri"/>
                <a:cs typeface="Calibri"/>
              </a:rPr>
              <a:t>Title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aim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of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project</a:t>
            </a:r>
            <a:endParaRPr sz="1800">
              <a:latin typeface="Calibri"/>
              <a:cs typeface="Calibri"/>
            </a:endParaRPr>
          </a:p>
          <a:p>
            <a:pPr marL="707390" indent="-695325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707390" algn="l"/>
                <a:tab pos="708025" algn="l"/>
              </a:tabLst>
            </a:pPr>
            <a:r>
              <a:rPr dirty="0" sz="1800" spc="-10">
                <a:latin typeface="Calibri"/>
                <a:cs typeface="Calibri"/>
              </a:rPr>
              <a:t>Introduction</a:t>
            </a:r>
            <a:endParaRPr sz="1800">
              <a:latin typeface="Calibri"/>
              <a:cs typeface="Calibri"/>
            </a:endParaRPr>
          </a:p>
          <a:p>
            <a:pPr marL="655955" indent="-643890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655955" algn="l"/>
                <a:tab pos="656590" algn="l"/>
              </a:tabLst>
            </a:pPr>
            <a:r>
              <a:rPr dirty="0" sz="1800" spc="-10">
                <a:latin typeface="Calibri"/>
                <a:cs typeface="Calibri"/>
              </a:rPr>
              <a:t>Problem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identification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for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old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people</a:t>
            </a:r>
            <a:endParaRPr sz="1800">
              <a:latin typeface="Calibri"/>
              <a:cs typeface="Calibri"/>
            </a:endParaRPr>
          </a:p>
          <a:p>
            <a:pPr marL="655955" indent="-643890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655955" algn="l"/>
                <a:tab pos="656590" algn="l"/>
              </a:tabLst>
            </a:pPr>
            <a:r>
              <a:rPr dirty="0" sz="1800" spc="-5">
                <a:latin typeface="Calibri"/>
                <a:cs typeface="Calibri"/>
              </a:rPr>
              <a:t>Cause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of the </a:t>
            </a:r>
            <a:r>
              <a:rPr dirty="0" sz="1800" spc="-10">
                <a:latin typeface="Calibri"/>
                <a:cs typeface="Calibri"/>
              </a:rPr>
              <a:t>problem </a:t>
            </a:r>
            <a:r>
              <a:rPr dirty="0" sz="1800" spc="-15">
                <a:latin typeface="Calibri"/>
                <a:cs typeface="Calibri"/>
              </a:rPr>
              <a:t>for</a:t>
            </a:r>
            <a:r>
              <a:rPr dirty="0" sz="1800" spc="-10">
                <a:latin typeface="Calibri"/>
                <a:cs typeface="Calibri"/>
              </a:rPr>
              <a:t> old </a:t>
            </a:r>
            <a:r>
              <a:rPr dirty="0" sz="1800" spc="-5">
                <a:latin typeface="Calibri"/>
                <a:cs typeface="Calibri"/>
              </a:rPr>
              <a:t>people</a:t>
            </a:r>
            <a:endParaRPr sz="1800">
              <a:latin typeface="Calibri"/>
              <a:cs typeface="Calibri"/>
            </a:endParaRPr>
          </a:p>
          <a:p>
            <a:pPr marL="707390" indent="-695325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707390" algn="l"/>
                <a:tab pos="708025" algn="l"/>
              </a:tabLst>
            </a:pPr>
            <a:r>
              <a:rPr dirty="0" sz="1800" spc="-10">
                <a:latin typeface="Calibri"/>
                <a:cs typeface="Calibri"/>
              </a:rPr>
              <a:t>Problem identification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for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single </a:t>
            </a:r>
            <a:r>
              <a:rPr dirty="0" sz="1800" spc="-10">
                <a:latin typeface="Calibri"/>
                <a:cs typeface="Calibri"/>
              </a:rPr>
              <a:t>parent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children</a:t>
            </a:r>
            <a:endParaRPr sz="1800">
              <a:latin typeface="Calibri"/>
              <a:cs typeface="Calibri"/>
            </a:endParaRPr>
          </a:p>
          <a:p>
            <a:pPr marL="655955" indent="-643890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655955" algn="l"/>
                <a:tab pos="656590" algn="l"/>
              </a:tabLst>
            </a:pPr>
            <a:r>
              <a:rPr dirty="0" sz="1800" spc="-5">
                <a:latin typeface="Calibri"/>
                <a:cs typeface="Calibri"/>
              </a:rPr>
              <a:t>Cause of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problem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for</a:t>
            </a:r>
            <a:r>
              <a:rPr dirty="0" sz="1800" spc="-5">
                <a:latin typeface="Calibri"/>
                <a:cs typeface="Calibri"/>
              </a:rPr>
              <a:t> single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parent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children</a:t>
            </a:r>
            <a:endParaRPr sz="1800">
              <a:latin typeface="Calibri"/>
              <a:cs typeface="Calibri"/>
            </a:endParaRPr>
          </a:p>
          <a:p>
            <a:pPr marL="655955" indent="-643890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655955" algn="l"/>
                <a:tab pos="656590" algn="l"/>
              </a:tabLst>
            </a:pPr>
            <a:r>
              <a:rPr dirty="0" sz="1800" spc="-10">
                <a:latin typeface="Calibri"/>
                <a:cs typeface="Calibri"/>
              </a:rPr>
              <a:t>Objective</a:t>
            </a:r>
            <a:endParaRPr sz="1800">
              <a:latin typeface="Calibri"/>
              <a:cs typeface="Calibri"/>
            </a:endParaRPr>
          </a:p>
          <a:p>
            <a:pPr marL="698500" indent="-686435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698500" algn="l"/>
                <a:tab pos="699135" algn="l"/>
              </a:tabLst>
            </a:pPr>
            <a:r>
              <a:rPr dirty="0" sz="1800" spc="-5">
                <a:latin typeface="Calibri"/>
                <a:cs typeface="Calibri"/>
              </a:rPr>
              <a:t>Steps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taken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to </a:t>
            </a:r>
            <a:r>
              <a:rPr dirty="0" sz="1800" spc="-15">
                <a:latin typeface="Calibri"/>
                <a:cs typeface="Calibri"/>
              </a:rPr>
              <a:t>achieve</a:t>
            </a:r>
            <a:r>
              <a:rPr dirty="0" sz="1800">
                <a:latin typeface="Calibri"/>
                <a:cs typeface="Calibri"/>
              </a:rPr>
              <a:t> 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objective</a:t>
            </a:r>
            <a:endParaRPr sz="1800">
              <a:latin typeface="Calibri"/>
              <a:cs typeface="Calibri"/>
            </a:endParaRPr>
          </a:p>
          <a:p>
            <a:pPr marL="698500" indent="-686435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698500" algn="l"/>
                <a:tab pos="699135" algn="l"/>
              </a:tabLst>
            </a:pPr>
            <a:r>
              <a:rPr dirty="0" sz="1800" spc="-5">
                <a:latin typeface="Calibri"/>
                <a:cs typeface="Calibri"/>
              </a:rPr>
              <a:t>Conclusion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4576" y="564705"/>
            <a:ext cx="3552825" cy="367665"/>
            <a:chOff x="494576" y="564705"/>
            <a:chExt cx="3552825" cy="3676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965" y="576074"/>
              <a:ext cx="3541019" cy="3558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576" y="564705"/>
              <a:ext cx="3531260" cy="34645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4361751" y="564705"/>
            <a:ext cx="2719705" cy="454659"/>
            <a:chOff x="4361751" y="564705"/>
            <a:chExt cx="2719705" cy="45465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2352" y="576076"/>
              <a:ext cx="2708917" cy="4427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1751" y="564705"/>
              <a:ext cx="2698750" cy="43319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6265" y="1447164"/>
            <a:ext cx="6367780" cy="8152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1013" y="544986"/>
            <a:ext cx="1822351" cy="2870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198" y="441452"/>
            <a:ext cx="18370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latin typeface="Calibri"/>
                <a:cs typeface="Calibri"/>
              </a:rPr>
              <a:t>About</a:t>
            </a:r>
            <a:r>
              <a:rPr dirty="0" sz="2400" spc="-45" b="0">
                <a:latin typeface="Calibri"/>
                <a:cs typeface="Calibri"/>
              </a:rPr>
              <a:t> </a:t>
            </a:r>
            <a:r>
              <a:rPr dirty="0" sz="2400" b="0">
                <a:latin typeface="Calibri"/>
                <a:cs typeface="Calibri"/>
              </a:rPr>
              <a:t>the</a:t>
            </a:r>
            <a:r>
              <a:rPr dirty="0" sz="2400" spc="-60" b="0">
                <a:latin typeface="Calibri"/>
                <a:cs typeface="Calibri"/>
              </a:rPr>
              <a:t> </a:t>
            </a:r>
            <a:r>
              <a:rPr dirty="0" sz="2400" spc="-5" b="0">
                <a:latin typeface="Calibri"/>
                <a:cs typeface="Calibri"/>
              </a:rPr>
              <a:t>Ngo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3088" y="1058161"/>
            <a:ext cx="6723380" cy="933450"/>
            <a:chOff x="323088" y="1058161"/>
            <a:chExt cx="6723380" cy="9334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201" y="1058161"/>
              <a:ext cx="6426057" cy="1949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088" y="1232903"/>
              <a:ext cx="6723126" cy="4625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088" y="1528559"/>
              <a:ext cx="3123438" cy="46254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44500" y="931823"/>
            <a:ext cx="6457315" cy="9156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21600"/>
              </a:lnSpc>
              <a:spcBef>
                <a:spcPts val="105"/>
              </a:spcBef>
            </a:pPr>
            <a:r>
              <a:rPr dirty="0" sz="1600" spc="-10">
                <a:latin typeface="Calibri Light"/>
                <a:cs typeface="Calibri Light"/>
              </a:rPr>
              <a:t>Sahara </a:t>
            </a:r>
            <a:r>
              <a:rPr dirty="0" sz="1600" spc="-15">
                <a:latin typeface="Calibri Light"/>
                <a:cs typeface="Calibri Light"/>
              </a:rPr>
              <a:t>was </a:t>
            </a:r>
            <a:r>
              <a:rPr dirty="0" sz="1600" spc="-10">
                <a:latin typeface="Calibri Light"/>
                <a:cs typeface="Calibri Light"/>
              </a:rPr>
              <a:t>established </a:t>
            </a:r>
            <a:r>
              <a:rPr dirty="0" sz="1600" spc="-5">
                <a:latin typeface="Calibri Light"/>
                <a:cs typeface="Calibri Light"/>
              </a:rPr>
              <a:t>on 1986 and mainly </a:t>
            </a:r>
            <a:r>
              <a:rPr dirty="0" sz="1600">
                <a:latin typeface="Calibri Light"/>
                <a:cs typeface="Calibri Light"/>
              </a:rPr>
              <a:t>aims </a:t>
            </a:r>
            <a:r>
              <a:rPr dirty="0" sz="1600" spc="-15">
                <a:latin typeface="Calibri Light"/>
                <a:cs typeface="Calibri Light"/>
              </a:rPr>
              <a:t>for </a:t>
            </a:r>
            <a:r>
              <a:rPr dirty="0" sz="1600" spc="-5">
                <a:latin typeface="Calibri Light"/>
                <a:cs typeface="Calibri Light"/>
              </a:rPr>
              <a:t>old </a:t>
            </a:r>
            <a:r>
              <a:rPr dirty="0" sz="1600" spc="-10">
                <a:latin typeface="Calibri Light"/>
                <a:cs typeface="Calibri Light"/>
              </a:rPr>
              <a:t>age </a:t>
            </a:r>
            <a:r>
              <a:rPr dirty="0" sz="1600" spc="-5">
                <a:latin typeface="Calibri Light"/>
                <a:cs typeface="Calibri Light"/>
              </a:rPr>
              <a:t>and needy people.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Sahara </a:t>
            </a:r>
            <a:r>
              <a:rPr dirty="0" sz="1600" spc="-5">
                <a:latin typeface="Calibri Light"/>
                <a:cs typeface="Calibri Light"/>
              </a:rPr>
              <a:t>has </a:t>
            </a:r>
            <a:r>
              <a:rPr dirty="0" sz="1600">
                <a:latin typeface="Calibri Light"/>
                <a:cs typeface="Calibri Light"/>
              </a:rPr>
              <a:t>been </a:t>
            </a:r>
            <a:r>
              <a:rPr dirty="0" sz="1600" spc="-5">
                <a:latin typeface="Calibri Light"/>
                <a:cs typeface="Calibri Light"/>
              </a:rPr>
              <a:t>working under </a:t>
            </a:r>
            <a:r>
              <a:rPr dirty="0" sz="1600">
                <a:latin typeface="Calibri Light"/>
                <a:cs typeface="Calibri Light"/>
              </a:rPr>
              <a:t>the </a:t>
            </a:r>
            <a:r>
              <a:rPr dirty="0" sz="1600" spc="-5">
                <a:latin typeface="Calibri Light"/>
                <a:cs typeface="Calibri Light"/>
              </a:rPr>
              <a:t>guidance of the </a:t>
            </a:r>
            <a:r>
              <a:rPr dirty="0" sz="1600" spc="-10">
                <a:latin typeface="Calibri Light"/>
                <a:cs typeface="Calibri Light"/>
              </a:rPr>
              <a:t>president </a:t>
            </a:r>
            <a:r>
              <a:rPr dirty="0" sz="1600" spc="-5">
                <a:latin typeface="Calibri Light"/>
                <a:cs typeface="Calibri Light"/>
              </a:rPr>
              <a:t>T N Balamukund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-10">
                <a:latin typeface="Calibri Light"/>
                <a:cs typeface="Calibri Light"/>
              </a:rPr>
              <a:t> Secretary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Late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R </a:t>
            </a:r>
            <a:r>
              <a:rPr dirty="0" sz="1600" spc="-10">
                <a:latin typeface="Calibri Light"/>
                <a:cs typeface="Calibri Light"/>
              </a:rPr>
              <a:t>Narsing </a:t>
            </a:r>
            <a:r>
              <a:rPr dirty="0" sz="1600" spc="-5">
                <a:latin typeface="Calibri Light"/>
                <a:cs typeface="Calibri Light"/>
              </a:rPr>
              <a:t>Rao.</a:t>
            </a:r>
            <a:endParaRPr sz="16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3088" y="2845813"/>
            <a:ext cx="6845300" cy="3007360"/>
            <a:chOff x="323088" y="2845813"/>
            <a:chExt cx="6845300" cy="300736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4566" y="2845813"/>
              <a:ext cx="5447974" cy="1949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088" y="3019031"/>
              <a:ext cx="6598158" cy="4625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088" y="3314687"/>
              <a:ext cx="6697218" cy="4625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3088" y="3611867"/>
              <a:ext cx="6514338" cy="4625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3088" y="3907523"/>
              <a:ext cx="6845046" cy="4625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3088" y="4204703"/>
              <a:ext cx="6517385" cy="4625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3088" y="4500359"/>
              <a:ext cx="6493002" cy="46254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3088" y="4797539"/>
              <a:ext cx="6793230" cy="46254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3088" y="5093195"/>
              <a:ext cx="6422898" cy="4625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3088" y="5390375"/>
              <a:ext cx="2579370" cy="46254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44500" y="2721382"/>
            <a:ext cx="6551295" cy="29883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20650" indent="963294">
              <a:lnSpc>
                <a:spcPct val="121500"/>
              </a:lnSpc>
              <a:spcBef>
                <a:spcPts val="90"/>
              </a:spcBef>
            </a:pPr>
            <a:r>
              <a:rPr dirty="0" sz="1600" spc="-5">
                <a:latin typeface="Calibri Light"/>
                <a:cs typeface="Calibri Light"/>
              </a:rPr>
              <a:t>Since</a:t>
            </a:r>
            <a:r>
              <a:rPr dirty="0" sz="1600">
                <a:latin typeface="Calibri Light"/>
                <a:cs typeface="Calibri Light"/>
              </a:rPr>
              <a:t> 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Past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36 </a:t>
            </a:r>
            <a:r>
              <a:rPr dirty="0" sz="1600" spc="-15">
                <a:latin typeface="Calibri Light"/>
                <a:cs typeface="Calibri Light"/>
              </a:rPr>
              <a:t>years,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Sahara</a:t>
            </a:r>
            <a:r>
              <a:rPr dirty="0" sz="1600">
                <a:latin typeface="Calibri Light"/>
                <a:cs typeface="Calibri Light"/>
              </a:rPr>
              <a:t> has</a:t>
            </a:r>
            <a:r>
              <a:rPr dirty="0" sz="1600" spc="-5">
                <a:latin typeface="Calibri Light"/>
                <a:cs typeface="Calibri Light"/>
              </a:rPr>
              <a:t> been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working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for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improving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quality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 </a:t>
            </a:r>
            <a:r>
              <a:rPr dirty="0" sz="1600" spc="-15">
                <a:latin typeface="Calibri Light"/>
                <a:cs typeface="Calibri Light"/>
              </a:rPr>
              <a:t>life,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especially the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underprivileged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sections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society.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focus</a:t>
            </a:r>
            <a:r>
              <a:rPr dirty="0" sz="1600" spc="-10">
                <a:latin typeface="Calibri Light"/>
                <a:cs typeface="Calibri Light"/>
              </a:rPr>
              <a:t> groups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been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the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elderly,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children,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women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youth.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Through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their 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activities,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they</a:t>
            </a:r>
            <a:r>
              <a:rPr dirty="0" sz="1600">
                <a:latin typeface="Calibri Light"/>
                <a:cs typeface="Calibri Light"/>
              </a:rPr>
              <a:t> tried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best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see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elders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 </a:t>
            </a:r>
            <a:r>
              <a:rPr dirty="0" sz="1600">
                <a:latin typeface="Calibri Light"/>
                <a:cs typeface="Calibri Light"/>
              </a:rPr>
              <a:t>the </a:t>
            </a:r>
            <a:r>
              <a:rPr dirty="0" sz="1600" spc="-10">
                <a:latin typeface="Calibri Light"/>
                <a:cs typeface="Calibri Light"/>
              </a:rPr>
              <a:t>project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area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ts val="2340"/>
              </a:lnSpc>
              <a:spcBef>
                <a:spcPts val="135"/>
              </a:spcBef>
            </a:pPr>
            <a:r>
              <a:rPr dirty="0" sz="1600" spc="-5">
                <a:latin typeface="Calibri Light"/>
                <a:cs typeface="Calibri Light"/>
              </a:rPr>
              <a:t>been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taken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care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best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possible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45">
                <a:latin typeface="Calibri Light"/>
                <a:cs typeface="Calibri Light"/>
              </a:rPr>
              <a:t>way.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25">
                <a:latin typeface="Calibri Light"/>
                <a:cs typeface="Calibri Light"/>
              </a:rPr>
              <a:t>At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same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time,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support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children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-5">
                <a:latin typeface="Calibri Light"/>
                <a:cs typeface="Calibri Light"/>
              </a:rPr>
              <a:t> help </a:t>
            </a:r>
            <a:r>
              <a:rPr dirty="0" sz="1600">
                <a:latin typeface="Calibri Light"/>
                <a:cs typeface="Calibri Light"/>
              </a:rPr>
              <a:t>them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continue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education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has </a:t>
            </a:r>
            <a:r>
              <a:rPr dirty="0" sz="1600">
                <a:latin typeface="Calibri Light"/>
                <a:cs typeface="Calibri Light"/>
              </a:rPr>
              <a:t>been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strengthened.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Women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600" spc="-5">
                <a:latin typeface="Calibri Light"/>
                <a:cs typeface="Calibri Light"/>
              </a:rPr>
              <a:t>been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major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benefactors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over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2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past</a:t>
            </a:r>
            <a:r>
              <a:rPr dirty="0" sz="1600" spc="2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years,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with</a:t>
            </a:r>
            <a:r>
              <a:rPr dirty="0" sz="1600" spc="3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implemented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successfully.</a:t>
            </a:r>
            <a:endParaRPr sz="1600">
              <a:latin typeface="Calibri Light"/>
              <a:cs typeface="Calibri Light"/>
            </a:endParaRPr>
          </a:p>
          <a:p>
            <a:pPr marL="12700" marR="59690">
              <a:lnSpc>
                <a:spcPct val="121200"/>
              </a:lnSpc>
              <a:spcBef>
                <a:spcPts val="15"/>
              </a:spcBef>
            </a:pPr>
            <a:r>
              <a:rPr dirty="0" sz="1600" spc="-15">
                <a:latin typeface="Calibri Light"/>
                <a:cs typeface="Calibri Light"/>
              </a:rPr>
              <a:t>Awareness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campaigns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health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issues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pertaining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 spc="-5">
                <a:latin typeface="Calibri Light"/>
                <a:cs typeface="Calibri Light"/>
              </a:rPr>
              <a:t> the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area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have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been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carried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on;</a:t>
            </a:r>
            <a:r>
              <a:rPr dirty="0" sz="1600" spc="-5">
                <a:latin typeface="Calibri Light"/>
                <a:cs typeface="Calibri Light"/>
              </a:rPr>
              <a:t> their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focus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last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year</a:t>
            </a:r>
            <a:r>
              <a:rPr dirty="0" sz="1600" spc="-5">
                <a:latin typeface="Calibri Light"/>
                <a:cs typeface="Calibri Light"/>
              </a:rPr>
              <a:t> has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been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covid prevention,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post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covid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health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600" spc="-5">
                <a:latin typeface="Calibri Light"/>
                <a:cs typeface="Calibri Light"/>
              </a:rPr>
              <a:t>issues,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menstrual</a:t>
            </a:r>
            <a:r>
              <a:rPr dirty="0" sz="1600" spc="-2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hygiene.</a:t>
            </a:r>
            <a:endParaRPr sz="1600">
              <a:latin typeface="Calibri Light"/>
              <a:cs typeface="Calibri Ligh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3088" y="7103870"/>
            <a:ext cx="6904990" cy="1230630"/>
            <a:chOff x="323088" y="7103870"/>
            <a:chExt cx="6904990" cy="1230630"/>
          </a:xfrm>
        </p:grpSpPr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69498" y="7103870"/>
              <a:ext cx="5666153" cy="19499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3088" y="7278611"/>
              <a:ext cx="6832854" cy="4625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3088" y="7574267"/>
              <a:ext cx="6904482" cy="4625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3088" y="7871447"/>
              <a:ext cx="5127498" cy="46254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44500" y="6978167"/>
            <a:ext cx="6606540" cy="1213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917575">
              <a:lnSpc>
                <a:spcPct val="121700"/>
              </a:lnSpc>
              <a:spcBef>
                <a:spcPts val="105"/>
              </a:spcBef>
            </a:pP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vision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is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build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society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where</a:t>
            </a:r>
            <a:r>
              <a:rPr dirty="0" sz="1600" spc="-5">
                <a:latin typeface="Calibri Light"/>
                <a:cs typeface="Calibri Light"/>
              </a:rPr>
              <a:t> every</a:t>
            </a:r>
            <a:r>
              <a:rPr dirty="0" sz="1600">
                <a:latin typeface="Calibri Light"/>
                <a:cs typeface="Calibri Light"/>
              </a:rPr>
              <a:t> individual </a:t>
            </a:r>
            <a:r>
              <a:rPr dirty="0" sz="1600" spc="-5">
                <a:latin typeface="Calibri Light"/>
                <a:cs typeface="Calibri Light"/>
              </a:rPr>
              <a:t>is </a:t>
            </a:r>
            <a:r>
              <a:rPr dirty="0" sz="1600">
                <a:latin typeface="Calibri Light"/>
                <a:cs typeface="Calibri Light"/>
              </a:rPr>
              <a:t>able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live</a:t>
            </a:r>
            <a:r>
              <a:rPr dirty="0" sz="1600" spc="-5">
                <a:latin typeface="Calibri Light"/>
                <a:cs typeface="Calibri Light"/>
              </a:rPr>
              <a:t> a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life</a:t>
            </a:r>
            <a:r>
              <a:rPr dirty="0" sz="1600" spc="-5">
                <a:latin typeface="Calibri Light"/>
                <a:cs typeface="Calibri Light"/>
              </a:rPr>
              <a:t> of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dignity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respect,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with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equal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access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opportunities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resources.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40">
                <a:latin typeface="Calibri Light"/>
                <a:cs typeface="Calibri Light"/>
              </a:rPr>
              <a:t>We </a:t>
            </a:r>
            <a:r>
              <a:rPr dirty="0" sz="1600" spc="-3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strive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create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inclusive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tolerant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society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where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everyone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realize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potential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regardless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their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background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circumstances.</a:t>
            </a:r>
            <a:endParaRPr sz="1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100" y="540429"/>
            <a:ext cx="2353968" cy="2916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672" y="1063150"/>
            <a:ext cx="5514882" cy="2184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4500" y="441452"/>
            <a:ext cx="5551170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libri Light"/>
                <a:cs typeface="Calibri Light"/>
              </a:rPr>
              <a:t>Title</a:t>
            </a:r>
            <a:r>
              <a:rPr dirty="0" sz="2400" spc="-15">
                <a:latin typeface="Calibri Light"/>
                <a:cs typeface="Calibri Light"/>
              </a:rPr>
              <a:t> </a:t>
            </a:r>
            <a:r>
              <a:rPr dirty="0" sz="2400" spc="-5">
                <a:latin typeface="Calibri Light"/>
                <a:cs typeface="Calibri Light"/>
              </a:rPr>
              <a:t>of</a:t>
            </a:r>
            <a:r>
              <a:rPr dirty="0" sz="2400" spc="-20">
                <a:latin typeface="Calibri Light"/>
                <a:cs typeface="Calibri Light"/>
              </a:rPr>
              <a:t> </a:t>
            </a:r>
            <a:r>
              <a:rPr dirty="0" sz="2400" spc="5">
                <a:latin typeface="Calibri Light"/>
                <a:cs typeface="Calibri Light"/>
              </a:rPr>
              <a:t>the</a:t>
            </a:r>
            <a:r>
              <a:rPr dirty="0" sz="2400" spc="-20">
                <a:latin typeface="Calibri Light"/>
                <a:cs typeface="Calibri Light"/>
              </a:rPr>
              <a:t> </a:t>
            </a:r>
            <a:r>
              <a:rPr dirty="0" sz="2400" spc="-10">
                <a:latin typeface="Calibri Light"/>
                <a:cs typeface="Calibri Light"/>
              </a:rPr>
              <a:t>project:</a:t>
            </a:r>
            <a:endParaRPr sz="24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 sz="1800" spc="-10">
                <a:latin typeface="Calibri Light"/>
                <a:cs typeface="Calibri Light"/>
              </a:rPr>
              <a:t>Creating</a:t>
            </a:r>
            <a:r>
              <a:rPr dirty="0" sz="1800" spc="-15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awareness </a:t>
            </a:r>
            <a:r>
              <a:rPr dirty="0" sz="1800">
                <a:latin typeface="Calibri Light"/>
                <a:cs typeface="Calibri Light"/>
              </a:rPr>
              <a:t>about</a:t>
            </a:r>
            <a:r>
              <a:rPr dirty="0" sz="1800" spc="-5">
                <a:latin typeface="Calibri Light"/>
                <a:cs typeface="Calibri Light"/>
              </a:rPr>
              <a:t> old</a:t>
            </a:r>
            <a:r>
              <a:rPr dirty="0" sz="1800" spc="-1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people </a:t>
            </a:r>
            <a:r>
              <a:rPr dirty="0" sz="1800">
                <a:latin typeface="Calibri Light"/>
                <a:cs typeface="Calibri Light"/>
              </a:rPr>
              <a:t>and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single</a:t>
            </a:r>
            <a:r>
              <a:rPr dirty="0" sz="1800" spc="-10">
                <a:latin typeface="Calibri Light"/>
                <a:cs typeface="Calibri Light"/>
              </a:rPr>
              <a:t> parent </a:t>
            </a:r>
            <a:r>
              <a:rPr dirty="0" sz="1800" spc="-5">
                <a:latin typeface="Calibri Light"/>
                <a:cs typeface="Calibri Light"/>
              </a:rPr>
              <a:t>child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021" y="2504819"/>
            <a:ext cx="561982" cy="22784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06324" y="3448210"/>
            <a:ext cx="6781165" cy="1379220"/>
            <a:chOff x="306324" y="3448210"/>
            <a:chExt cx="6781165" cy="137922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548" y="3448210"/>
              <a:ext cx="6634930" cy="2184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643883"/>
              <a:ext cx="6331458" cy="5189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6324" y="3976115"/>
              <a:ext cx="6585966" cy="5189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324" y="4308347"/>
              <a:ext cx="4359402" cy="51892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44500" y="2392426"/>
            <a:ext cx="6661784" cy="2273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libri Light"/>
                <a:cs typeface="Calibri Light"/>
              </a:rPr>
              <a:t>Aim:</a:t>
            </a:r>
            <a:endParaRPr sz="2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50">
              <a:latin typeface="Calibri Light"/>
              <a:cs typeface="Calibri Light"/>
            </a:endParaRPr>
          </a:p>
          <a:p>
            <a:pPr marL="12700" marR="5080">
              <a:lnSpc>
                <a:spcPct val="121100"/>
              </a:lnSpc>
            </a:pPr>
            <a:r>
              <a:rPr dirty="0" sz="1800">
                <a:latin typeface="Calibri Light"/>
                <a:cs typeface="Calibri Light"/>
              </a:rPr>
              <a:t>The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aim </a:t>
            </a:r>
            <a:r>
              <a:rPr dirty="0" sz="1800" spc="-5">
                <a:latin typeface="Calibri Light"/>
                <a:cs typeface="Calibri Light"/>
              </a:rPr>
              <a:t>of</a:t>
            </a:r>
            <a:r>
              <a:rPr dirty="0" sz="1800" spc="-10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this </a:t>
            </a:r>
            <a:r>
              <a:rPr dirty="0" sz="1800" spc="-15">
                <a:latin typeface="Calibri Light"/>
                <a:cs typeface="Calibri Light"/>
              </a:rPr>
              <a:t>project</a:t>
            </a:r>
            <a:r>
              <a:rPr dirty="0" sz="1800" spc="-10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is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to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 spc="-15">
                <a:latin typeface="Calibri Light"/>
                <a:cs typeface="Calibri Light"/>
              </a:rPr>
              <a:t>create</a:t>
            </a:r>
            <a:r>
              <a:rPr dirty="0" sz="1800" spc="-10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an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awareness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about</a:t>
            </a:r>
            <a:r>
              <a:rPr dirty="0" sz="1800" spc="-5">
                <a:latin typeface="Calibri Light"/>
                <a:cs typeface="Calibri Light"/>
              </a:rPr>
              <a:t> old</a:t>
            </a:r>
            <a:r>
              <a:rPr dirty="0" sz="1800" spc="1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age </a:t>
            </a:r>
            <a:r>
              <a:rPr dirty="0" sz="1800">
                <a:latin typeface="Calibri Light"/>
                <a:cs typeface="Calibri Light"/>
              </a:rPr>
              <a:t>people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in </a:t>
            </a:r>
            <a:r>
              <a:rPr dirty="0" sz="1800" spc="-395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the</a:t>
            </a:r>
            <a:r>
              <a:rPr dirty="0" sz="1800" spc="5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younger</a:t>
            </a:r>
            <a:r>
              <a:rPr dirty="0" sz="1800" spc="10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generations,</a:t>
            </a:r>
            <a:r>
              <a:rPr dirty="0" sz="1800" spc="15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so</a:t>
            </a:r>
            <a:r>
              <a:rPr dirty="0" sz="1800" spc="15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that</a:t>
            </a:r>
            <a:r>
              <a:rPr dirty="0" sz="1800" spc="20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the</a:t>
            </a:r>
            <a:r>
              <a:rPr dirty="0" sz="1800" spc="10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younger</a:t>
            </a:r>
            <a:r>
              <a:rPr dirty="0" sz="1800" spc="10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generation</a:t>
            </a:r>
            <a:r>
              <a:rPr dirty="0" sz="1800" spc="1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give</a:t>
            </a:r>
            <a:r>
              <a:rPr dirty="0" sz="1800" spc="10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the </a:t>
            </a:r>
            <a:r>
              <a:rPr dirty="0" sz="1800" spc="5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respect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to</a:t>
            </a:r>
            <a:r>
              <a:rPr dirty="0" sz="1800">
                <a:latin typeface="Calibri Light"/>
                <a:cs typeface="Calibri Light"/>
              </a:rPr>
              <a:t> the </a:t>
            </a:r>
            <a:r>
              <a:rPr dirty="0" sz="1800" spc="-5">
                <a:latin typeface="Calibri Light"/>
                <a:cs typeface="Calibri Light"/>
              </a:rPr>
              <a:t>old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people</a:t>
            </a:r>
            <a:r>
              <a:rPr dirty="0" sz="1800" spc="5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at</a:t>
            </a:r>
            <a:r>
              <a:rPr dirty="0" sz="1800" spc="5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least</a:t>
            </a:r>
            <a:r>
              <a:rPr dirty="0" sz="1800" spc="10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from</a:t>
            </a:r>
            <a:r>
              <a:rPr dirty="0" sz="1800" spc="1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their</a:t>
            </a:r>
            <a:r>
              <a:rPr dirty="0" sz="1800" spc="5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home</a:t>
            </a:r>
            <a:r>
              <a:rPr dirty="0" sz="1800">
                <a:latin typeface="Calibri Light"/>
                <a:cs typeface="Calibri Light"/>
              </a:rPr>
              <a:t> and</a:t>
            </a:r>
            <a:r>
              <a:rPr dirty="0" sz="1800" spc="5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single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parent </a:t>
            </a:r>
            <a:r>
              <a:rPr dirty="0" sz="1800" spc="-5">
                <a:latin typeface="Calibri Light"/>
                <a:cs typeface="Calibri Light"/>
              </a:rPr>
              <a:t> child</a:t>
            </a:r>
            <a:r>
              <a:rPr dirty="0" sz="1800" spc="-10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who </a:t>
            </a:r>
            <a:r>
              <a:rPr dirty="0" sz="1800" spc="-15">
                <a:latin typeface="Calibri Light"/>
                <a:cs typeface="Calibri Light"/>
              </a:rPr>
              <a:t>have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 spc="-15">
                <a:latin typeface="Calibri Light"/>
                <a:cs typeface="Calibri Light"/>
              </a:rPr>
              <a:t>lost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their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father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5">
                <a:latin typeface="Calibri Light"/>
                <a:cs typeface="Calibri Light"/>
              </a:rPr>
              <a:t>or</a:t>
            </a:r>
            <a:r>
              <a:rPr dirty="0" sz="1800" spc="10">
                <a:latin typeface="Calibri Light"/>
                <a:cs typeface="Calibri Light"/>
              </a:rPr>
              <a:t> </a:t>
            </a:r>
            <a:r>
              <a:rPr dirty="0" sz="1800" spc="-30">
                <a:latin typeface="Calibri Light"/>
                <a:cs typeface="Calibri Light"/>
              </a:rPr>
              <a:t>mother.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7650" y="5871381"/>
            <a:ext cx="3078338" cy="291639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34923" y="6601967"/>
            <a:ext cx="6799580" cy="1197610"/>
            <a:chOff x="534923" y="6601967"/>
            <a:chExt cx="6799580" cy="119761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8968" y="6789485"/>
              <a:ext cx="104206" cy="10439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3523" y="6601967"/>
              <a:ext cx="6570726" cy="51892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4923" y="6934199"/>
              <a:ext cx="416826" cy="52197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3523" y="6946391"/>
              <a:ext cx="6310122" cy="51892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3523" y="7280147"/>
              <a:ext cx="5615178" cy="51892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44500" y="5773292"/>
            <a:ext cx="6614159" cy="1864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 Light"/>
                <a:cs typeface="Calibri Light"/>
              </a:rPr>
              <a:t>Objectives</a:t>
            </a:r>
            <a:r>
              <a:rPr dirty="0" sz="2400">
                <a:latin typeface="Calibri Light"/>
                <a:cs typeface="Calibri Light"/>
              </a:rPr>
              <a:t> </a:t>
            </a:r>
            <a:r>
              <a:rPr dirty="0" sz="2400" spc="-5">
                <a:latin typeface="Calibri Light"/>
                <a:cs typeface="Calibri Light"/>
              </a:rPr>
              <a:t>of</a:t>
            </a:r>
            <a:r>
              <a:rPr dirty="0" sz="2400" spc="-15">
                <a:latin typeface="Calibri Light"/>
                <a:cs typeface="Calibri Light"/>
              </a:rPr>
              <a:t> </a:t>
            </a:r>
            <a:r>
              <a:rPr dirty="0" sz="2400">
                <a:latin typeface="Calibri Light"/>
                <a:cs typeface="Calibri Light"/>
              </a:rPr>
              <a:t>the</a:t>
            </a:r>
            <a:r>
              <a:rPr dirty="0" sz="2400" spc="-10">
                <a:latin typeface="Calibri Light"/>
                <a:cs typeface="Calibri Light"/>
              </a:rPr>
              <a:t> project:</a:t>
            </a:r>
            <a:endParaRPr sz="24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50">
              <a:latin typeface="Calibri Light"/>
              <a:cs typeface="Calibri Light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800" spc="-85">
                <a:latin typeface="Calibri Light"/>
                <a:cs typeface="Calibri Light"/>
              </a:rPr>
              <a:t>To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learn</a:t>
            </a:r>
            <a:r>
              <a:rPr dirty="0" sz="1800" spc="5">
                <a:latin typeface="Calibri Light"/>
                <a:cs typeface="Calibri Light"/>
              </a:rPr>
              <a:t> </a:t>
            </a:r>
            <a:r>
              <a:rPr dirty="0" sz="1800" spc="-15">
                <a:latin typeface="Calibri Light"/>
                <a:cs typeface="Calibri Light"/>
              </a:rPr>
              <a:t>why</a:t>
            </a:r>
            <a:r>
              <a:rPr dirty="0" sz="1800">
                <a:latin typeface="Calibri Light"/>
                <a:cs typeface="Calibri Light"/>
              </a:rPr>
              <a:t> the </a:t>
            </a:r>
            <a:r>
              <a:rPr dirty="0" sz="1800" spc="-5">
                <a:latin typeface="Calibri Light"/>
                <a:cs typeface="Calibri Light"/>
              </a:rPr>
              <a:t>old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people </a:t>
            </a:r>
            <a:r>
              <a:rPr dirty="0" sz="1800" spc="-10">
                <a:latin typeface="Calibri Light"/>
                <a:cs typeface="Calibri Light"/>
              </a:rPr>
              <a:t>are</a:t>
            </a:r>
            <a:r>
              <a:rPr dirty="0" sz="1800" spc="5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neglected</a:t>
            </a:r>
            <a:r>
              <a:rPr dirty="0" sz="1800" spc="-20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by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their</a:t>
            </a:r>
            <a:r>
              <a:rPr dirty="0" sz="1800" spc="15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family </a:t>
            </a:r>
            <a:r>
              <a:rPr dirty="0" sz="1800" spc="-10">
                <a:latin typeface="Calibri Light"/>
                <a:cs typeface="Calibri Light"/>
              </a:rPr>
              <a:t>members</a:t>
            </a:r>
            <a:endParaRPr sz="1800">
              <a:latin typeface="Calibri Light"/>
              <a:cs typeface="Calibri Light"/>
            </a:endParaRPr>
          </a:p>
          <a:p>
            <a:pPr marL="469900" indent="-229235">
              <a:lnSpc>
                <a:spcPct val="100000"/>
              </a:lnSpc>
              <a:spcBef>
                <a:spcPts val="55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800" spc="-85">
                <a:latin typeface="Calibri Light"/>
                <a:cs typeface="Calibri Light"/>
              </a:rPr>
              <a:t>To</a:t>
            </a:r>
            <a:r>
              <a:rPr dirty="0" sz="1800" spc="-10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learn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 spc="-15">
                <a:latin typeface="Calibri Light"/>
                <a:cs typeface="Calibri Light"/>
              </a:rPr>
              <a:t>why</a:t>
            </a:r>
            <a:r>
              <a:rPr dirty="0" sz="1800">
                <a:latin typeface="Calibri Light"/>
                <a:cs typeface="Calibri Light"/>
              </a:rPr>
              <a:t> the</a:t>
            </a:r>
            <a:r>
              <a:rPr dirty="0" sz="1800" spc="-1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child</a:t>
            </a:r>
            <a:r>
              <a:rPr dirty="0" sz="1800" spc="-10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has </a:t>
            </a:r>
            <a:r>
              <a:rPr dirty="0" sz="1800" spc="-10">
                <a:latin typeface="Calibri Light"/>
                <a:cs typeface="Calibri Light"/>
              </a:rPr>
              <a:t>lost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their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parent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and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 spc="-10">
                <a:latin typeface="Calibri Light"/>
                <a:cs typeface="Calibri Light"/>
              </a:rPr>
              <a:t>how</a:t>
            </a:r>
            <a:r>
              <a:rPr dirty="0" sz="1800" spc="5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the</a:t>
            </a:r>
            <a:r>
              <a:rPr dirty="0" sz="1800" spc="-10">
                <a:latin typeface="Calibri Light"/>
                <a:cs typeface="Calibri Light"/>
              </a:rPr>
              <a:t> parent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is</a:t>
            </a:r>
            <a:endParaRPr sz="1800">
              <a:latin typeface="Calibri Light"/>
              <a:cs typeface="Calibri Light"/>
            </a:endParaRPr>
          </a:p>
          <a:p>
            <a:pPr marL="469900">
              <a:lnSpc>
                <a:spcPct val="100000"/>
              </a:lnSpc>
              <a:spcBef>
                <a:spcPts val="470"/>
              </a:spcBef>
            </a:pPr>
            <a:r>
              <a:rPr dirty="0" sz="1800" spc="-5">
                <a:latin typeface="Calibri Light"/>
                <a:cs typeface="Calibri Light"/>
              </a:rPr>
              <a:t>going </a:t>
            </a:r>
            <a:r>
              <a:rPr dirty="0" sz="1800" spc="-15">
                <a:latin typeface="Calibri Light"/>
                <a:cs typeface="Calibri Light"/>
              </a:rPr>
              <a:t>to</a:t>
            </a:r>
            <a:r>
              <a:rPr dirty="0" sz="1800" spc="-5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bring</a:t>
            </a:r>
            <a:r>
              <a:rPr dirty="0" sz="1800" spc="-10">
                <a:latin typeface="Calibri Light"/>
                <a:cs typeface="Calibri Light"/>
              </a:rPr>
              <a:t> </a:t>
            </a:r>
            <a:r>
              <a:rPr dirty="0" sz="1800">
                <a:latin typeface="Calibri Light"/>
                <a:cs typeface="Calibri Light"/>
              </a:rPr>
              <a:t>up </a:t>
            </a:r>
            <a:r>
              <a:rPr dirty="0" sz="1800" spc="-5">
                <a:latin typeface="Calibri Light"/>
                <a:cs typeface="Calibri Light"/>
              </a:rPr>
              <a:t>the child</a:t>
            </a:r>
            <a:r>
              <a:rPr dirty="0" sz="1800">
                <a:latin typeface="Calibri Light"/>
                <a:cs typeface="Calibri Light"/>
              </a:rPr>
              <a:t> in </a:t>
            </a:r>
            <a:r>
              <a:rPr dirty="0" sz="1800" spc="-5">
                <a:latin typeface="Calibri Light"/>
                <a:cs typeface="Calibri Light"/>
              </a:rPr>
              <a:t>what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kind</a:t>
            </a:r>
            <a:r>
              <a:rPr dirty="0" sz="1800">
                <a:latin typeface="Calibri Light"/>
                <a:cs typeface="Calibri Light"/>
              </a:rPr>
              <a:t> </a:t>
            </a:r>
            <a:r>
              <a:rPr dirty="0" sz="1800" spc="-5">
                <a:latin typeface="Calibri Light"/>
                <a:cs typeface="Calibri Light"/>
              </a:rPr>
              <a:t>of</a:t>
            </a:r>
            <a:r>
              <a:rPr dirty="0" sz="1800" spc="-10">
                <a:latin typeface="Calibri Light"/>
                <a:cs typeface="Calibri Light"/>
              </a:rPr>
              <a:t> circumstances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935" y="544986"/>
            <a:ext cx="1576790" cy="2369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441452"/>
            <a:ext cx="16224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0">
                <a:latin typeface="Calibri Light"/>
                <a:cs typeface="Calibri Light"/>
              </a:rPr>
              <a:t>I</a:t>
            </a:r>
            <a:r>
              <a:rPr dirty="0" sz="2400" spc="-25" b="0">
                <a:latin typeface="Calibri Light"/>
                <a:cs typeface="Calibri Light"/>
              </a:rPr>
              <a:t>n</a:t>
            </a:r>
            <a:r>
              <a:rPr dirty="0" sz="2400" b="0">
                <a:latin typeface="Calibri Light"/>
                <a:cs typeface="Calibri Light"/>
              </a:rPr>
              <a:t>t</a:t>
            </a:r>
            <a:r>
              <a:rPr dirty="0" sz="2400" spc="-45" b="0">
                <a:latin typeface="Calibri Light"/>
                <a:cs typeface="Calibri Light"/>
              </a:rPr>
              <a:t>r</a:t>
            </a:r>
            <a:r>
              <a:rPr dirty="0" sz="2400" spc="-5" b="0">
                <a:latin typeface="Calibri Light"/>
                <a:cs typeface="Calibri Light"/>
              </a:rPr>
              <a:t>od</a:t>
            </a:r>
            <a:r>
              <a:rPr dirty="0" sz="2400" spc="5" b="0">
                <a:latin typeface="Calibri Light"/>
                <a:cs typeface="Calibri Light"/>
              </a:rPr>
              <a:t>u</a:t>
            </a:r>
            <a:r>
              <a:rPr dirty="0" sz="2400" spc="-10" b="0">
                <a:latin typeface="Calibri Light"/>
                <a:cs typeface="Calibri Light"/>
              </a:rPr>
              <a:t>cti</a:t>
            </a:r>
            <a:r>
              <a:rPr dirty="0" sz="2400" spc="-20" b="0">
                <a:latin typeface="Calibri Light"/>
                <a:cs typeface="Calibri Light"/>
              </a:rPr>
              <a:t>o</a:t>
            </a:r>
            <a:r>
              <a:rPr dirty="0" sz="2400" b="0">
                <a:latin typeface="Calibri Light"/>
                <a:cs typeface="Calibri Light"/>
              </a:rPr>
              <a:t>n: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3088" y="1058161"/>
            <a:ext cx="6915150" cy="1525905"/>
            <a:chOff x="323088" y="1058161"/>
            <a:chExt cx="6915150" cy="15259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803" y="1058161"/>
              <a:ext cx="6102896" cy="1949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088" y="1232903"/>
              <a:ext cx="6240018" cy="4625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088" y="1528559"/>
              <a:ext cx="6915150" cy="4625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3088" y="1825739"/>
              <a:ext cx="6642354" cy="4625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088" y="2121395"/>
              <a:ext cx="2643378" cy="46254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23088" y="3039361"/>
            <a:ext cx="6717030" cy="2416175"/>
            <a:chOff x="323088" y="3039361"/>
            <a:chExt cx="6717030" cy="241617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5629" y="3039361"/>
              <a:ext cx="6220317" cy="1949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3088" y="3214103"/>
              <a:ext cx="6467094" cy="4625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3088" y="3509759"/>
              <a:ext cx="6671309" cy="4625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3088" y="3806939"/>
              <a:ext cx="6601206" cy="4625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3088" y="4102595"/>
              <a:ext cx="6717030" cy="4625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3088" y="4399775"/>
              <a:ext cx="6451854" cy="46254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3088" y="4695431"/>
              <a:ext cx="5955030" cy="46254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3088" y="4992611"/>
              <a:ext cx="1668018" cy="462546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23088" y="5910577"/>
            <a:ext cx="6864984" cy="1821814"/>
            <a:chOff x="323088" y="5910577"/>
            <a:chExt cx="6864984" cy="1821814"/>
          </a:xfrm>
        </p:grpSpPr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9299" y="5910577"/>
              <a:ext cx="5702253" cy="19499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3088" y="6083795"/>
              <a:ext cx="6864858" cy="46254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3088" y="6380975"/>
              <a:ext cx="6721602" cy="46254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3088" y="6676631"/>
              <a:ext cx="5791962" cy="4625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3088" y="6973811"/>
              <a:ext cx="6381750" cy="4625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3088" y="7269467"/>
              <a:ext cx="3163062" cy="46254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44500" y="931823"/>
            <a:ext cx="6614795" cy="665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92759">
              <a:lnSpc>
                <a:spcPct val="121900"/>
              </a:lnSpc>
              <a:spcBef>
                <a:spcPts val="100"/>
              </a:spcBef>
            </a:pPr>
            <a:r>
              <a:rPr dirty="0" sz="1600" spc="-5">
                <a:latin typeface="Calibri Light"/>
                <a:cs typeface="Calibri Light"/>
              </a:rPr>
              <a:t>"Old </a:t>
            </a:r>
            <a:r>
              <a:rPr dirty="0" sz="1600" spc="-10">
                <a:latin typeface="Calibri Light"/>
                <a:cs typeface="Calibri Light"/>
              </a:rPr>
              <a:t>age"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"single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parenthood"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are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two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topics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might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not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seem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very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relatable,</a:t>
            </a:r>
            <a:r>
              <a:rPr dirty="0" sz="1600" spc="-5">
                <a:latin typeface="Calibri Light"/>
                <a:cs typeface="Calibri Light"/>
              </a:rPr>
              <a:t> but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reality,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many</a:t>
            </a:r>
            <a:r>
              <a:rPr dirty="0" sz="1600" spc="-5">
                <a:latin typeface="Calibri Light"/>
                <a:cs typeface="Calibri Light"/>
              </a:rPr>
              <a:t> older people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face</a:t>
            </a:r>
            <a:r>
              <a:rPr dirty="0" sz="1600" spc="-5">
                <a:latin typeface="Calibri Light"/>
                <a:cs typeface="Calibri Light"/>
              </a:rPr>
              <a:t> the challenges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of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ts val="2340"/>
              </a:lnSpc>
              <a:spcBef>
                <a:spcPts val="135"/>
              </a:spcBef>
            </a:pPr>
            <a:r>
              <a:rPr dirty="0" sz="1600" spc="-10">
                <a:latin typeface="Calibri Light"/>
                <a:cs typeface="Calibri Light"/>
              </a:rPr>
              <a:t>parenthood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alone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due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 spc="-5">
                <a:latin typeface="Calibri Light"/>
                <a:cs typeface="Calibri Light"/>
              </a:rPr>
              <a:t> 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loss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their </a:t>
            </a:r>
            <a:r>
              <a:rPr dirty="0" sz="1600" spc="-5">
                <a:latin typeface="Calibri Light"/>
                <a:cs typeface="Calibri Light"/>
              </a:rPr>
              <a:t>partners.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This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creates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unique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struggles,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some </a:t>
            </a:r>
            <a:r>
              <a:rPr dirty="0" sz="1600" spc="-10">
                <a:latin typeface="Calibri Light"/>
                <a:cs typeface="Calibri Light"/>
              </a:rPr>
              <a:t>cases,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single-parent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households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even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face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stigmatization</a:t>
            </a:r>
            <a:r>
              <a:rPr dirty="0" sz="1600" spc="-1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and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600" spc="-5">
                <a:latin typeface="Calibri Light"/>
                <a:cs typeface="Calibri Light"/>
              </a:rPr>
              <a:t>discrimination</a:t>
            </a:r>
            <a:r>
              <a:rPr dirty="0" sz="1600" spc="-3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from</a:t>
            </a:r>
            <a:r>
              <a:rPr dirty="0" sz="1600" spc="-20">
                <a:latin typeface="Calibri Light"/>
                <a:cs typeface="Calibri Light"/>
              </a:rPr>
              <a:t> society.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Calibri Light"/>
              <a:cs typeface="Calibri Light"/>
            </a:endParaRPr>
          </a:p>
          <a:p>
            <a:pPr marL="12700" marR="203200">
              <a:lnSpc>
                <a:spcPct val="121700"/>
              </a:lnSpc>
            </a:pPr>
            <a:r>
              <a:rPr dirty="0" sz="1600" spc="-5">
                <a:latin typeface="Calibri Light"/>
                <a:cs typeface="Calibri Light"/>
              </a:rPr>
              <a:t>Another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important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aspect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this </a:t>
            </a:r>
            <a:r>
              <a:rPr dirty="0" sz="1600" spc="-10">
                <a:latin typeface="Calibri Light"/>
                <a:cs typeface="Calibri Light"/>
              </a:rPr>
              <a:t>workshop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 </a:t>
            </a:r>
            <a:r>
              <a:rPr dirty="0" sz="1600" spc="-10">
                <a:latin typeface="Calibri Light"/>
                <a:cs typeface="Calibri Light"/>
              </a:rPr>
              <a:t>creating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awareness</a:t>
            </a:r>
            <a:r>
              <a:rPr dirty="0" sz="1600" spc="-5">
                <a:latin typeface="Calibri Light"/>
                <a:cs typeface="Calibri Light"/>
              </a:rPr>
              <a:t> among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the 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younger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generation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about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these issues.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40">
                <a:latin typeface="Calibri Light"/>
                <a:cs typeface="Calibri Light"/>
              </a:rPr>
              <a:t>We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live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fast-paced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world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where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technology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has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taken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over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our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daily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lives,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it's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easy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forget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challenges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</a:t>
            </a:r>
            <a:r>
              <a:rPr dirty="0" sz="1600">
                <a:latin typeface="Calibri Light"/>
                <a:cs typeface="Calibri Light"/>
              </a:rPr>
              <a:t> 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older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generations </a:t>
            </a:r>
            <a:r>
              <a:rPr dirty="0" sz="1600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single-parent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households </a:t>
            </a:r>
            <a:r>
              <a:rPr dirty="0" sz="1600" spc="-10">
                <a:latin typeface="Calibri Light"/>
                <a:cs typeface="Calibri Light"/>
              </a:rPr>
              <a:t>face</a:t>
            </a:r>
            <a:r>
              <a:rPr dirty="0" sz="1600" spc="-5">
                <a:latin typeface="Calibri Light"/>
                <a:cs typeface="Calibri Light"/>
              </a:rPr>
              <a:t> on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daily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basis.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educating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empowering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younger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generations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be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more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aware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of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these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issues and </a:t>
            </a:r>
            <a:r>
              <a:rPr dirty="0" sz="1600">
                <a:latin typeface="Calibri Light"/>
                <a:cs typeface="Calibri Light"/>
              </a:rPr>
              <a:t>the </a:t>
            </a:r>
            <a:r>
              <a:rPr dirty="0" sz="1600" spc="-20">
                <a:latin typeface="Calibri Light"/>
                <a:cs typeface="Calibri Light"/>
              </a:rPr>
              <a:t>different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ways</a:t>
            </a:r>
            <a:r>
              <a:rPr dirty="0" sz="1600" spc="-5">
                <a:latin typeface="Calibri Light"/>
                <a:cs typeface="Calibri Light"/>
              </a:rPr>
              <a:t> they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support </a:t>
            </a:r>
            <a:r>
              <a:rPr dirty="0" sz="1600">
                <a:latin typeface="Calibri Light"/>
                <a:cs typeface="Calibri Light"/>
              </a:rPr>
              <a:t>their </a:t>
            </a:r>
            <a:r>
              <a:rPr dirty="0" sz="1600" spc="-10">
                <a:latin typeface="Calibri Light"/>
                <a:cs typeface="Calibri Light"/>
              </a:rPr>
              <a:t>elders</a:t>
            </a:r>
            <a:r>
              <a:rPr dirty="0" sz="1600" spc="-5">
                <a:latin typeface="Calibri Light"/>
                <a:cs typeface="Calibri Light"/>
              </a:rPr>
              <a:t> 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single-</a:t>
            </a:r>
            <a:endParaRPr sz="1600">
              <a:latin typeface="Calibri Light"/>
              <a:cs typeface="Calibri Light"/>
            </a:endParaRPr>
          </a:p>
          <a:p>
            <a:pPr marL="12700" marR="965200">
              <a:lnSpc>
                <a:spcPts val="2340"/>
              </a:lnSpc>
              <a:spcBef>
                <a:spcPts val="135"/>
              </a:spcBef>
            </a:pPr>
            <a:r>
              <a:rPr dirty="0" sz="1600" spc="-10">
                <a:latin typeface="Calibri Light"/>
                <a:cs typeface="Calibri Light"/>
              </a:rPr>
              <a:t>parent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households,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create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society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more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inclusive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compassionate.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Calibri Light"/>
                <a:cs typeface="Calibri Light"/>
              </a:rPr>
              <a:t>In </a:t>
            </a:r>
            <a:r>
              <a:rPr dirty="0" sz="1600">
                <a:latin typeface="Calibri Light"/>
                <a:cs typeface="Calibri Light"/>
              </a:rPr>
              <a:t>this</a:t>
            </a:r>
            <a:r>
              <a:rPr dirty="0" sz="1600" spc="-10">
                <a:latin typeface="Calibri Light"/>
                <a:cs typeface="Calibri Light"/>
              </a:rPr>
              <a:t> project</a:t>
            </a:r>
            <a:r>
              <a:rPr dirty="0" sz="1600" spc="-5">
                <a:latin typeface="Calibri Light"/>
                <a:cs typeface="Calibri Light"/>
              </a:rPr>
              <a:t> report,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 </a:t>
            </a:r>
            <a:r>
              <a:rPr dirty="0" sz="1600" spc="-5">
                <a:latin typeface="Calibri Light"/>
                <a:cs typeface="Calibri Light"/>
              </a:rPr>
              <a:t>will </a:t>
            </a:r>
            <a:r>
              <a:rPr dirty="0" sz="1600" spc="-10">
                <a:latin typeface="Calibri Light"/>
                <a:cs typeface="Calibri Light"/>
              </a:rPr>
              <a:t>explore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 challenges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that single-parent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600" spc="-5">
                <a:latin typeface="Calibri Light"/>
                <a:cs typeface="Calibri Light"/>
              </a:rPr>
              <a:t>households </a:t>
            </a:r>
            <a:r>
              <a:rPr dirty="0" sz="1600" spc="-10">
                <a:latin typeface="Calibri Light"/>
                <a:cs typeface="Calibri Light"/>
              </a:rPr>
              <a:t>face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how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we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support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them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our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communities.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40">
                <a:latin typeface="Calibri Light"/>
                <a:cs typeface="Calibri Light"/>
              </a:rPr>
              <a:t>We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will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also</a:t>
            </a:r>
            <a:endParaRPr sz="1600">
              <a:latin typeface="Calibri Light"/>
              <a:cs typeface="Calibri Light"/>
            </a:endParaRPr>
          </a:p>
          <a:p>
            <a:pPr marL="12700" marR="196215">
              <a:lnSpc>
                <a:spcPct val="121200"/>
              </a:lnSpc>
              <a:spcBef>
                <a:spcPts val="10"/>
              </a:spcBef>
            </a:pPr>
            <a:r>
              <a:rPr dirty="0" sz="1600" spc="-5">
                <a:latin typeface="Calibri Light"/>
                <a:cs typeface="Calibri Light"/>
              </a:rPr>
              <a:t>learn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about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experiences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needs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older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persons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explore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issues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surrounding</a:t>
            </a:r>
            <a:r>
              <a:rPr dirty="0" sz="1600" spc="-5">
                <a:latin typeface="Calibri Light"/>
                <a:cs typeface="Calibri Light"/>
              </a:rPr>
              <a:t> ageism.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end</a:t>
            </a:r>
            <a:r>
              <a:rPr dirty="0" sz="1600" spc="-5">
                <a:latin typeface="Calibri Light"/>
                <a:cs typeface="Calibri Light"/>
              </a:rPr>
              <a:t> of</a:t>
            </a:r>
            <a:r>
              <a:rPr dirty="0" sz="1600">
                <a:latin typeface="Calibri Light"/>
                <a:cs typeface="Calibri Light"/>
              </a:rPr>
              <a:t> this</a:t>
            </a:r>
            <a:r>
              <a:rPr dirty="0" sz="1600" spc="-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report,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>
                <a:latin typeface="Calibri Light"/>
                <a:cs typeface="Calibri Light"/>
              </a:rPr>
              <a:t> will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have</a:t>
            </a:r>
            <a:r>
              <a:rPr dirty="0" sz="1600" spc="-5">
                <a:latin typeface="Calibri Light"/>
                <a:cs typeface="Calibri Light"/>
              </a:rPr>
              <a:t> a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better</a:t>
            </a:r>
            <a:endParaRPr sz="1600">
              <a:latin typeface="Calibri Light"/>
              <a:cs typeface="Calibri Light"/>
            </a:endParaRPr>
          </a:p>
          <a:p>
            <a:pPr marL="12700" marR="538480">
              <a:lnSpc>
                <a:spcPct val="121200"/>
              </a:lnSpc>
              <a:spcBef>
                <a:spcPts val="15"/>
              </a:spcBef>
            </a:pPr>
            <a:r>
              <a:rPr dirty="0" sz="1600" spc="-10">
                <a:latin typeface="Calibri Light"/>
                <a:cs typeface="Calibri Light"/>
              </a:rPr>
              <a:t>understanding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 </a:t>
            </a:r>
            <a:r>
              <a:rPr dirty="0" sz="1600">
                <a:latin typeface="Calibri Light"/>
                <a:cs typeface="Calibri Light"/>
              </a:rPr>
              <a:t>these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two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important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issues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and </a:t>
            </a:r>
            <a:r>
              <a:rPr dirty="0" sz="1600" spc="-20">
                <a:latin typeface="Calibri Light"/>
                <a:cs typeface="Calibri Light"/>
              </a:rPr>
              <a:t>ways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make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positive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impact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our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community.</a:t>
            </a:r>
            <a:endParaRPr sz="1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914" y="540429"/>
            <a:ext cx="4547123" cy="2916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441452"/>
            <a:ext cx="45916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0">
                <a:latin typeface="Calibri Light"/>
                <a:cs typeface="Calibri Light"/>
              </a:rPr>
              <a:t>Problem</a:t>
            </a:r>
            <a:r>
              <a:rPr dirty="0" sz="2400" spc="-5" b="0">
                <a:latin typeface="Calibri Light"/>
                <a:cs typeface="Calibri Light"/>
              </a:rPr>
              <a:t> </a:t>
            </a:r>
            <a:r>
              <a:rPr dirty="0" sz="2400" spc="-15" b="0">
                <a:latin typeface="Calibri Light"/>
                <a:cs typeface="Calibri Light"/>
              </a:rPr>
              <a:t>identification</a:t>
            </a:r>
            <a:r>
              <a:rPr dirty="0" sz="2400" b="0">
                <a:latin typeface="Calibri Light"/>
                <a:cs typeface="Calibri Light"/>
              </a:rPr>
              <a:t> </a:t>
            </a:r>
            <a:r>
              <a:rPr dirty="0" sz="2400" spc="-20" b="0">
                <a:latin typeface="Calibri Light"/>
                <a:cs typeface="Calibri Light"/>
              </a:rPr>
              <a:t>for</a:t>
            </a:r>
            <a:r>
              <a:rPr dirty="0" sz="2400" b="0">
                <a:latin typeface="Calibri Light"/>
                <a:cs typeface="Calibri Light"/>
              </a:rPr>
              <a:t> </a:t>
            </a:r>
            <a:r>
              <a:rPr dirty="0" sz="2400" spc="-5" b="0">
                <a:latin typeface="Calibri Light"/>
                <a:cs typeface="Calibri Light"/>
              </a:rPr>
              <a:t>old</a:t>
            </a:r>
            <a:r>
              <a:rPr dirty="0" sz="2400" spc="-10" b="0">
                <a:latin typeface="Calibri Light"/>
                <a:cs typeface="Calibri Light"/>
              </a:rPr>
              <a:t> </a:t>
            </a:r>
            <a:r>
              <a:rPr dirty="0" sz="2400" spc="-5" b="0">
                <a:latin typeface="Calibri Light"/>
                <a:cs typeface="Calibri Light"/>
              </a:rPr>
              <a:t>people: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7728" y="935723"/>
            <a:ext cx="6510655" cy="1353185"/>
            <a:chOff x="697728" y="935723"/>
            <a:chExt cx="6510655" cy="13531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728" y="1067231"/>
              <a:ext cx="136912" cy="1496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288" y="935723"/>
              <a:ext cx="5974842" cy="4625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288" y="1232903"/>
              <a:ext cx="6427470" cy="4625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288" y="1528559"/>
              <a:ext cx="6316218" cy="4625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288" y="1825739"/>
              <a:ext cx="4353306" cy="46254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93164" y="2418575"/>
            <a:ext cx="6517640" cy="1351280"/>
            <a:chOff x="693164" y="2418575"/>
            <a:chExt cx="6517640" cy="135128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3164" y="2550083"/>
              <a:ext cx="141476" cy="1496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0288" y="2418575"/>
              <a:ext cx="6430518" cy="4625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0288" y="2714231"/>
              <a:ext cx="5784342" cy="4625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288" y="3009887"/>
              <a:ext cx="5900166" cy="4625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0288" y="3307067"/>
              <a:ext cx="997458" cy="462546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93164" y="3899903"/>
            <a:ext cx="6433820" cy="1648460"/>
            <a:chOff x="693164" y="3899903"/>
            <a:chExt cx="6433820" cy="1648460"/>
          </a:xfrm>
        </p:grpSpPr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3164" y="4031411"/>
              <a:ext cx="141476" cy="14964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0288" y="3899903"/>
              <a:ext cx="6049518" cy="4625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0288" y="4195559"/>
              <a:ext cx="6346698" cy="4625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0288" y="4492739"/>
              <a:ext cx="6197346" cy="46254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0288" y="4788395"/>
              <a:ext cx="6009894" cy="46254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0288" y="5085575"/>
              <a:ext cx="1610106" cy="462546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63249" y="5929278"/>
            <a:ext cx="2792863" cy="287082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697728" y="6321538"/>
            <a:ext cx="6543675" cy="1647189"/>
            <a:chOff x="697728" y="6321538"/>
            <a:chExt cx="6543675" cy="1647189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728" y="6453047"/>
              <a:ext cx="136912" cy="14964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0288" y="6321538"/>
              <a:ext cx="6415277" cy="46254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0288" y="6617194"/>
              <a:ext cx="5552694" cy="46254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0288" y="6912850"/>
              <a:ext cx="6460998" cy="46254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0288" y="7210030"/>
              <a:ext cx="6223254" cy="46254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0288" y="7505686"/>
              <a:ext cx="2972562" cy="462546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693164" y="8302738"/>
            <a:ext cx="6248400" cy="1351280"/>
            <a:chOff x="693164" y="8302738"/>
            <a:chExt cx="6248400" cy="1351280"/>
          </a:xfrm>
        </p:grpSpPr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3164" y="8434247"/>
              <a:ext cx="141476" cy="14964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80288" y="8302738"/>
              <a:ext cx="6087618" cy="46254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80288" y="8598394"/>
              <a:ext cx="6160770" cy="46254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80288" y="8895574"/>
              <a:ext cx="5904738" cy="46254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80288" y="9191243"/>
              <a:ext cx="6076950" cy="462546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44500" y="931823"/>
            <a:ext cx="6620509" cy="857948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470534" algn="l"/>
              </a:tabLst>
            </a:pPr>
            <a:r>
              <a:rPr dirty="0" sz="1600" spc="-5">
                <a:latin typeface="Calibri Light"/>
                <a:cs typeface="Calibri Light"/>
              </a:rPr>
              <a:t>Loneliness 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social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isolation: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age,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-5">
                <a:latin typeface="Calibri Light"/>
                <a:cs typeface="Calibri Light"/>
              </a:rPr>
              <a:t> be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become </a:t>
            </a:r>
            <a:r>
              <a:rPr dirty="0" sz="1600" spc="-10">
                <a:latin typeface="Calibri Light"/>
                <a:cs typeface="Calibri Light"/>
              </a:rPr>
              <a:t>more</a:t>
            </a:r>
            <a:endParaRPr sz="1600">
              <a:latin typeface="Calibri Light"/>
              <a:cs typeface="Calibri Light"/>
            </a:endParaRPr>
          </a:p>
          <a:p>
            <a:pPr marL="469900" marR="38735">
              <a:lnSpc>
                <a:spcPct val="121600"/>
              </a:lnSpc>
              <a:spcBef>
                <a:spcPts val="5"/>
              </a:spcBef>
            </a:pPr>
            <a:r>
              <a:rPr dirty="0" sz="1600" spc="-10">
                <a:latin typeface="Calibri Light"/>
                <a:cs typeface="Calibri Light"/>
              </a:rPr>
              <a:t>difficult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maintain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social connections and </a:t>
            </a:r>
            <a:r>
              <a:rPr dirty="0" sz="1600" spc="-10">
                <a:latin typeface="Calibri Light"/>
                <a:cs typeface="Calibri Light"/>
              </a:rPr>
              <a:t>engage</a:t>
            </a:r>
            <a:r>
              <a:rPr dirty="0" sz="1600">
                <a:latin typeface="Calibri Light"/>
                <a:cs typeface="Calibri Light"/>
              </a:rPr>
              <a:t> with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communities.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This</a:t>
            </a:r>
            <a:r>
              <a:rPr dirty="0" sz="1600" spc="-10">
                <a:latin typeface="Calibri Light"/>
                <a:cs typeface="Calibri Light"/>
              </a:rPr>
              <a:t> can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result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</a:t>
            </a:r>
            <a:r>
              <a:rPr dirty="0" sz="1600">
                <a:latin typeface="Calibri Light"/>
                <a:cs typeface="Calibri Light"/>
              </a:rPr>
              <a:t> 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feelings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 loneliness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isolation,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which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significant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impact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on</a:t>
            </a:r>
            <a:r>
              <a:rPr dirty="0" sz="1600" spc="-10">
                <a:latin typeface="Calibri Light"/>
                <a:cs typeface="Calibri Light"/>
              </a:rPr>
              <a:t> mental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 </a:t>
            </a:r>
            <a:r>
              <a:rPr dirty="0" sz="1600" spc="-10">
                <a:latin typeface="Calibri Light"/>
                <a:cs typeface="Calibri Light"/>
              </a:rPr>
              <a:t>physical</a:t>
            </a:r>
            <a:r>
              <a:rPr dirty="0" sz="1600" spc="-5">
                <a:latin typeface="Calibri Light"/>
                <a:cs typeface="Calibri Light"/>
              </a:rPr>
              <a:t> health.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Calibri Light"/>
              <a:cs typeface="Calibri Light"/>
            </a:endParaRPr>
          </a:p>
          <a:p>
            <a:pPr marL="469900" marR="33655" indent="-229235">
              <a:lnSpc>
                <a:spcPct val="121300"/>
              </a:lnSpc>
              <a:buAutoNum type="arabicPeriod" startAt="2"/>
              <a:tabLst>
                <a:tab pos="470534" algn="l"/>
              </a:tabLst>
            </a:pPr>
            <a:r>
              <a:rPr dirty="0" sz="1600" spc="-5">
                <a:latin typeface="Calibri Light"/>
                <a:cs typeface="Calibri Light"/>
              </a:rPr>
              <a:t>Financial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stability: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Many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older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rely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fixed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incomes,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which</a:t>
            </a:r>
            <a:r>
              <a:rPr dirty="0" sz="1600" spc="3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be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source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 </a:t>
            </a:r>
            <a:r>
              <a:rPr dirty="0" sz="1600" spc="-10">
                <a:latin typeface="Calibri Light"/>
                <a:cs typeface="Calibri Light"/>
              </a:rPr>
              <a:t>stress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and </a:t>
            </a:r>
            <a:r>
              <a:rPr dirty="0" sz="1600" spc="-5">
                <a:latin typeface="Calibri Light"/>
                <a:cs typeface="Calibri Light"/>
              </a:rPr>
              <a:t>financial </a:t>
            </a:r>
            <a:r>
              <a:rPr dirty="0" sz="1600" spc="-15">
                <a:latin typeface="Calibri Light"/>
                <a:cs typeface="Calibri Light"/>
              </a:rPr>
              <a:t>instability.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This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-5">
                <a:latin typeface="Calibri Light"/>
                <a:cs typeface="Calibri Light"/>
              </a:rPr>
              <a:t> be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exacerbated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endParaRPr sz="1600">
              <a:latin typeface="Calibri Light"/>
              <a:cs typeface="Calibri Light"/>
            </a:endParaRPr>
          </a:p>
          <a:p>
            <a:pPr marL="469900">
              <a:lnSpc>
                <a:spcPct val="100000"/>
              </a:lnSpc>
              <a:spcBef>
                <a:spcPts val="405"/>
              </a:spcBef>
            </a:pPr>
            <a:r>
              <a:rPr dirty="0" sz="1600" spc="-10">
                <a:latin typeface="Calibri Light"/>
                <a:cs typeface="Calibri Light"/>
              </a:rPr>
              <a:t>increased</a:t>
            </a:r>
            <a:r>
              <a:rPr dirty="0" sz="1600" spc="-5">
                <a:latin typeface="Calibri Light"/>
                <a:cs typeface="Calibri Light"/>
              </a:rPr>
              <a:t> healthcare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costs,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rising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housing 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food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prices,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and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other</a:t>
            </a:r>
            <a:endParaRPr sz="1600">
              <a:latin typeface="Calibri Light"/>
              <a:cs typeface="Calibri Light"/>
            </a:endParaRPr>
          </a:p>
          <a:p>
            <a:pPr marL="469900">
              <a:lnSpc>
                <a:spcPct val="100000"/>
              </a:lnSpc>
              <a:spcBef>
                <a:spcPts val="425"/>
              </a:spcBef>
            </a:pPr>
            <a:r>
              <a:rPr dirty="0" sz="1600" spc="-20">
                <a:latin typeface="Calibri Light"/>
                <a:cs typeface="Calibri Light"/>
              </a:rPr>
              <a:t>factors.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2250">
              <a:latin typeface="Calibri Light"/>
              <a:cs typeface="Calibri Light"/>
            </a:endParaRPr>
          </a:p>
          <a:p>
            <a:pPr marL="469900" indent="-229235">
              <a:lnSpc>
                <a:spcPct val="100000"/>
              </a:lnSpc>
              <a:buAutoNum type="arabicPeriod" startAt="3"/>
              <a:tabLst>
                <a:tab pos="470534" algn="l"/>
              </a:tabLst>
            </a:pPr>
            <a:r>
              <a:rPr dirty="0" sz="1600" spc="-10">
                <a:latin typeface="Calibri Light"/>
                <a:cs typeface="Calibri Light"/>
              </a:rPr>
              <a:t>Health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crises:</a:t>
            </a:r>
            <a:r>
              <a:rPr dirty="0" sz="1600" spc="38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Older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are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at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increased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risk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developing </a:t>
            </a:r>
            <a:r>
              <a:rPr dirty="0" sz="1600" spc="-10">
                <a:latin typeface="Calibri Light"/>
                <a:cs typeface="Calibri Light"/>
              </a:rPr>
              <a:t>chronic</a:t>
            </a:r>
            <a:endParaRPr sz="1600">
              <a:latin typeface="Calibri Light"/>
              <a:cs typeface="Calibri Light"/>
            </a:endParaRPr>
          </a:p>
          <a:p>
            <a:pPr marL="469900">
              <a:lnSpc>
                <a:spcPct val="100000"/>
              </a:lnSpc>
              <a:spcBef>
                <a:spcPts val="409"/>
              </a:spcBef>
            </a:pPr>
            <a:r>
              <a:rPr dirty="0" sz="1600" spc="-5">
                <a:latin typeface="Calibri Light"/>
                <a:cs typeface="Calibri Light"/>
              </a:rPr>
              <a:t>health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conditions,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such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heart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disease,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diabetes,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30">
                <a:latin typeface="Calibri Light"/>
                <a:cs typeface="Calibri Light"/>
              </a:rPr>
              <a:t>cancer.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They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may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also</a:t>
            </a:r>
            <a:endParaRPr sz="1600">
              <a:latin typeface="Calibri Light"/>
              <a:cs typeface="Calibri Light"/>
            </a:endParaRPr>
          </a:p>
          <a:p>
            <a:pPr marL="469900" marR="267335">
              <a:lnSpc>
                <a:spcPct val="121200"/>
              </a:lnSpc>
              <a:spcBef>
                <a:spcPts val="15"/>
              </a:spcBef>
            </a:pPr>
            <a:r>
              <a:rPr dirty="0" sz="1600" spc="-5">
                <a:latin typeface="Calibri Light"/>
                <a:cs typeface="Calibri Light"/>
              </a:rPr>
              <a:t>experience </a:t>
            </a:r>
            <a:r>
              <a:rPr dirty="0" sz="1600" spc="-10">
                <a:latin typeface="Calibri Light"/>
                <a:cs typeface="Calibri Light"/>
              </a:rPr>
              <a:t>age-related</a:t>
            </a:r>
            <a:r>
              <a:rPr dirty="0" sz="1600" spc="-5">
                <a:latin typeface="Calibri Light"/>
                <a:cs typeface="Calibri Light"/>
              </a:rPr>
              <a:t> changes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 </a:t>
            </a:r>
            <a:r>
              <a:rPr dirty="0" sz="1600" spc="-15">
                <a:latin typeface="Calibri Light"/>
                <a:cs typeface="Calibri Light"/>
              </a:rPr>
              <a:t>physical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and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mental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capabilities,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which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can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create</a:t>
            </a:r>
            <a:r>
              <a:rPr dirty="0" sz="1600" spc="-5">
                <a:latin typeface="Calibri Light"/>
                <a:cs typeface="Calibri Light"/>
              </a:rPr>
              <a:t> additional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challenges </a:t>
            </a:r>
            <a:r>
              <a:rPr dirty="0" sz="1600" spc="-15">
                <a:latin typeface="Calibri Light"/>
                <a:cs typeface="Calibri Light"/>
              </a:rPr>
              <a:t>related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health,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mobility,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endParaRPr sz="1600">
              <a:latin typeface="Calibri Light"/>
              <a:cs typeface="Calibri Light"/>
            </a:endParaRPr>
          </a:p>
          <a:p>
            <a:pPr marL="469900">
              <a:lnSpc>
                <a:spcPct val="100000"/>
              </a:lnSpc>
              <a:spcBef>
                <a:spcPts val="420"/>
              </a:spcBef>
            </a:pPr>
            <a:r>
              <a:rPr dirty="0" sz="1600" spc="-5">
                <a:latin typeface="Calibri Light"/>
                <a:cs typeface="Calibri Light"/>
              </a:rPr>
              <a:t>independence.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Calibri"/>
                <a:cs typeface="Calibri"/>
              </a:rPr>
              <a:t>Cause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the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problem:</a:t>
            </a:r>
            <a:endParaRPr sz="2400">
              <a:latin typeface="Calibri"/>
              <a:cs typeface="Calibri"/>
            </a:endParaRPr>
          </a:p>
          <a:p>
            <a:pPr marL="469900" marR="48895" indent="-229235">
              <a:lnSpc>
                <a:spcPct val="121200"/>
              </a:lnSpc>
              <a:spcBef>
                <a:spcPts val="1005"/>
              </a:spcBef>
              <a:buAutoNum type="arabicPeriod"/>
              <a:tabLst>
                <a:tab pos="470534" algn="l"/>
              </a:tabLst>
            </a:pPr>
            <a:r>
              <a:rPr dirty="0" sz="1600" spc="-5">
                <a:latin typeface="Calibri Light"/>
                <a:cs typeface="Calibri Light"/>
              </a:rPr>
              <a:t>Loneliness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social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isolation: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Changes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social </a:t>
            </a:r>
            <a:r>
              <a:rPr dirty="0" sz="1600" spc="-10">
                <a:latin typeface="Calibri Light"/>
                <a:cs typeface="Calibri Light"/>
              </a:rPr>
              <a:t>networks,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such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loss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 close friends </a:t>
            </a:r>
            <a:r>
              <a:rPr dirty="0" sz="1600">
                <a:latin typeface="Calibri Light"/>
                <a:cs typeface="Calibri Light"/>
              </a:rPr>
              <a:t>and </a:t>
            </a:r>
            <a:r>
              <a:rPr dirty="0" sz="1600" spc="-10">
                <a:latin typeface="Calibri Light"/>
                <a:cs typeface="Calibri Light"/>
              </a:rPr>
              <a:t>family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members,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contribute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isolation.</a:t>
            </a:r>
            <a:endParaRPr sz="1600">
              <a:latin typeface="Calibri Light"/>
              <a:cs typeface="Calibri Light"/>
            </a:endParaRPr>
          </a:p>
          <a:p>
            <a:pPr marL="469900" marR="5080">
              <a:lnSpc>
                <a:spcPts val="2340"/>
              </a:lnSpc>
              <a:spcBef>
                <a:spcPts val="135"/>
              </a:spcBef>
            </a:pPr>
            <a:r>
              <a:rPr dirty="0" sz="1600" spc="-15">
                <a:latin typeface="Calibri Light"/>
                <a:cs typeface="Calibri Light"/>
              </a:rPr>
              <a:t>Additionally,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limited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mobility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decline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physical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cognitive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abilities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make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difficult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for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older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participate</a:t>
            </a:r>
            <a:r>
              <a:rPr dirty="0" sz="1600" spc="2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social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activities </a:t>
            </a:r>
            <a:r>
              <a:rPr dirty="0" sz="1600">
                <a:latin typeface="Calibri Light"/>
                <a:cs typeface="Calibri Light"/>
              </a:rPr>
              <a:t>and</a:t>
            </a:r>
            <a:endParaRPr sz="1600">
              <a:latin typeface="Calibri Light"/>
              <a:cs typeface="Calibri Light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</a:pPr>
            <a:r>
              <a:rPr dirty="0" sz="1600" spc="-15">
                <a:latin typeface="Calibri Light"/>
                <a:cs typeface="Calibri Light"/>
              </a:rPr>
              <a:t>engage</a:t>
            </a:r>
            <a:r>
              <a:rPr dirty="0" sz="1600" spc="-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with</a:t>
            </a:r>
            <a:r>
              <a:rPr dirty="0" sz="1600" spc="-1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their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communities.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libri Light"/>
              <a:cs typeface="Calibri Light"/>
            </a:endParaRPr>
          </a:p>
          <a:p>
            <a:pPr marL="469900" marR="307340" indent="-229235">
              <a:lnSpc>
                <a:spcPct val="121600"/>
              </a:lnSpc>
              <a:buAutoNum type="arabicPeriod" startAt="2"/>
              <a:tabLst>
                <a:tab pos="470534" algn="l"/>
              </a:tabLst>
            </a:pPr>
            <a:r>
              <a:rPr dirty="0" sz="1600" spc="-5">
                <a:latin typeface="Calibri Light"/>
                <a:cs typeface="Calibri Light"/>
              </a:rPr>
              <a:t>Financial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instability: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Fixed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incomes,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health </a:t>
            </a:r>
            <a:r>
              <a:rPr dirty="0" sz="1600" spc="-10">
                <a:latin typeface="Calibri Light"/>
                <a:cs typeface="Calibri Light"/>
              </a:rPr>
              <a:t>expenses,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rising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costs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of </a:t>
            </a:r>
            <a:r>
              <a:rPr dirty="0" sz="1600" spc="-5">
                <a:latin typeface="Calibri Light"/>
                <a:cs typeface="Calibri Light"/>
              </a:rPr>
              <a:t> living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make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challenging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maintain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financial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stability.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Additionally,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changes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 the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labour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market,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such</a:t>
            </a:r>
            <a:r>
              <a:rPr dirty="0" sz="1600" spc="5">
                <a:latin typeface="Calibri Light"/>
                <a:cs typeface="Calibri Light"/>
              </a:rPr>
              <a:t> as</a:t>
            </a:r>
            <a:r>
              <a:rPr dirty="0" sz="1600" spc="-10">
                <a:latin typeface="Calibri Light"/>
                <a:cs typeface="Calibri Light"/>
              </a:rPr>
              <a:t> age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discrimination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can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make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it</a:t>
            </a:r>
            <a:endParaRPr sz="1600">
              <a:latin typeface="Calibri Light"/>
              <a:cs typeface="Calibri Light"/>
            </a:endParaRPr>
          </a:p>
          <a:p>
            <a:pPr marL="469900">
              <a:lnSpc>
                <a:spcPct val="100000"/>
              </a:lnSpc>
              <a:spcBef>
                <a:spcPts val="405"/>
              </a:spcBef>
            </a:pPr>
            <a:r>
              <a:rPr dirty="0" sz="1600" spc="-10">
                <a:latin typeface="Calibri Light"/>
                <a:cs typeface="Calibri Light"/>
              </a:rPr>
              <a:t>difficult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for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older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workers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5">
                <a:latin typeface="Calibri Light"/>
                <a:cs typeface="Calibri Light"/>
              </a:rPr>
              <a:t>stay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employed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earn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steady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income.</a:t>
            </a:r>
            <a:endParaRPr sz="1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64" y="394703"/>
            <a:ext cx="6580505" cy="1056005"/>
            <a:chOff x="693164" y="394703"/>
            <a:chExt cx="6580505" cy="1056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164" y="521676"/>
              <a:ext cx="146040" cy="1541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288" y="394703"/>
              <a:ext cx="6166866" cy="46254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288" y="690359"/>
              <a:ext cx="6493002" cy="4625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288" y="987539"/>
              <a:ext cx="5974842" cy="462546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23088" y="1900971"/>
            <a:ext cx="6968490" cy="1235075"/>
            <a:chOff x="323088" y="1900971"/>
            <a:chExt cx="6968490" cy="123507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9375" y="1900971"/>
              <a:ext cx="6619529" cy="1904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088" y="2080247"/>
              <a:ext cx="6968490" cy="4625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088" y="2375903"/>
              <a:ext cx="6538722" cy="4625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3088" y="2673083"/>
              <a:ext cx="799338" cy="46254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44500" y="392456"/>
            <a:ext cx="6671945" cy="2599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69900" marR="21590" indent="-229235">
              <a:lnSpc>
                <a:spcPct val="121600"/>
              </a:lnSpc>
              <a:spcBef>
                <a:spcPts val="90"/>
              </a:spcBef>
            </a:pPr>
            <a:r>
              <a:rPr dirty="0" sz="1600" spc="-5">
                <a:latin typeface="Calibri Light"/>
                <a:cs typeface="Calibri Light"/>
              </a:rPr>
              <a:t>3.</a:t>
            </a:r>
            <a:r>
              <a:rPr dirty="0" sz="1600" spc="2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Health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crises: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Age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related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changes in</a:t>
            </a:r>
            <a:r>
              <a:rPr dirty="0" sz="1600" spc="3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physical</a:t>
            </a:r>
            <a:r>
              <a:rPr dirty="0" sz="1600" spc="-5">
                <a:latin typeface="Calibri Light"/>
                <a:cs typeface="Calibri Light"/>
              </a:rPr>
              <a:t> and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cognitive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abilities, 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chronic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health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conditions,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environment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factors,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genetic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other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individual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 </a:t>
            </a:r>
            <a:r>
              <a:rPr dirty="0" sz="1600" spc="-10">
                <a:latin typeface="Calibri Light"/>
                <a:cs typeface="Calibri Light"/>
              </a:rPr>
              <a:t>societal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factors</a:t>
            </a:r>
            <a:r>
              <a:rPr dirty="0" sz="1600" spc="-10">
                <a:latin typeface="Calibri Light"/>
                <a:cs typeface="Calibri Light"/>
              </a:rPr>
              <a:t> can</a:t>
            </a:r>
            <a:r>
              <a:rPr dirty="0" sz="1600">
                <a:latin typeface="Calibri Light"/>
                <a:cs typeface="Calibri Light"/>
              </a:rPr>
              <a:t> all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contribute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health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crises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older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adults.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ct val="121700"/>
              </a:lnSpc>
            </a:pPr>
            <a:r>
              <a:rPr dirty="0" sz="1600" spc="-10">
                <a:latin typeface="Calibri Light"/>
                <a:cs typeface="Calibri Light"/>
              </a:rPr>
              <a:t>*Note: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Here,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from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this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observation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came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observe that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most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 the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children </a:t>
            </a:r>
            <a:r>
              <a:rPr dirty="0" sz="1600" spc="-10">
                <a:latin typeface="Calibri Light"/>
                <a:cs typeface="Calibri Light"/>
              </a:rPr>
              <a:t>of 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old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think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that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are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burden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taken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care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forgetting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3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fact</a:t>
            </a:r>
            <a:r>
              <a:rPr dirty="0" sz="1600" spc="3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 spc="4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they</a:t>
            </a:r>
            <a:r>
              <a:rPr dirty="0" sz="1600" spc="3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were</a:t>
            </a:r>
            <a:r>
              <a:rPr dirty="0" sz="1600" spc="3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brought</a:t>
            </a:r>
            <a:r>
              <a:rPr dirty="0" sz="1600" spc="3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up</a:t>
            </a:r>
            <a:r>
              <a:rPr dirty="0" sz="1600" spc="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by</a:t>
            </a:r>
            <a:r>
              <a:rPr dirty="0" sz="1600" spc="3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 spc="3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</a:t>
            </a:r>
            <a:r>
              <a:rPr dirty="0" sz="1600" spc="3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4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they</a:t>
            </a:r>
            <a:r>
              <a:rPr dirty="0" sz="1600" spc="3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owe</a:t>
            </a:r>
            <a:r>
              <a:rPr dirty="0" sz="1600" spc="3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them</a:t>
            </a:r>
            <a:r>
              <a:rPr dirty="0" sz="1600" spc="3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lives.</a:t>
            </a:r>
            <a:endParaRPr sz="1600">
              <a:latin typeface="Calibri Light"/>
              <a:cs typeface="Calibri Ligh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2287" y="3618894"/>
            <a:ext cx="4774360" cy="28708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44500" y="3515994"/>
            <a:ext cx="4814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Problems</a:t>
            </a:r>
            <a:r>
              <a:rPr dirty="0" sz="2400" spc="-10" b="1">
                <a:latin typeface="Calibri"/>
                <a:cs typeface="Calibri"/>
              </a:rPr>
              <a:t> faced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by </a:t>
            </a:r>
            <a:r>
              <a:rPr dirty="0" sz="2400" b="1">
                <a:latin typeface="Calibri"/>
                <a:cs typeface="Calibri"/>
              </a:rPr>
              <a:t>single</a:t>
            </a:r>
            <a:r>
              <a:rPr dirty="0" sz="2400" spc="-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parent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child: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97728" y="4407394"/>
            <a:ext cx="6405245" cy="1056005"/>
            <a:chOff x="697728" y="4407394"/>
            <a:chExt cx="6405245" cy="1056005"/>
          </a:xfrm>
        </p:grpSpPr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7728" y="4538903"/>
              <a:ext cx="136912" cy="1496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0288" y="4407394"/>
              <a:ext cx="6108954" cy="46254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0288" y="4704574"/>
              <a:ext cx="6322314" cy="4625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0288" y="5000230"/>
              <a:ext cx="5095494" cy="462546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693164" y="5795759"/>
            <a:ext cx="6333490" cy="1353185"/>
            <a:chOff x="693164" y="5795759"/>
            <a:chExt cx="6333490" cy="1353185"/>
          </a:xfrm>
        </p:grpSpPr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3164" y="5927267"/>
              <a:ext cx="141476" cy="14964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0288" y="5795759"/>
              <a:ext cx="6083046" cy="46254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0288" y="6092939"/>
              <a:ext cx="6246114" cy="4625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0288" y="6388595"/>
              <a:ext cx="5997702" cy="4625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0288" y="6685775"/>
              <a:ext cx="5798058" cy="462546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693164" y="7574267"/>
            <a:ext cx="6584950" cy="1648460"/>
            <a:chOff x="693164" y="7574267"/>
            <a:chExt cx="6584950" cy="1648460"/>
          </a:xfrm>
        </p:grpSpPr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3164" y="7705775"/>
              <a:ext cx="141476" cy="14964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0288" y="7574267"/>
              <a:ext cx="5766054" cy="46254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0288" y="7871447"/>
              <a:ext cx="6153150" cy="46254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0288" y="8167103"/>
              <a:ext cx="5478018" cy="4625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0288" y="8464283"/>
              <a:ext cx="6497573" cy="46254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80288" y="8759939"/>
              <a:ext cx="1448562" cy="46254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673100" y="4403876"/>
            <a:ext cx="6430010" cy="467614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241935" algn="l"/>
              </a:tabLst>
            </a:pPr>
            <a:r>
              <a:rPr dirty="0" sz="1600" spc="-5">
                <a:latin typeface="Calibri Light"/>
                <a:cs typeface="Calibri Light"/>
              </a:rPr>
              <a:t>Financial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stability: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burden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providing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for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family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fall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solely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endParaRPr sz="1600">
              <a:latin typeface="Calibri Light"/>
              <a:cs typeface="Calibri Light"/>
            </a:endParaRPr>
          </a:p>
          <a:p>
            <a:pPr marL="241300" marR="175260">
              <a:lnSpc>
                <a:spcPct val="121200"/>
              </a:lnSpc>
              <a:spcBef>
                <a:spcPts val="10"/>
              </a:spcBef>
            </a:pPr>
            <a:r>
              <a:rPr dirty="0" sz="1600" spc="-5">
                <a:latin typeface="Calibri Light"/>
                <a:cs typeface="Calibri Light"/>
              </a:rPr>
              <a:t>single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which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can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make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challenging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maintain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financial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stability.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This</a:t>
            </a:r>
            <a:r>
              <a:rPr dirty="0" sz="1600" spc="-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-5">
                <a:latin typeface="Calibri Light"/>
                <a:cs typeface="Calibri Light"/>
              </a:rPr>
              <a:t> result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-10">
                <a:latin typeface="Calibri Light"/>
                <a:cs typeface="Calibri Light"/>
              </a:rPr>
              <a:t> stress,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anxiety,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 </a:t>
            </a:r>
            <a:r>
              <a:rPr dirty="0" sz="1600" spc="-10">
                <a:latin typeface="Calibri Light"/>
                <a:cs typeface="Calibri Light"/>
              </a:rPr>
              <a:t>feelings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insecurity.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Calibri Light"/>
              <a:cs typeface="Calibri Light"/>
            </a:endParaRPr>
          </a:p>
          <a:p>
            <a:pPr marL="241300" marR="259079" indent="-229235">
              <a:lnSpc>
                <a:spcPct val="121700"/>
              </a:lnSpc>
              <a:buAutoNum type="arabicPeriod" startAt="2"/>
              <a:tabLst>
                <a:tab pos="241935" algn="l"/>
              </a:tabLst>
            </a:pPr>
            <a:r>
              <a:rPr dirty="0" sz="1600" spc="-5">
                <a:latin typeface="Calibri Light"/>
                <a:cs typeface="Calibri Light"/>
              </a:rPr>
              <a:t>Lack 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social</a:t>
            </a:r>
            <a:r>
              <a:rPr dirty="0" sz="1600">
                <a:latin typeface="Calibri Light"/>
                <a:cs typeface="Calibri Light"/>
              </a:rPr>
              <a:t> 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emotional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support: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 </a:t>
            </a:r>
            <a:r>
              <a:rPr dirty="0" sz="1600" spc="-10">
                <a:latin typeface="Calibri Light"/>
                <a:cs typeface="Calibri Light"/>
              </a:rPr>
              <a:t>parent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may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not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 spc="-5">
                <a:latin typeface="Calibri Light"/>
                <a:cs typeface="Calibri Light"/>
              </a:rPr>
              <a:t> the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same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level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social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support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 spc="3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two-parent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households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which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create</a:t>
            </a:r>
            <a:r>
              <a:rPr dirty="0" sz="1600" spc="-5">
                <a:latin typeface="Calibri Light"/>
                <a:cs typeface="Calibri Light"/>
              </a:rPr>
              <a:t> additional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stress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responsibility </a:t>
            </a:r>
            <a:r>
              <a:rPr dirty="0" sz="1600" spc="-20">
                <a:latin typeface="Calibri Light"/>
                <a:cs typeface="Calibri Light"/>
              </a:rPr>
              <a:t>for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parent.</a:t>
            </a:r>
            <a:r>
              <a:rPr dirty="0" sz="1600" spc="2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This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-5">
                <a:latin typeface="Calibri Light"/>
                <a:cs typeface="Calibri Light"/>
              </a:rPr>
              <a:t> also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impact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child’s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emotional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development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sense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belonging.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buFont typeface="Calibri Light"/>
              <a:buAutoNum type="arabicPeriod" startAt="2"/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buFont typeface="Calibri Light"/>
              <a:buAutoNum type="arabicPeriod" startAt="2"/>
            </a:pPr>
            <a:endParaRPr sz="1600">
              <a:latin typeface="Calibri Light"/>
              <a:cs typeface="Calibri Light"/>
            </a:endParaRPr>
          </a:p>
          <a:p>
            <a:pPr marL="241300" indent="-229235">
              <a:lnSpc>
                <a:spcPct val="100000"/>
              </a:lnSpc>
              <a:spcBef>
                <a:spcPts val="1170"/>
              </a:spcBef>
              <a:buAutoNum type="arabicPeriod" startAt="2"/>
              <a:tabLst>
                <a:tab pos="241935" algn="l"/>
              </a:tabLst>
            </a:pPr>
            <a:r>
              <a:rPr dirty="0" sz="1600" spc="-10">
                <a:latin typeface="Calibri Light"/>
                <a:cs typeface="Calibri Light"/>
              </a:rPr>
              <a:t>Challenges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education: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Children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raised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may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face</a:t>
            </a:r>
            <a:endParaRPr sz="1600">
              <a:latin typeface="Calibri Light"/>
              <a:cs typeface="Calibri Light"/>
            </a:endParaRPr>
          </a:p>
          <a:p>
            <a:pPr marL="241300" marR="353060">
              <a:lnSpc>
                <a:spcPct val="121200"/>
              </a:lnSpc>
              <a:spcBef>
                <a:spcPts val="15"/>
              </a:spcBef>
            </a:pPr>
            <a:r>
              <a:rPr dirty="0" sz="1600" spc="-5">
                <a:latin typeface="Calibri Light"/>
                <a:cs typeface="Calibri Light"/>
              </a:rPr>
              <a:t>additional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challenges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their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education.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For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example,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may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limited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time</a:t>
            </a:r>
            <a:r>
              <a:rPr dirty="0" sz="1600">
                <a:latin typeface="Calibri Light"/>
                <a:cs typeface="Calibri Light"/>
              </a:rPr>
              <a:t> 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resources 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support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children's</a:t>
            </a:r>
            <a:r>
              <a:rPr dirty="0" sz="1600" spc="-5">
                <a:latin typeface="Calibri Light"/>
                <a:cs typeface="Calibri Light"/>
              </a:rPr>
              <a:t> academic</a:t>
            </a:r>
            <a:endParaRPr sz="1600">
              <a:latin typeface="Calibri Light"/>
              <a:cs typeface="Calibri Light"/>
            </a:endParaRPr>
          </a:p>
          <a:p>
            <a:pPr marL="241300" marR="5080">
              <a:lnSpc>
                <a:spcPct val="121300"/>
              </a:lnSpc>
              <a:spcBef>
                <a:spcPts val="10"/>
              </a:spcBef>
            </a:pPr>
            <a:r>
              <a:rPr dirty="0" sz="1600" spc="-10">
                <a:latin typeface="Calibri Light"/>
                <a:cs typeface="Calibri Light"/>
              </a:rPr>
              <a:t>achievements,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there </a:t>
            </a:r>
            <a:r>
              <a:rPr dirty="0" sz="1600" spc="-15">
                <a:latin typeface="Calibri Light"/>
                <a:cs typeface="Calibri Light"/>
              </a:rPr>
              <a:t>may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 lack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parent-teacher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communication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and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involvement.</a:t>
            </a:r>
            <a:endParaRPr sz="1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249" y="544986"/>
            <a:ext cx="2792863" cy="2870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441452"/>
            <a:ext cx="28232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/>
              <a:t>Cause</a:t>
            </a:r>
            <a:r>
              <a:rPr dirty="0" sz="2400" spc="-25"/>
              <a:t> </a:t>
            </a:r>
            <a:r>
              <a:rPr dirty="0" sz="2400"/>
              <a:t>of</a:t>
            </a:r>
            <a:r>
              <a:rPr dirty="0" sz="2400" spc="-25"/>
              <a:t> </a:t>
            </a:r>
            <a:r>
              <a:rPr dirty="0" sz="2400" spc="-5"/>
              <a:t>the</a:t>
            </a:r>
            <a:r>
              <a:rPr dirty="0" sz="2400" spc="-25"/>
              <a:t> </a:t>
            </a:r>
            <a:r>
              <a:rPr dirty="0" sz="2400" spc="-5"/>
              <a:t>problem: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697728" y="935723"/>
            <a:ext cx="6442075" cy="1353185"/>
            <a:chOff x="697728" y="935723"/>
            <a:chExt cx="6442075" cy="13531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728" y="1067231"/>
              <a:ext cx="136912" cy="1496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288" y="935723"/>
              <a:ext cx="6095238" cy="4625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288" y="1232903"/>
              <a:ext cx="6358890" cy="4625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288" y="1528559"/>
              <a:ext cx="5680710" cy="4625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288" y="1825739"/>
              <a:ext cx="4461510" cy="46254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93164" y="2621267"/>
            <a:ext cx="6577330" cy="1944370"/>
            <a:chOff x="693164" y="2621267"/>
            <a:chExt cx="6577330" cy="194437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3164" y="2752775"/>
              <a:ext cx="141476" cy="1496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0288" y="2621267"/>
              <a:ext cx="5845302" cy="4625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0288" y="2916923"/>
              <a:ext cx="6076950" cy="4625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288" y="3214103"/>
              <a:ext cx="6489954" cy="4625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0288" y="3509759"/>
              <a:ext cx="5892546" cy="4625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0288" y="3806939"/>
              <a:ext cx="6372606" cy="46254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0288" y="4102595"/>
              <a:ext cx="1716786" cy="462546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693164" y="4695431"/>
            <a:ext cx="6550025" cy="1945639"/>
            <a:chOff x="693164" y="4695431"/>
            <a:chExt cx="6550025" cy="1945639"/>
          </a:xfrm>
        </p:grpSpPr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3164" y="4826939"/>
              <a:ext cx="141476" cy="14964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0288" y="4695431"/>
              <a:ext cx="6462521" cy="46254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0288" y="4992611"/>
              <a:ext cx="6346698" cy="46254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0288" y="5288267"/>
              <a:ext cx="5770625" cy="46254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0288" y="5585447"/>
              <a:ext cx="6172962" cy="4625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0288" y="5881103"/>
              <a:ext cx="6261354" cy="4625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0288" y="6178283"/>
              <a:ext cx="4856226" cy="46254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73100" y="931823"/>
            <a:ext cx="6421120" cy="5565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marR="135255" indent="-229235">
              <a:lnSpc>
                <a:spcPct val="121600"/>
              </a:lnSpc>
              <a:spcBef>
                <a:spcPts val="105"/>
              </a:spcBef>
              <a:buAutoNum type="arabicPeriod"/>
              <a:tabLst>
                <a:tab pos="241935" algn="l"/>
              </a:tabLst>
            </a:pPr>
            <a:r>
              <a:rPr dirty="0" sz="1600" spc="-5">
                <a:latin typeface="Calibri Light"/>
                <a:cs typeface="Calibri Light"/>
              </a:rPr>
              <a:t>Financial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Stability: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normal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households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where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both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are </a:t>
            </a:r>
            <a:r>
              <a:rPr dirty="0" sz="1600" spc="-10">
                <a:latin typeface="Calibri Light"/>
                <a:cs typeface="Calibri Light"/>
              </a:rPr>
              <a:t> employed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which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makes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easy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give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child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peaceful</a:t>
            </a:r>
            <a:r>
              <a:rPr dirty="0" sz="1600" spc="-10">
                <a:latin typeface="Calibri Light"/>
                <a:cs typeface="Calibri Light"/>
              </a:rPr>
              <a:t> life,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but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where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as </a:t>
            </a:r>
            <a:r>
              <a:rPr dirty="0" sz="1600" spc="-10">
                <a:latin typeface="Calibri Light"/>
                <a:cs typeface="Calibri Light"/>
              </a:rPr>
              <a:t>in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case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are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working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has</a:t>
            </a:r>
            <a:r>
              <a:rPr dirty="0" sz="1600" spc="-10">
                <a:latin typeface="Calibri Light"/>
                <a:cs typeface="Calibri Light"/>
              </a:rPr>
              <a:t> to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taken</a:t>
            </a:r>
            <a:r>
              <a:rPr dirty="0" sz="1600">
                <a:latin typeface="Calibri Light"/>
                <a:cs typeface="Calibri Light"/>
              </a:rPr>
              <a:t> on</a:t>
            </a:r>
            <a:endParaRPr sz="1600">
              <a:latin typeface="Calibri Light"/>
              <a:cs typeface="Calibri Light"/>
            </a:endParaRPr>
          </a:p>
          <a:p>
            <a:pPr marL="241300">
              <a:lnSpc>
                <a:spcPct val="100000"/>
              </a:lnSpc>
              <a:spcBef>
                <a:spcPts val="420"/>
              </a:spcBef>
            </a:pPr>
            <a:r>
              <a:rPr dirty="0" sz="1600" spc="-5">
                <a:latin typeface="Calibri Light"/>
                <a:cs typeface="Calibri Light"/>
              </a:rPr>
              <a:t>everything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themselves </a:t>
            </a:r>
            <a:r>
              <a:rPr dirty="0" sz="1600">
                <a:latin typeface="Calibri Light"/>
                <a:cs typeface="Calibri Light"/>
              </a:rPr>
              <a:t>and </a:t>
            </a:r>
            <a:r>
              <a:rPr dirty="0" sz="1600" spc="-5">
                <a:latin typeface="Calibri Light"/>
                <a:cs typeface="Calibri Light"/>
              </a:rPr>
              <a:t>its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not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an </a:t>
            </a:r>
            <a:r>
              <a:rPr dirty="0" sz="1600" spc="-15">
                <a:latin typeface="Calibri Light"/>
                <a:cs typeface="Calibri Light"/>
              </a:rPr>
              <a:t>easy</a:t>
            </a:r>
            <a:r>
              <a:rPr dirty="0" sz="1600" spc="-10">
                <a:latin typeface="Calibri Light"/>
                <a:cs typeface="Calibri Light"/>
              </a:rPr>
              <a:t> task.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Calibri Light"/>
              <a:cs typeface="Calibri Light"/>
            </a:endParaRPr>
          </a:p>
          <a:p>
            <a:pPr marL="241300" indent="-229235">
              <a:lnSpc>
                <a:spcPct val="100000"/>
              </a:lnSpc>
              <a:buAutoNum type="arabicPeriod" startAt="2"/>
              <a:tabLst>
                <a:tab pos="241935" algn="l"/>
              </a:tabLst>
            </a:pPr>
            <a:r>
              <a:rPr dirty="0" sz="1600" spc="-5">
                <a:latin typeface="Calibri Light"/>
                <a:cs typeface="Calibri Light"/>
              </a:rPr>
              <a:t>Lack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social </a:t>
            </a:r>
            <a:r>
              <a:rPr dirty="0" sz="1600">
                <a:latin typeface="Calibri Light"/>
                <a:cs typeface="Calibri Light"/>
              </a:rPr>
              <a:t>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emotional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support:</a:t>
            </a:r>
            <a:r>
              <a:rPr dirty="0" sz="1600" spc="2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Most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are</a:t>
            </a:r>
            <a:endParaRPr sz="1600">
              <a:latin typeface="Calibri Light"/>
              <a:cs typeface="Calibri Light"/>
            </a:endParaRPr>
          </a:p>
          <a:p>
            <a:pPr marL="241300">
              <a:lnSpc>
                <a:spcPct val="100000"/>
              </a:lnSpc>
              <a:spcBef>
                <a:spcPts val="409"/>
              </a:spcBef>
            </a:pPr>
            <a:r>
              <a:rPr dirty="0" sz="1600" spc="-10">
                <a:latin typeface="Calibri Light"/>
                <a:cs typeface="Calibri Light"/>
              </a:rPr>
              <a:t>mothers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who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lost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husbands.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my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opinion,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its</a:t>
            </a:r>
            <a:r>
              <a:rPr dirty="0" sz="1600" spc="-5">
                <a:latin typeface="Calibri Light"/>
                <a:cs typeface="Calibri Light"/>
              </a:rPr>
              <a:t> not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any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easy</a:t>
            </a:r>
            <a:endParaRPr sz="1600">
              <a:latin typeface="Calibri Light"/>
              <a:cs typeface="Calibri Light"/>
            </a:endParaRPr>
          </a:p>
          <a:p>
            <a:pPr marL="241300" marR="5080">
              <a:lnSpc>
                <a:spcPct val="121200"/>
              </a:lnSpc>
              <a:spcBef>
                <a:spcPts val="15"/>
              </a:spcBef>
            </a:pPr>
            <a:r>
              <a:rPr dirty="0" sz="1600" spc="-5">
                <a:latin typeface="Calibri Light"/>
                <a:cs typeface="Calibri Light"/>
              </a:rPr>
              <a:t>thing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move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on </a:t>
            </a:r>
            <a:r>
              <a:rPr dirty="0" sz="1600" spc="-15">
                <a:latin typeface="Calibri Light"/>
                <a:cs typeface="Calibri Light"/>
              </a:rPr>
              <a:t>after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losing </a:t>
            </a:r>
            <a:r>
              <a:rPr dirty="0" sz="1600" spc="-10">
                <a:latin typeface="Calibri Light"/>
                <a:cs typeface="Calibri Light"/>
              </a:rPr>
              <a:t>your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life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partner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top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taking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care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 a child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definitely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not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an </a:t>
            </a:r>
            <a:r>
              <a:rPr dirty="0" sz="1600" spc="-15">
                <a:latin typeface="Calibri Light"/>
                <a:cs typeface="Calibri Light"/>
              </a:rPr>
              <a:t>easy</a:t>
            </a:r>
            <a:r>
              <a:rPr dirty="0" sz="1600" spc="-5">
                <a:latin typeface="Calibri Light"/>
                <a:cs typeface="Calibri Light"/>
              </a:rPr>
              <a:t> task.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The</a:t>
            </a:r>
            <a:r>
              <a:rPr dirty="0" sz="1600" spc="-5">
                <a:latin typeface="Calibri Light"/>
                <a:cs typeface="Calibri Light"/>
              </a:rPr>
              <a:t> wives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lost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endParaRPr sz="1600">
              <a:latin typeface="Calibri Light"/>
              <a:cs typeface="Calibri Light"/>
            </a:endParaRPr>
          </a:p>
          <a:p>
            <a:pPr marL="241300" marR="122555">
              <a:lnSpc>
                <a:spcPct val="121200"/>
              </a:lnSpc>
              <a:spcBef>
                <a:spcPts val="10"/>
              </a:spcBef>
            </a:pPr>
            <a:r>
              <a:rPr dirty="0" sz="1600" spc="-5">
                <a:latin typeface="Calibri Light"/>
                <a:cs typeface="Calibri Light"/>
              </a:rPr>
              <a:t>husbands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same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cause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death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mostly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that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is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either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dead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duty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or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health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issues.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Calibri Light"/>
              <a:cs typeface="Calibri Light"/>
            </a:endParaRPr>
          </a:p>
          <a:p>
            <a:pPr marL="241300" marR="31750" indent="-229235">
              <a:lnSpc>
                <a:spcPct val="121700"/>
              </a:lnSpc>
              <a:buAutoNum type="arabicPeriod" startAt="3"/>
              <a:tabLst>
                <a:tab pos="241935" algn="l"/>
              </a:tabLst>
            </a:pPr>
            <a:r>
              <a:rPr dirty="0" sz="1600" spc="-10">
                <a:latin typeface="Calibri Light"/>
                <a:cs typeface="Calibri Light"/>
              </a:rPr>
              <a:t>Challenges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education: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you</a:t>
            </a:r>
            <a:r>
              <a:rPr dirty="0" sz="1600" spc="-5">
                <a:latin typeface="Calibri Light"/>
                <a:cs typeface="Calibri Light"/>
              </a:rPr>
              <a:t> think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about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perspective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child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who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have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lost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father/mother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would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definitely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not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normal.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Many</a:t>
            </a:r>
            <a:r>
              <a:rPr dirty="0" sz="1600" spc="-5">
                <a:latin typeface="Calibri Light"/>
                <a:cs typeface="Calibri Light"/>
              </a:rPr>
              <a:t> 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die when</a:t>
            </a:r>
            <a:r>
              <a:rPr dirty="0" sz="1600">
                <a:latin typeface="Calibri Light"/>
                <a:cs typeface="Calibri Light"/>
              </a:rPr>
              <a:t> their </a:t>
            </a:r>
            <a:r>
              <a:rPr dirty="0" sz="1600" spc="-10">
                <a:latin typeface="Calibri Light"/>
                <a:cs typeface="Calibri Light"/>
              </a:rPr>
              <a:t>children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are</a:t>
            </a:r>
            <a:r>
              <a:rPr dirty="0" sz="1600" spc="-5">
                <a:latin typeface="Calibri Light"/>
                <a:cs typeface="Calibri Light"/>
              </a:rPr>
              <a:t> 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still</a:t>
            </a:r>
            <a:r>
              <a:rPr dirty="0" sz="1600" spc="-5">
                <a:latin typeface="Calibri Light"/>
                <a:cs typeface="Calibri Light"/>
              </a:rPr>
              <a:t> childhood </a:t>
            </a:r>
            <a:r>
              <a:rPr dirty="0" sz="1600" spc="-15">
                <a:latin typeface="Calibri Light"/>
                <a:cs typeface="Calibri Light"/>
              </a:rPr>
              <a:t>stage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wont </a:t>
            </a:r>
            <a:r>
              <a:rPr dirty="0" sz="1600" spc="-10">
                <a:latin typeface="Calibri Light"/>
                <a:cs typeface="Calibri Light"/>
              </a:rPr>
              <a:t> remember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but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as they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grew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older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at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some </a:t>
            </a:r>
            <a:r>
              <a:rPr dirty="0" sz="1600" spc="-10">
                <a:latin typeface="Calibri Light"/>
                <a:cs typeface="Calibri Light"/>
              </a:rPr>
              <a:t>point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would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think</a:t>
            </a:r>
            <a:r>
              <a:rPr dirty="0" sz="1600" spc="2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about</a:t>
            </a:r>
            <a:endParaRPr sz="1600">
              <a:latin typeface="Calibri Light"/>
              <a:cs typeface="Calibri Light"/>
            </a:endParaRPr>
          </a:p>
          <a:p>
            <a:pPr marL="241300" marR="232410">
              <a:lnSpc>
                <a:spcPts val="2340"/>
              </a:lnSpc>
              <a:spcBef>
                <a:spcPts val="85"/>
              </a:spcBef>
            </a:pP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who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lost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lives.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child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will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feel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uneasy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when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come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across </a:t>
            </a:r>
            <a:r>
              <a:rPr dirty="0" sz="1600">
                <a:latin typeface="Calibri Light"/>
                <a:cs typeface="Calibri Light"/>
              </a:rPr>
              <a:t>the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children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playing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with their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parents.</a:t>
            </a:r>
            <a:endParaRPr sz="1600">
              <a:latin typeface="Calibri Light"/>
              <a:cs typeface="Calibri Ligh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63172" y="7419750"/>
            <a:ext cx="3198474" cy="287082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323088" y="7932925"/>
            <a:ext cx="6918325" cy="2416175"/>
            <a:chOff x="323088" y="7932925"/>
            <a:chExt cx="6918325" cy="2416175"/>
          </a:xfrm>
        </p:grpSpPr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55661" y="7932925"/>
              <a:ext cx="6459509" cy="19499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3088" y="8107667"/>
              <a:ext cx="6677406" cy="4625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3088" y="8403323"/>
              <a:ext cx="6782561" cy="46254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3088" y="8700503"/>
              <a:ext cx="6918198" cy="46254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23088" y="8996171"/>
              <a:ext cx="6549390" cy="46254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23088" y="9293351"/>
              <a:ext cx="6904482" cy="46254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3088" y="9589007"/>
              <a:ext cx="6139434" cy="46254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23088" y="9886187"/>
              <a:ext cx="6051042" cy="462546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44500" y="7316799"/>
            <a:ext cx="6617334" cy="2889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Calibri"/>
                <a:cs typeface="Calibri"/>
              </a:rPr>
              <a:t>Objective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to </a:t>
            </a:r>
            <a:r>
              <a:rPr dirty="0" sz="2400" b="1">
                <a:latin typeface="Calibri"/>
                <a:cs typeface="Calibri"/>
              </a:rPr>
              <a:t>be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achieved:</a:t>
            </a:r>
            <a:endParaRPr sz="2400">
              <a:latin typeface="Calibri"/>
              <a:cs typeface="Calibri"/>
            </a:endParaRPr>
          </a:p>
          <a:p>
            <a:pPr marL="12700" marR="140335">
              <a:lnSpc>
                <a:spcPct val="121600"/>
              </a:lnSpc>
              <a:spcBef>
                <a:spcPts val="990"/>
              </a:spcBef>
            </a:pPr>
            <a:r>
              <a:rPr dirty="0" sz="1600" spc="-10">
                <a:latin typeface="Calibri Light"/>
                <a:cs typeface="Calibri Light"/>
              </a:rPr>
              <a:t>The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objective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this</a:t>
            </a:r>
            <a:r>
              <a:rPr dirty="0" sz="1600" spc="-10">
                <a:latin typeface="Calibri Light"/>
                <a:cs typeface="Calibri Light"/>
              </a:rPr>
              <a:t> project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is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create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awareness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promote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understanding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about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issues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faced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older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children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raised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by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</a:t>
            </a:r>
            <a:r>
              <a:rPr dirty="0" sz="1600" spc="-5">
                <a:latin typeface="Calibri Light"/>
                <a:cs typeface="Calibri Light"/>
              </a:rPr>
              <a:t> in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society.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The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specific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goals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include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educating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young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about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challenges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ct val="121500"/>
              </a:lnSpc>
              <a:spcBef>
                <a:spcPts val="5"/>
              </a:spcBef>
            </a:pP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needs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older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supporting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older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</a:t>
            </a:r>
            <a:r>
              <a:rPr dirty="0" sz="1600">
                <a:latin typeface="Calibri Light"/>
                <a:cs typeface="Calibri Light"/>
              </a:rPr>
              <a:t> 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through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community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services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programs,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encouraging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community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members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engage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advocacy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efforts,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creating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more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inclusive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supportive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environment,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promoting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research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 evidence-based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approaches,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600" spc="-10">
                <a:latin typeface="Calibri Light"/>
                <a:cs typeface="Calibri Light"/>
              </a:rPr>
              <a:t>advocating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for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policies and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programs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support</a:t>
            </a:r>
            <a:r>
              <a:rPr dirty="0" sz="1600">
                <a:latin typeface="Calibri Light"/>
                <a:cs typeface="Calibri Light"/>
              </a:rPr>
              <a:t> their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well-being.</a:t>
            </a:r>
            <a:endParaRPr sz="1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079" y="544986"/>
            <a:ext cx="5626062" cy="2870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441452"/>
            <a:ext cx="5650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Various</a:t>
            </a:r>
            <a:r>
              <a:rPr dirty="0" sz="2400" spc="-15"/>
              <a:t> steps</a:t>
            </a:r>
            <a:r>
              <a:rPr dirty="0" sz="2400" spc="-10"/>
              <a:t> </a:t>
            </a:r>
            <a:r>
              <a:rPr dirty="0" sz="2400" spc="-20"/>
              <a:t>taken</a:t>
            </a:r>
            <a:r>
              <a:rPr dirty="0" sz="2400" spc="-10"/>
              <a:t> </a:t>
            </a:r>
            <a:r>
              <a:rPr dirty="0" sz="2400" spc="-15"/>
              <a:t>to</a:t>
            </a:r>
            <a:r>
              <a:rPr dirty="0" sz="2400" spc="-20"/>
              <a:t> </a:t>
            </a:r>
            <a:r>
              <a:rPr dirty="0" sz="2400" spc="-5"/>
              <a:t>achieve</a:t>
            </a:r>
            <a:r>
              <a:rPr dirty="0" sz="2400" spc="-15"/>
              <a:t> </a:t>
            </a:r>
            <a:r>
              <a:rPr dirty="0" sz="2400" spc="-5"/>
              <a:t>the</a:t>
            </a:r>
            <a:r>
              <a:rPr dirty="0" sz="2400" spc="-10"/>
              <a:t> </a:t>
            </a:r>
            <a:r>
              <a:rPr dirty="0" sz="2400" spc="-5"/>
              <a:t>objective: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323088" y="1058161"/>
            <a:ext cx="6702425" cy="637540"/>
            <a:chOff x="323088" y="1058161"/>
            <a:chExt cx="6702425" cy="6375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661" y="1058161"/>
              <a:ext cx="6569236" cy="1949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088" y="1232903"/>
              <a:ext cx="3650741" cy="46254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44500" y="931823"/>
            <a:ext cx="658749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1900"/>
              </a:lnSpc>
              <a:spcBef>
                <a:spcPts val="100"/>
              </a:spcBef>
            </a:pPr>
            <a:r>
              <a:rPr dirty="0" sz="1600" spc="-20">
                <a:latin typeface="Calibri Light"/>
                <a:cs typeface="Calibri Light"/>
              </a:rPr>
              <a:t>After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taking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this </a:t>
            </a:r>
            <a:r>
              <a:rPr dirty="0" sz="1600" spc="-10">
                <a:latin typeface="Calibri Light"/>
                <a:cs typeface="Calibri Light"/>
              </a:rPr>
              <a:t>project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our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has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given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project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has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said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visit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schools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-15">
                <a:latin typeface="Calibri Light"/>
                <a:cs typeface="Calibri Light"/>
              </a:rPr>
              <a:t> my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locality and </a:t>
            </a:r>
            <a:r>
              <a:rPr dirty="0" sz="1600" spc="-10">
                <a:latin typeface="Calibri Light"/>
                <a:cs typeface="Calibri Light"/>
              </a:rPr>
              <a:t>give</a:t>
            </a:r>
            <a:r>
              <a:rPr dirty="0" sz="1600" spc="-5">
                <a:latin typeface="Calibri Light"/>
                <a:cs typeface="Calibri Light"/>
              </a:rPr>
              <a:t> them </a:t>
            </a:r>
            <a:r>
              <a:rPr dirty="0" sz="1600">
                <a:latin typeface="Calibri Light"/>
                <a:cs typeface="Calibri Light"/>
              </a:rPr>
              <a:t>this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appeal.</a:t>
            </a:r>
            <a:endParaRPr sz="160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3088" y="5732269"/>
            <a:ext cx="6910705" cy="4591050"/>
            <a:chOff x="323088" y="5732269"/>
            <a:chExt cx="6910705" cy="459105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601" y="5732269"/>
              <a:ext cx="6447462" cy="1949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3088" y="5907011"/>
              <a:ext cx="4962906" cy="4625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1688" y="6304775"/>
              <a:ext cx="428993" cy="4625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0288" y="6304775"/>
              <a:ext cx="6453377" cy="4625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0288" y="6600431"/>
              <a:ext cx="2695193" cy="4625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1688" y="6897611"/>
              <a:ext cx="428993" cy="4625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288" y="6897611"/>
              <a:ext cx="5592318" cy="4625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0288" y="7193267"/>
              <a:ext cx="1331214" cy="46254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0288" y="7490447"/>
              <a:ext cx="4295394" cy="46254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1688" y="7786103"/>
              <a:ext cx="428993" cy="4625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0288" y="7786103"/>
              <a:ext cx="6121146" cy="4625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0288" y="8083282"/>
              <a:ext cx="1331214" cy="46254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0288" y="8378939"/>
              <a:ext cx="4338066" cy="46254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1688" y="8676119"/>
              <a:ext cx="428993" cy="46254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0288" y="8676119"/>
              <a:ext cx="5875782" cy="4625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0288" y="8971787"/>
              <a:ext cx="1331214" cy="4625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0288" y="9267443"/>
              <a:ext cx="5225034" cy="46254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1688" y="9564623"/>
              <a:ext cx="428993" cy="46254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0288" y="9564623"/>
              <a:ext cx="6284214" cy="46254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0288" y="9860279"/>
              <a:ext cx="1331214" cy="462546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31800" y="5606567"/>
            <a:ext cx="6593840" cy="4573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14935">
              <a:lnSpc>
                <a:spcPct val="121900"/>
              </a:lnSpc>
              <a:spcBef>
                <a:spcPts val="100"/>
              </a:spcBef>
            </a:pPr>
            <a:r>
              <a:rPr dirty="0" sz="1600" spc="-5">
                <a:latin typeface="Calibri Light"/>
                <a:cs typeface="Calibri Light"/>
              </a:rPr>
              <a:t>This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appeal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was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given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all the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schools nearby</a:t>
            </a:r>
            <a:r>
              <a:rPr dirty="0" sz="1600" spc="3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our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locality.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The</a:t>
            </a:r>
            <a:r>
              <a:rPr dirty="0" sz="1600" spc="-5">
                <a:latin typeface="Calibri Light"/>
                <a:cs typeface="Calibri Light"/>
              </a:rPr>
              <a:t> schools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that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went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responses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were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listed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accordingly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below:</a:t>
            </a:r>
            <a:endParaRPr sz="1600">
              <a:latin typeface="Calibri Light"/>
              <a:cs typeface="Calibri Light"/>
            </a:endParaRPr>
          </a:p>
          <a:p>
            <a:pPr marL="482600" marR="43180" indent="-229235">
              <a:lnSpc>
                <a:spcPct val="121200"/>
              </a:lnSpc>
              <a:spcBef>
                <a:spcPts val="805"/>
              </a:spcBef>
              <a:buAutoNum type="arabicPeriod"/>
              <a:tabLst>
                <a:tab pos="483234" algn="l"/>
              </a:tabLst>
            </a:pPr>
            <a:r>
              <a:rPr dirty="0" sz="1600" spc="-5">
                <a:latin typeface="Calibri Light"/>
                <a:cs typeface="Calibri Light"/>
              </a:rPr>
              <a:t>On </a:t>
            </a:r>
            <a:r>
              <a:rPr dirty="0" sz="1600">
                <a:latin typeface="Calibri Light"/>
                <a:cs typeface="Calibri Light"/>
              </a:rPr>
              <a:t>18</a:t>
            </a:r>
            <a:r>
              <a:rPr dirty="0" baseline="26455" sz="1575">
                <a:latin typeface="Calibri Light"/>
                <a:cs typeface="Calibri Light"/>
              </a:rPr>
              <a:t>th</a:t>
            </a:r>
            <a:r>
              <a:rPr dirty="0" baseline="26455" sz="1575" spc="7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June </a:t>
            </a:r>
            <a:r>
              <a:rPr dirty="0" sz="1600" spc="-10">
                <a:latin typeface="Calibri Light"/>
                <a:cs typeface="Calibri Light"/>
              </a:rPr>
              <a:t>we went </a:t>
            </a:r>
            <a:r>
              <a:rPr dirty="0" sz="1600" spc="-15">
                <a:latin typeface="Calibri Light"/>
                <a:cs typeface="Calibri Light"/>
              </a:rPr>
              <a:t>to </a:t>
            </a:r>
            <a:r>
              <a:rPr dirty="0" sz="1600" spc="-5">
                <a:latin typeface="Calibri Light"/>
                <a:cs typeface="Calibri Light"/>
              </a:rPr>
              <a:t>Lotus </a:t>
            </a:r>
            <a:r>
              <a:rPr dirty="0" sz="1600">
                <a:latin typeface="Calibri Light"/>
                <a:cs typeface="Calibri Light"/>
              </a:rPr>
              <a:t>lap </a:t>
            </a:r>
            <a:r>
              <a:rPr dirty="0" sz="1600" spc="-5">
                <a:latin typeface="Calibri Light"/>
                <a:cs typeface="Calibri Light"/>
              </a:rPr>
              <a:t>public school in </a:t>
            </a:r>
            <a:r>
              <a:rPr dirty="0" sz="1600" spc="-15">
                <a:latin typeface="Calibri Light"/>
                <a:cs typeface="Calibri Light"/>
              </a:rPr>
              <a:t>dilsuknagar, </a:t>
            </a:r>
            <a:r>
              <a:rPr dirty="0" sz="1600" spc="-10">
                <a:latin typeface="Calibri Light"/>
                <a:cs typeface="Calibri Light"/>
              </a:rPr>
              <a:t>Hyderabad.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Response: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Will </a:t>
            </a:r>
            <a:r>
              <a:rPr dirty="0" sz="1600" spc="-10">
                <a:latin typeface="Calibri Light"/>
                <a:cs typeface="Calibri Light"/>
              </a:rPr>
              <a:t>call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you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40">
                <a:latin typeface="Calibri Light"/>
                <a:cs typeface="Calibri Light"/>
              </a:rPr>
              <a:t>later.</a:t>
            </a:r>
            <a:endParaRPr sz="1600">
              <a:latin typeface="Calibri Light"/>
              <a:cs typeface="Calibri Light"/>
            </a:endParaRPr>
          </a:p>
          <a:p>
            <a:pPr marL="482600" marR="832485" indent="-229235">
              <a:lnSpc>
                <a:spcPct val="121200"/>
              </a:lnSpc>
              <a:spcBef>
                <a:spcPts val="10"/>
              </a:spcBef>
              <a:buAutoNum type="arabicPeriod"/>
              <a:tabLst>
                <a:tab pos="483234" algn="l"/>
              </a:tabLst>
            </a:pPr>
            <a:r>
              <a:rPr dirty="0" sz="1600" spc="-5">
                <a:latin typeface="Calibri Light"/>
                <a:cs typeface="Calibri Light"/>
              </a:rPr>
              <a:t>On </a:t>
            </a:r>
            <a:r>
              <a:rPr dirty="0" sz="1600">
                <a:latin typeface="Calibri Light"/>
                <a:cs typeface="Calibri Light"/>
              </a:rPr>
              <a:t>18</a:t>
            </a:r>
            <a:r>
              <a:rPr dirty="0" baseline="26455" sz="1575">
                <a:latin typeface="Calibri Light"/>
                <a:cs typeface="Calibri Light"/>
              </a:rPr>
              <a:t>th</a:t>
            </a:r>
            <a:r>
              <a:rPr dirty="0" baseline="26455" sz="1575" spc="7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June </a:t>
            </a:r>
            <a:r>
              <a:rPr dirty="0" sz="1600" spc="-10">
                <a:latin typeface="Calibri Light"/>
                <a:cs typeface="Calibri Light"/>
              </a:rPr>
              <a:t>we went </a:t>
            </a:r>
            <a:r>
              <a:rPr dirty="0" sz="1600" spc="-15">
                <a:latin typeface="Calibri Light"/>
                <a:cs typeface="Calibri Light"/>
              </a:rPr>
              <a:t>to Narayana </a:t>
            </a:r>
            <a:r>
              <a:rPr dirty="0" sz="1600" spc="-10">
                <a:latin typeface="Calibri Light"/>
                <a:cs typeface="Calibri Light"/>
              </a:rPr>
              <a:t>concept </a:t>
            </a:r>
            <a:r>
              <a:rPr dirty="0" sz="1600" spc="-5">
                <a:latin typeface="Calibri Light"/>
                <a:cs typeface="Calibri Light"/>
              </a:rPr>
              <a:t>school in </a:t>
            </a:r>
            <a:r>
              <a:rPr dirty="0" sz="1600" spc="-15">
                <a:latin typeface="Calibri Light"/>
                <a:cs typeface="Calibri Light"/>
              </a:rPr>
              <a:t>dilsuknagar,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Hyderabad.</a:t>
            </a:r>
            <a:endParaRPr sz="1600">
              <a:latin typeface="Calibri Light"/>
              <a:cs typeface="Calibri Light"/>
            </a:endParaRPr>
          </a:p>
          <a:p>
            <a:pPr marL="482600">
              <a:lnSpc>
                <a:spcPct val="100000"/>
              </a:lnSpc>
              <a:spcBef>
                <a:spcPts val="420"/>
              </a:spcBef>
            </a:pPr>
            <a:r>
              <a:rPr dirty="0" sz="1600" spc="-10">
                <a:latin typeface="Calibri Light"/>
                <a:cs typeface="Calibri Light"/>
              </a:rPr>
              <a:t>Response: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They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 spc="-5">
                <a:latin typeface="Calibri Light"/>
                <a:cs typeface="Calibri Light"/>
              </a:rPr>
              <a:t> their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own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25">
                <a:latin typeface="Calibri Light"/>
                <a:cs typeface="Calibri Light"/>
              </a:rPr>
              <a:t>way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conducting.</a:t>
            </a:r>
            <a:endParaRPr sz="1600">
              <a:latin typeface="Calibri Light"/>
              <a:cs typeface="Calibri Light"/>
            </a:endParaRPr>
          </a:p>
          <a:p>
            <a:pPr marL="482600" marR="303530" indent="-229235">
              <a:lnSpc>
                <a:spcPts val="2340"/>
              </a:lnSpc>
              <a:spcBef>
                <a:spcPts val="140"/>
              </a:spcBef>
              <a:buAutoNum type="arabicPeriod" startAt="3"/>
              <a:tabLst>
                <a:tab pos="483234" algn="l"/>
              </a:tabLst>
            </a:pPr>
            <a:r>
              <a:rPr dirty="0" sz="1600" spc="-5">
                <a:latin typeface="Calibri Light"/>
                <a:cs typeface="Calibri Light"/>
              </a:rPr>
              <a:t>On </a:t>
            </a:r>
            <a:r>
              <a:rPr dirty="0" sz="1600">
                <a:latin typeface="Calibri Light"/>
                <a:cs typeface="Calibri Light"/>
              </a:rPr>
              <a:t>19</a:t>
            </a:r>
            <a:r>
              <a:rPr dirty="0" baseline="26455" sz="1575">
                <a:latin typeface="Calibri Light"/>
                <a:cs typeface="Calibri Light"/>
              </a:rPr>
              <a:t>th</a:t>
            </a:r>
            <a:r>
              <a:rPr dirty="0" baseline="26455" sz="1575" spc="19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June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went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G.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Pulla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Reddy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memorial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school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dilsuknagar,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Hyderabad.</a:t>
            </a:r>
            <a:endParaRPr sz="1600">
              <a:latin typeface="Calibri Light"/>
              <a:cs typeface="Calibri Light"/>
            </a:endParaRPr>
          </a:p>
          <a:p>
            <a:pPr marL="482600">
              <a:lnSpc>
                <a:spcPct val="100000"/>
              </a:lnSpc>
              <a:spcBef>
                <a:spcPts val="260"/>
              </a:spcBef>
            </a:pPr>
            <a:r>
              <a:rPr dirty="0" sz="1600" spc="-10">
                <a:latin typeface="Calibri Light"/>
                <a:cs typeface="Calibri Light"/>
              </a:rPr>
              <a:t>Response: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Will </a:t>
            </a:r>
            <a:r>
              <a:rPr dirty="0" sz="1600" spc="-10">
                <a:latin typeface="Calibri Light"/>
                <a:cs typeface="Calibri Light"/>
              </a:rPr>
              <a:t>call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after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informing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higher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ups.</a:t>
            </a:r>
            <a:endParaRPr sz="1600">
              <a:latin typeface="Calibri Light"/>
              <a:cs typeface="Calibri Light"/>
            </a:endParaRPr>
          </a:p>
          <a:p>
            <a:pPr marL="482600" marR="551180" indent="-229235">
              <a:lnSpc>
                <a:spcPct val="121200"/>
              </a:lnSpc>
              <a:spcBef>
                <a:spcPts val="15"/>
              </a:spcBef>
              <a:buAutoNum type="arabicPeriod" startAt="4"/>
              <a:tabLst>
                <a:tab pos="483234" algn="l"/>
              </a:tabLst>
            </a:pPr>
            <a:r>
              <a:rPr dirty="0" sz="1600" spc="-5">
                <a:latin typeface="Calibri Light"/>
                <a:cs typeface="Calibri Light"/>
              </a:rPr>
              <a:t>On </a:t>
            </a:r>
            <a:r>
              <a:rPr dirty="0" sz="1600">
                <a:latin typeface="Calibri Light"/>
                <a:cs typeface="Calibri Light"/>
              </a:rPr>
              <a:t>20</a:t>
            </a:r>
            <a:r>
              <a:rPr dirty="0" baseline="26455" sz="1575">
                <a:latin typeface="Calibri Light"/>
                <a:cs typeface="Calibri Light"/>
              </a:rPr>
              <a:t>th</a:t>
            </a:r>
            <a:r>
              <a:rPr dirty="0" baseline="26455" sz="1575" spc="7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June </a:t>
            </a:r>
            <a:r>
              <a:rPr dirty="0" sz="1600" spc="-10">
                <a:latin typeface="Calibri Light"/>
                <a:cs typeface="Calibri Light"/>
              </a:rPr>
              <a:t>we went </a:t>
            </a:r>
            <a:r>
              <a:rPr dirty="0" sz="1600" spc="-15">
                <a:latin typeface="Calibri Light"/>
                <a:cs typeface="Calibri Light"/>
              </a:rPr>
              <a:t>to Dwarakami </a:t>
            </a:r>
            <a:r>
              <a:rPr dirty="0" sz="1600" spc="-5">
                <a:latin typeface="Calibri Light"/>
                <a:cs typeface="Calibri Light"/>
              </a:rPr>
              <a:t>model high school in RK </a:t>
            </a:r>
            <a:r>
              <a:rPr dirty="0" sz="1600" spc="-10">
                <a:latin typeface="Calibri Light"/>
                <a:cs typeface="Calibri Light"/>
              </a:rPr>
              <a:t>puram,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Hyderabad.</a:t>
            </a:r>
            <a:endParaRPr sz="1600">
              <a:latin typeface="Calibri Light"/>
              <a:cs typeface="Calibri Light"/>
            </a:endParaRPr>
          </a:p>
          <a:p>
            <a:pPr marL="482600">
              <a:lnSpc>
                <a:spcPct val="100000"/>
              </a:lnSpc>
              <a:spcBef>
                <a:spcPts val="405"/>
              </a:spcBef>
            </a:pPr>
            <a:r>
              <a:rPr dirty="0" sz="1600" spc="-10">
                <a:latin typeface="Calibri Light"/>
                <a:cs typeface="Calibri Light"/>
              </a:rPr>
              <a:t>Response: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Come </a:t>
            </a:r>
            <a:r>
              <a:rPr dirty="0" sz="1600" spc="-15">
                <a:latin typeface="Calibri Light"/>
                <a:cs typeface="Calibri Light"/>
              </a:rPr>
              <a:t>after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 </a:t>
            </a:r>
            <a:r>
              <a:rPr dirty="0" sz="1600" spc="-10">
                <a:latin typeface="Calibri Light"/>
                <a:cs typeface="Calibri Light"/>
              </a:rPr>
              <a:t>month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because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its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Unit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test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1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time.</a:t>
            </a:r>
            <a:endParaRPr sz="1600">
              <a:latin typeface="Calibri Light"/>
              <a:cs typeface="Calibri Light"/>
            </a:endParaRPr>
          </a:p>
          <a:p>
            <a:pPr marL="482600" marR="145415" indent="-229235">
              <a:lnSpc>
                <a:spcPct val="121400"/>
              </a:lnSpc>
              <a:spcBef>
                <a:spcPts val="10"/>
              </a:spcBef>
              <a:buAutoNum type="arabicPeriod" startAt="5"/>
              <a:tabLst>
                <a:tab pos="483234" algn="l"/>
              </a:tabLst>
            </a:pPr>
            <a:r>
              <a:rPr dirty="0" sz="1600" spc="-5">
                <a:latin typeface="Calibri Light"/>
                <a:cs typeface="Calibri Light"/>
              </a:rPr>
              <a:t>On 22th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June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 spc="-5">
                <a:latin typeface="Calibri Light"/>
                <a:cs typeface="Calibri Light"/>
              </a:rPr>
              <a:t> went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Mother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35">
                <a:latin typeface="Calibri Light"/>
                <a:cs typeface="Calibri Light"/>
              </a:rPr>
              <a:t>Teresa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grammar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high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school,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Rk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puram,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Hyderabad.</a:t>
            </a:r>
            <a:endParaRPr sz="1600">
              <a:latin typeface="Calibri Light"/>
              <a:cs typeface="Calibri Ligh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45869" y="1697227"/>
            <a:ext cx="5007609" cy="3635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315" y="517141"/>
            <a:ext cx="3952709" cy="19499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51687" y="792467"/>
            <a:ext cx="6433820" cy="3037205"/>
            <a:chOff x="551687" y="792467"/>
            <a:chExt cx="6433820" cy="303720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164" y="923975"/>
              <a:ext cx="141476" cy="1496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287" y="792467"/>
              <a:ext cx="5977890" cy="4625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287" y="1089647"/>
              <a:ext cx="1331214" cy="4625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287" y="1487411"/>
              <a:ext cx="5688330" cy="4625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1687" y="1885175"/>
              <a:ext cx="428993" cy="4625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0287" y="1885175"/>
              <a:ext cx="5706618" cy="4625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287" y="2180831"/>
              <a:ext cx="1331214" cy="4625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0287" y="2478011"/>
              <a:ext cx="5977890" cy="4625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1687" y="2773667"/>
              <a:ext cx="428993" cy="4625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287" y="2773667"/>
              <a:ext cx="6204966" cy="4625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287" y="3070847"/>
              <a:ext cx="1331214" cy="4625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0287" y="3366502"/>
              <a:ext cx="4964430" cy="462546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780287" y="4081777"/>
            <a:ext cx="6176645" cy="933450"/>
            <a:chOff x="780287" y="4081777"/>
            <a:chExt cx="6176645" cy="933450"/>
          </a:xfrm>
        </p:grpSpPr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2860" y="4081777"/>
              <a:ext cx="6043460" cy="19499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0287" y="4256519"/>
              <a:ext cx="6026658" cy="4625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0287" y="4552175"/>
              <a:ext cx="3414522" cy="46254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93700" y="444499"/>
            <a:ext cx="6587490" cy="4427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 Light"/>
                <a:cs typeface="Calibri Light"/>
              </a:rPr>
              <a:t>Response: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will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conduct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this </a:t>
            </a:r>
            <a:r>
              <a:rPr dirty="0" sz="1600" spc="-10">
                <a:latin typeface="Calibri Light"/>
                <a:cs typeface="Calibri Light"/>
              </a:rPr>
              <a:t>month.</a:t>
            </a:r>
            <a:endParaRPr sz="1600">
              <a:latin typeface="Calibri Light"/>
              <a:cs typeface="Calibri Light"/>
            </a:endParaRPr>
          </a:p>
          <a:p>
            <a:pPr marL="520700" indent="-229235">
              <a:lnSpc>
                <a:spcPct val="100000"/>
              </a:lnSpc>
              <a:spcBef>
                <a:spcPts val="1210"/>
              </a:spcBef>
              <a:buAutoNum type="arabicPeriod" startAt="6"/>
              <a:tabLst>
                <a:tab pos="521334" algn="l"/>
              </a:tabLst>
            </a:pPr>
            <a:r>
              <a:rPr dirty="0" sz="1600" spc="-5">
                <a:latin typeface="Calibri Light"/>
                <a:cs typeface="Calibri Light"/>
              </a:rPr>
              <a:t>On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26</a:t>
            </a:r>
            <a:r>
              <a:rPr dirty="0" baseline="26455" sz="1575">
                <a:latin typeface="Calibri Light"/>
                <a:cs typeface="Calibri Light"/>
              </a:rPr>
              <a:t>th</a:t>
            </a:r>
            <a:r>
              <a:rPr dirty="0" baseline="26455" sz="1575" spc="187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June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went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Krishnaveni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talent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high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school</a:t>
            </a:r>
            <a:r>
              <a:rPr dirty="0" sz="1600">
                <a:latin typeface="Calibri Light"/>
                <a:cs typeface="Calibri Light"/>
              </a:rPr>
              <a:t> 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dilsuknagar,</a:t>
            </a:r>
            <a:endParaRPr sz="1600">
              <a:latin typeface="Calibri Light"/>
              <a:cs typeface="Calibri Light"/>
            </a:endParaRPr>
          </a:p>
          <a:p>
            <a:pPr marL="520700">
              <a:lnSpc>
                <a:spcPct val="100000"/>
              </a:lnSpc>
              <a:spcBef>
                <a:spcPts val="425"/>
              </a:spcBef>
            </a:pPr>
            <a:r>
              <a:rPr dirty="0" sz="1600" spc="-10">
                <a:latin typeface="Calibri Light"/>
                <a:cs typeface="Calibri Light"/>
              </a:rPr>
              <a:t>Hyderabad.</a:t>
            </a:r>
            <a:endParaRPr sz="1600">
              <a:latin typeface="Calibri Light"/>
              <a:cs typeface="Calibri Light"/>
            </a:endParaRPr>
          </a:p>
          <a:p>
            <a:pPr marL="520700">
              <a:lnSpc>
                <a:spcPct val="100000"/>
              </a:lnSpc>
              <a:spcBef>
                <a:spcPts val="1210"/>
              </a:spcBef>
            </a:pPr>
            <a:r>
              <a:rPr dirty="0" sz="1600" spc="-10">
                <a:latin typeface="Calibri Light"/>
                <a:cs typeface="Calibri Light"/>
              </a:rPr>
              <a:t>Response: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Will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conduct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r>
              <a:rPr dirty="0" sz="1600" spc="-5">
                <a:latin typeface="Calibri Light"/>
                <a:cs typeface="Calibri Light"/>
              </a:rPr>
              <a:t> the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this </a:t>
            </a:r>
            <a:r>
              <a:rPr dirty="0" sz="1600" spc="-10">
                <a:latin typeface="Calibri Light"/>
                <a:cs typeface="Calibri Light"/>
              </a:rPr>
              <a:t>month</a:t>
            </a:r>
            <a:r>
              <a:rPr dirty="0" sz="1600">
                <a:latin typeface="Calibri Light"/>
                <a:cs typeface="Calibri Light"/>
              </a:rPr>
              <a:t> and </a:t>
            </a:r>
            <a:r>
              <a:rPr dirty="0" sz="1600" spc="-10">
                <a:latin typeface="Calibri Light"/>
                <a:cs typeface="Calibri Light"/>
              </a:rPr>
              <a:t>inform you.</a:t>
            </a:r>
            <a:endParaRPr sz="1600">
              <a:latin typeface="Calibri Light"/>
              <a:cs typeface="Calibri Light"/>
            </a:endParaRPr>
          </a:p>
          <a:p>
            <a:pPr marL="520700" marR="671830" indent="-229235">
              <a:lnSpc>
                <a:spcPct val="121300"/>
              </a:lnSpc>
              <a:spcBef>
                <a:spcPts val="805"/>
              </a:spcBef>
              <a:buAutoNum type="arabicPeriod" startAt="7"/>
              <a:tabLst>
                <a:tab pos="521334" algn="l"/>
              </a:tabLst>
            </a:pPr>
            <a:r>
              <a:rPr dirty="0" sz="1600" spc="-5">
                <a:latin typeface="Calibri Light"/>
                <a:cs typeface="Calibri Light"/>
              </a:rPr>
              <a:t>On </a:t>
            </a:r>
            <a:r>
              <a:rPr dirty="0" sz="1600">
                <a:latin typeface="Calibri Light"/>
                <a:cs typeface="Calibri Light"/>
              </a:rPr>
              <a:t>29</a:t>
            </a:r>
            <a:r>
              <a:rPr dirty="0" baseline="26455" sz="1575">
                <a:latin typeface="Calibri Light"/>
                <a:cs typeface="Calibri Light"/>
              </a:rPr>
              <a:t>th</a:t>
            </a:r>
            <a:r>
              <a:rPr dirty="0" baseline="26455" sz="1575" spc="7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June </a:t>
            </a:r>
            <a:r>
              <a:rPr dirty="0" sz="1600" spc="-10">
                <a:latin typeface="Calibri Light"/>
                <a:cs typeface="Calibri Light"/>
              </a:rPr>
              <a:t>we went </a:t>
            </a:r>
            <a:r>
              <a:rPr dirty="0" sz="1600" spc="-15">
                <a:latin typeface="Calibri Light"/>
                <a:cs typeface="Calibri Light"/>
              </a:rPr>
              <a:t>to </a:t>
            </a:r>
            <a:r>
              <a:rPr dirty="0" sz="1600" spc="-5">
                <a:latin typeface="Calibri Light"/>
                <a:cs typeface="Calibri Light"/>
              </a:rPr>
              <a:t>St. Thomas high school </a:t>
            </a:r>
            <a:r>
              <a:rPr dirty="0" sz="1600">
                <a:latin typeface="Calibri Light"/>
                <a:cs typeface="Calibri Light"/>
              </a:rPr>
              <a:t>in </a:t>
            </a:r>
            <a:r>
              <a:rPr dirty="0" sz="1600" spc="-15">
                <a:latin typeface="Calibri Light"/>
                <a:cs typeface="Calibri Light"/>
              </a:rPr>
              <a:t>salivahnanagar,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Hyderabad.</a:t>
            </a:r>
            <a:endParaRPr sz="1600">
              <a:latin typeface="Calibri Light"/>
              <a:cs typeface="Calibri Light"/>
            </a:endParaRPr>
          </a:p>
          <a:p>
            <a:pPr marL="520700">
              <a:lnSpc>
                <a:spcPct val="100000"/>
              </a:lnSpc>
              <a:spcBef>
                <a:spcPts val="420"/>
              </a:spcBef>
            </a:pPr>
            <a:r>
              <a:rPr dirty="0" sz="1600" spc="-10">
                <a:latin typeface="Calibri Light"/>
                <a:cs typeface="Calibri Light"/>
              </a:rPr>
              <a:t>Response: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Will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conduct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after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informing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students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 </a:t>
            </a:r>
            <a:r>
              <a:rPr dirty="0" sz="1600">
                <a:latin typeface="Calibri Light"/>
                <a:cs typeface="Calibri Light"/>
              </a:rPr>
              <a:t>the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assembly.</a:t>
            </a:r>
            <a:endParaRPr sz="1600">
              <a:latin typeface="Calibri Light"/>
              <a:cs typeface="Calibri Light"/>
            </a:endParaRPr>
          </a:p>
          <a:p>
            <a:pPr marL="520700" marR="175260" indent="-229235">
              <a:lnSpc>
                <a:spcPts val="2340"/>
              </a:lnSpc>
              <a:spcBef>
                <a:spcPts val="135"/>
              </a:spcBef>
              <a:buAutoNum type="arabicPeriod" startAt="8"/>
              <a:tabLst>
                <a:tab pos="521334" algn="l"/>
              </a:tabLst>
            </a:pPr>
            <a:r>
              <a:rPr dirty="0" sz="1600" spc="-5">
                <a:latin typeface="Calibri Light"/>
                <a:cs typeface="Calibri Light"/>
              </a:rPr>
              <a:t>On </a:t>
            </a:r>
            <a:r>
              <a:rPr dirty="0" sz="1600">
                <a:latin typeface="Calibri Light"/>
                <a:cs typeface="Calibri Light"/>
              </a:rPr>
              <a:t>29</a:t>
            </a:r>
            <a:r>
              <a:rPr dirty="0" baseline="26455" sz="1575">
                <a:latin typeface="Calibri Light"/>
                <a:cs typeface="Calibri Light"/>
              </a:rPr>
              <a:t>th</a:t>
            </a:r>
            <a:r>
              <a:rPr dirty="0" baseline="26455" sz="1575" spc="7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June </a:t>
            </a:r>
            <a:r>
              <a:rPr dirty="0" sz="1600" spc="-10">
                <a:latin typeface="Calibri Light"/>
                <a:cs typeface="Calibri Light"/>
              </a:rPr>
              <a:t>we went </a:t>
            </a:r>
            <a:r>
              <a:rPr dirty="0" sz="1600" spc="-15">
                <a:latin typeface="Calibri Light"/>
                <a:cs typeface="Calibri Light"/>
              </a:rPr>
              <a:t>to </a:t>
            </a:r>
            <a:r>
              <a:rPr dirty="0" sz="1600" spc="-10">
                <a:latin typeface="Calibri Light"/>
                <a:cs typeface="Calibri Light"/>
              </a:rPr>
              <a:t>Bhashyam </a:t>
            </a:r>
            <a:r>
              <a:rPr dirty="0" sz="1600" spc="-5">
                <a:latin typeface="Calibri Light"/>
                <a:cs typeface="Calibri Light"/>
              </a:rPr>
              <a:t>model high school in </a:t>
            </a:r>
            <a:r>
              <a:rPr dirty="0" sz="1600" spc="-15">
                <a:latin typeface="Calibri Light"/>
                <a:cs typeface="Calibri Light"/>
              </a:rPr>
              <a:t>salivahnanagar,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Hyderabad.</a:t>
            </a:r>
            <a:endParaRPr sz="1600">
              <a:latin typeface="Calibri Light"/>
              <a:cs typeface="Calibri Light"/>
            </a:endParaRPr>
          </a:p>
          <a:p>
            <a:pPr marL="520700">
              <a:lnSpc>
                <a:spcPct val="100000"/>
              </a:lnSpc>
              <a:spcBef>
                <a:spcPts val="265"/>
              </a:spcBef>
            </a:pPr>
            <a:r>
              <a:rPr dirty="0" sz="1600" spc="-10">
                <a:latin typeface="Calibri Light"/>
                <a:cs typeface="Calibri Light"/>
              </a:rPr>
              <a:t>Response: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management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will not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25">
                <a:latin typeface="Calibri Light"/>
                <a:cs typeface="Calibri Light"/>
              </a:rPr>
              <a:t>allow.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alibri Light"/>
              <a:cs typeface="Calibri Light"/>
            </a:endParaRPr>
          </a:p>
          <a:p>
            <a:pPr marL="520700" marR="17780">
              <a:lnSpc>
                <a:spcPct val="121900"/>
              </a:lnSpc>
            </a:pPr>
            <a:r>
              <a:rPr dirty="0" sz="1600" spc="-5">
                <a:latin typeface="Calibri Light"/>
                <a:cs typeface="Calibri Light"/>
              </a:rPr>
              <a:t>This</a:t>
            </a:r>
            <a:r>
              <a:rPr dirty="0" sz="1600" spc="-10">
                <a:latin typeface="Calibri Light"/>
                <a:cs typeface="Calibri Light"/>
              </a:rPr>
              <a:t> what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done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collect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money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help </a:t>
            </a:r>
            <a:r>
              <a:rPr dirty="0" sz="1600">
                <a:latin typeface="Calibri Light"/>
                <a:cs typeface="Calibri Light"/>
              </a:rPr>
              <a:t>old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age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the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40">
                <a:latin typeface="Calibri Light"/>
                <a:cs typeface="Calibri Light"/>
              </a:rPr>
              <a:t>We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also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participated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event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Sahara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conducts </a:t>
            </a:r>
            <a:r>
              <a:rPr dirty="0" sz="1600" spc="-10">
                <a:latin typeface="Calibri Light"/>
                <a:cs typeface="Calibri Light"/>
              </a:rPr>
              <a:t>every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last</a:t>
            </a:r>
            <a:endParaRPr sz="1600">
              <a:latin typeface="Calibri Light"/>
              <a:cs typeface="Calibri Light"/>
            </a:endParaRPr>
          </a:p>
          <a:p>
            <a:pPr marL="520700">
              <a:lnSpc>
                <a:spcPct val="100000"/>
              </a:lnSpc>
              <a:spcBef>
                <a:spcPts val="409"/>
              </a:spcBef>
            </a:pPr>
            <a:r>
              <a:rPr dirty="0" sz="1600" spc="-15">
                <a:latin typeface="Calibri Light"/>
                <a:cs typeface="Calibri Light"/>
              </a:rPr>
              <a:t>Saturday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 month </a:t>
            </a:r>
            <a:r>
              <a:rPr dirty="0" sz="1600" spc="-20">
                <a:latin typeface="Calibri Light"/>
                <a:cs typeface="Calibri Light"/>
              </a:rPr>
              <a:t>for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old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</a:t>
            </a:r>
            <a:endParaRPr sz="1600">
              <a:latin typeface="Calibri Light"/>
              <a:cs typeface="Calibri Ligh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69950" y="6030213"/>
            <a:ext cx="2813685" cy="291147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098290" y="6133718"/>
            <a:ext cx="2949575" cy="27762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5079" y="560069"/>
            <a:ext cx="3619500" cy="3581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2870" y="4670170"/>
            <a:ext cx="2932429" cy="42114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457199"/>
            <a:ext cx="3210941" cy="37058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3090" y="4598669"/>
            <a:ext cx="2966085" cy="42826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10362"/>
            <a:ext cx="6534784" cy="829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600" spc="-5">
                <a:latin typeface="Calibri Light"/>
                <a:cs typeface="Calibri Light"/>
              </a:rPr>
              <a:t>This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is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what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have</a:t>
            </a:r>
            <a:r>
              <a:rPr dirty="0" sz="1600" spc="-5">
                <a:latin typeface="Calibri Light"/>
                <a:cs typeface="Calibri Light"/>
              </a:rPr>
              <a:t> done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for</a:t>
            </a:r>
            <a:r>
              <a:rPr dirty="0" sz="1600" spc="-5">
                <a:latin typeface="Calibri Light"/>
                <a:cs typeface="Calibri Light"/>
              </a:rPr>
              <a:t> old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people.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Now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coming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children,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created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5">
                <a:latin typeface="Calibri Light"/>
                <a:cs typeface="Calibri Light"/>
              </a:rPr>
              <a:t>an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online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google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document.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u="sng" sz="1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 Light"/>
                <a:cs typeface="Calibri Light"/>
                <a:hlinkClick r:id="rId2"/>
              </a:rPr>
              <a:t>https://forms.gle/sRtzkqQ7HXYv63be8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8334908"/>
            <a:ext cx="654621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dirty="0" sz="1600" spc="-10">
                <a:latin typeface="Calibri Light"/>
                <a:cs typeface="Calibri Light"/>
              </a:rPr>
              <a:t>Through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this google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documents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have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collected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2400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rupees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for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children.</a:t>
            </a:r>
            <a:endParaRPr sz="16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731136"/>
            <a:ext cx="6169913" cy="62153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29259"/>
            <a:ext cx="14890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/>
              <a:t>Conclusion: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44500" y="913536"/>
            <a:ext cx="6640830" cy="83356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260985">
              <a:lnSpc>
                <a:spcPct val="109800"/>
              </a:lnSpc>
              <a:spcBef>
                <a:spcPts val="105"/>
              </a:spcBef>
            </a:pP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conclusion,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objective</a:t>
            </a:r>
            <a:r>
              <a:rPr dirty="0" sz="1600" spc="-5">
                <a:latin typeface="Calibri Light"/>
                <a:cs typeface="Calibri Light"/>
              </a:rPr>
              <a:t> of</a:t>
            </a:r>
            <a:r>
              <a:rPr dirty="0" sz="1600">
                <a:latin typeface="Calibri Light"/>
                <a:cs typeface="Calibri Light"/>
              </a:rPr>
              <a:t> this </a:t>
            </a:r>
            <a:r>
              <a:rPr dirty="0" sz="1600" spc="-10">
                <a:latin typeface="Calibri Light"/>
                <a:cs typeface="Calibri Light"/>
              </a:rPr>
              <a:t>project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create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awareness</a:t>
            </a:r>
            <a:r>
              <a:rPr dirty="0" sz="1600" spc="-5">
                <a:latin typeface="Calibri Light"/>
                <a:cs typeface="Calibri Light"/>
              </a:rPr>
              <a:t> and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promote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understanding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about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issues</a:t>
            </a:r>
            <a:r>
              <a:rPr dirty="0" sz="1600" spc="-10">
                <a:latin typeface="Calibri Light"/>
                <a:cs typeface="Calibri Light"/>
              </a:rPr>
              <a:t> faced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r>
              <a:rPr dirty="0" sz="1600" spc="-5">
                <a:latin typeface="Calibri Light"/>
                <a:cs typeface="Calibri Light"/>
              </a:rPr>
              <a:t> older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 </a:t>
            </a:r>
            <a:r>
              <a:rPr dirty="0" sz="1600">
                <a:latin typeface="Calibri Light"/>
                <a:cs typeface="Calibri Light"/>
              </a:rPr>
              <a:t>and </a:t>
            </a:r>
            <a:r>
              <a:rPr dirty="0" sz="1600" spc="-10">
                <a:latin typeface="Calibri Light"/>
                <a:cs typeface="Calibri Light"/>
              </a:rPr>
              <a:t>children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raised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 </a:t>
            </a:r>
            <a:r>
              <a:rPr dirty="0" sz="1600" spc="-5">
                <a:latin typeface="Calibri Light"/>
                <a:cs typeface="Calibri Light"/>
              </a:rPr>
              <a:t> single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25">
                <a:latin typeface="Calibri Light"/>
                <a:cs typeface="Calibri Light"/>
              </a:rPr>
              <a:t>society,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order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empower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communities</a:t>
            </a:r>
            <a:r>
              <a:rPr dirty="0" sz="1600">
                <a:latin typeface="Calibri Light"/>
                <a:cs typeface="Calibri Light"/>
              </a:rPr>
              <a:t> 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create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more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inclusive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supportive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environment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for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everyone.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5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latin typeface="Calibri Light"/>
                <a:cs typeface="Calibri Light"/>
              </a:rPr>
              <a:t>One</a:t>
            </a:r>
            <a:r>
              <a:rPr dirty="0" sz="1600" spc="-5">
                <a:latin typeface="Calibri Light"/>
                <a:cs typeface="Calibri Light"/>
              </a:rPr>
              <a:t> 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main challenges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faced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older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 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financial</a:t>
            </a:r>
            <a:endParaRPr sz="1600">
              <a:latin typeface="Calibri Light"/>
              <a:cs typeface="Calibri Light"/>
            </a:endParaRPr>
          </a:p>
          <a:p>
            <a:pPr marL="12700" marR="30480">
              <a:lnSpc>
                <a:spcPts val="2110"/>
              </a:lnSpc>
              <a:spcBef>
                <a:spcPts val="90"/>
              </a:spcBef>
            </a:pPr>
            <a:r>
              <a:rPr dirty="0" sz="1600" spc="-20">
                <a:latin typeface="Calibri Light"/>
                <a:cs typeface="Calibri Light"/>
              </a:rPr>
              <a:t>instability,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which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be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exacerbated</a:t>
            </a:r>
            <a:r>
              <a:rPr dirty="0" sz="1600" spc="2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lack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social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support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rising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costs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living.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Through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this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project,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aim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raise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awareness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4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promote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resources</a:t>
            </a:r>
            <a:endParaRPr sz="1600">
              <a:latin typeface="Calibri Light"/>
              <a:cs typeface="Calibri Light"/>
            </a:endParaRPr>
          </a:p>
          <a:p>
            <a:pPr marL="12700" marR="339090">
              <a:lnSpc>
                <a:spcPts val="2100"/>
              </a:lnSpc>
              <a:spcBef>
                <a:spcPts val="15"/>
              </a:spcBef>
            </a:pP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address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their</a:t>
            </a:r>
            <a:r>
              <a:rPr dirty="0" sz="1600" spc="3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financial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needs,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such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affordable</a:t>
            </a:r>
            <a:r>
              <a:rPr dirty="0" sz="1600" spc="2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healthcare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housing,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legal </a:t>
            </a:r>
            <a:r>
              <a:rPr dirty="0" sz="1600" spc="-5">
                <a:latin typeface="Calibri Light"/>
                <a:cs typeface="Calibri Light"/>
              </a:rPr>
              <a:t>support,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social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security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programs.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Calibri Light"/>
              <a:cs typeface="Calibri Light"/>
            </a:endParaRPr>
          </a:p>
          <a:p>
            <a:pPr marL="12700" marR="5080">
              <a:lnSpc>
                <a:spcPct val="109800"/>
              </a:lnSpc>
            </a:pPr>
            <a:r>
              <a:rPr dirty="0" sz="1600" spc="-10">
                <a:latin typeface="Calibri Light"/>
                <a:cs typeface="Calibri Light"/>
              </a:rPr>
              <a:t>Another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challenge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social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stigma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discrimination,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which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can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make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it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difficult 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for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older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people </a:t>
            </a:r>
            <a:r>
              <a:rPr dirty="0" sz="1600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parents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access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support </a:t>
            </a:r>
            <a:r>
              <a:rPr dirty="0" sz="1600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services.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Through</a:t>
            </a:r>
            <a:r>
              <a:rPr dirty="0" sz="1600" spc="-5">
                <a:latin typeface="Calibri Light"/>
                <a:cs typeface="Calibri Light"/>
              </a:rPr>
              <a:t> this 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project,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aim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create</a:t>
            </a:r>
            <a:r>
              <a:rPr dirty="0" sz="1600">
                <a:latin typeface="Calibri Light"/>
                <a:cs typeface="Calibri Light"/>
              </a:rPr>
              <a:t> an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accepting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 </a:t>
            </a:r>
            <a:r>
              <a:rPr dirty="0" sz="1600" spc="-10">
                <a:latin typeface="Calibri Light"/>
                <a:cs typeface="Calibri Light"/>
              </a:rPr>
              <a:t>understanding</a:t>
            </a:r>
            <a:r>
              <a:rPr dirty="0" sz="1600" spc="-5">
                <a:latin typeface="Calibri Light"/>
                <a:cs typeface="Calibri Light"/>
              </a:rPr>
              <a:t> community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that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breaks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down </a:t>
            </a:r>
            <a:r>
              <a:rPr dirty="0" sz="1600" spc="-10">
                <a:latin typeface="Calibri Light"/>
                <a:cs typeface="Calibri Light"/>
              </a:rPr>
              <a:t>stereotypes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 </a:t>
            </a:r>
            <a:r>
              <a:rPr dirty="0" sz="1600" spc="-10">
                <a:latin typeface="Calibri Light"/>
                <a:cs typeface="Calibri Light"/>
              </a:rPr>
              <a:t>reduces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stigma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for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those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who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are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marginalized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endParaRPr sz="1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600" spc="-15">
                <a:latin typeface="Calibri Light"/>
                <a:cs typeface="Calibri Light"/>
              </a:rPr>
              <a:t>overlooked.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Calibri Light"/>
              <a:cs typeface="Calibri Light"/>
            </a:endParaRPr>
          </a:p>
          <a:p>
            <a:pPr marL="12700" marR="153035">
              <a:lnSpc>
                <a:spcPct val="109700"/>
              </a:lnSpc>
            </a:pPr>
            <a:r>
              <a:rPr dirty="0" sz="1600" spc="-15">
                <a:latin typeface="Calibri Light"/>
                <a:cs typeface="Calibri Light"/>
              </a:rPr>
              <a:t>Additionally,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aim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to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empower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young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people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through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education </a:t>
            </a:r>
            <a:r>
              <a:rPr dirty="0" sz="1600" spc="-5">
                <a:latin typeface="Calibri Light"/>
                <a:cs typeface="Calibri Light"/>
              </a:rPr>
              <a:t>about</a:t>
            </a:r>
            <a:r>
              <a:rPr dirty="0" sz="1600">
                <a:latin typeface="Calibri Light"/>
                <a:cs typeface="Calibri Light"/>
              </a:rPr>
              <a:t> the 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challenges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aging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raising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children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as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single </a:t>
            </a:r>
            <a:r>
              <a:rPr dirty="0" sz="1600" spc="-10">
                <a:latin typeface="Calibri Light"/>
                <a:cs typeface="Calibri Light"/>
              </a:rPr>
              <a:t>parent,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order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promote 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empathy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understanding.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encouraging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community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members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to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engage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in</a:t>
            </a:r>
            <a:endParaRPr sz="1600">
              <a:latin typeface="Calibri Light"/>
              <a:cs typeface="Calibri Light"/>
            </a:endParaRPr>
          </a:p>
          <a:p>
            <a:pPr marL="12700" marR="57150">
              <a:lnSpc>
                <a:spcPct val="110000"/>
              </a:lnSpc>
            </a:pPr>
            <a:r>
              <a:rPr dirty="0" sz="1600" spc="-10">
                <a:latin typeface="Calibri Light"/>
                <a:cs typeface="Calibri Light"/>
              </a:rPr>
              <a:t>advocacy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efforts,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we</a:t>
            </a:r>
            <a:r>
              <a:rPr dirty="0" sz="1600" spc="-5">
                <a:latin typeface="Calibri Light"/>
                <a:cs typeface="Calibri Light"/>
              </a:rPr>
              <a:t> aim</a:t>
            </a:r>
            <a:r>
              <a:rPr dirty="0" sz="1600" spc="-10">
                <a:latin typeface="Calibri Light"/>
                <a:cs typeface="Calibri Light"/>
              </a:rPr>
              <a:t> to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create</a:t>
            </a:r>
            <a:r>
              <a:rPr dirty="0" sz="1600" spc="-5">
                <a:latin typeface="Calibri Light"/>
                <a:cs typeface="Calibri Light"/>
              </a:rPr>
              <a:t> a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5">
                <a:latin typeface="Calibri Light"/>
                <a:cs typeface="Calibri Light"/>
              </a:rPr>
              <a:t>more</a:t>
            </a:r>
            <a:r>
              <a:rPr dirty="0" sz="1600" spc="-5">
                <a:latin typeface="Calibri Light"/>
                <a:cs typeface="Calibri Light"/>
              </a:rPr>
              <a:t> inclusive 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supportive environment, </a:t>
            </a:r>
            <a:r>
              <a:rPr dirty="0" sz="1600" spc="-34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where</a:t>
            </a:r>
            <a:r>
              <a:rPr dirty="0" sz="1600" spc="-5">
                <a:latin typeface="Calibri Light"/>
                <a:cs typeface="Calibri Light"/>
              </a:rPr>
              <a:t> </a:t>
            </a:r>
            <a:r>
              <a:rPr dirty="0" sz="1600">
                <a:latin typeface="Calibri Light"/>
                <a:cs typeface="Calibri Light"/>
              </a:rPr>
              <a:t>all</a:t>
            </a:r>
            <a:r>
              <a:rPr dirty="0" sz="1600" spc="-5">
                <a:latin typeface="Calibri Light"/>
                <a:cs typeface="Calibri Light"/>
              </a:rPr>
              <a:t> members</a:t>
            </a:r>
            <a:r>
              <a:rPr dirty="0" sz="1600" spc="-1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of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society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live</a:t>
            </a:r>
            <a:r>
              <a:rPr dirty="0" sz="1600" spc="-5">
                <a:latin typeface="Calibri Light"/>
                <a:cs typeface="Calibri Light"/>
              </a:rPr>
              <a:t> with dignity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3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respect.</a:t>
            </a: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alibri Light"/>
              <a:cs typeface="Calibri Light"/>
            </a:endParaRPr>
          </a:p>
          <a:p>
            <a:pPr algn="just" marL="12700" marR="217804">
              <a:lnSpc>
                <a:spcPct val="110000"/>
              </a:lnSpc>
            </a:pPr>
            <a:r>
              <a:rPr dirty="0" sz="1600" spc="-5">
                <a:latin typeface="Calibri Light"/>
                <a:cs typeface="Calibri Light"/>
              </a:rPr>
              <a:t>In </a:t>
            </a:r>
            <a:r>
              <a:rPr dirty="0" sz="1600" spc="-20">
                <a:latin typeface="Calibri Light"/>
                <a:cs typeface="Calibri Light"/>
              </a:rPr>
              <a:t>summary, </a:t>
            </a:r>
            <a:r>
              <a:rPr dirty="0" sz="1600" spc="-5">
                <a:latin typeface="Calibri Light"/>
                <a:cs typeface="Calibri Light"/>
              </a:rPr>
              <a:t>this </a:t>
            </a:r>
            <a:r>
              <a:rPr dirty="0" sz="1600" spc="-10">
                <a:latin typeface="Calibri Light"/>
                <a:cs typeface="Calibri Light"/>
              </a:rPr>
              <a:t>project </a:t>
            </a:r>
            <a:r>
              <a:rPr dirty="0" sz="1600" spc="-5">
                <a:latin typeface="Calibri Light"/>
                <a:cs typeface="Calibri Light"/>
              </a:rPr>
              <a:t>is an </a:t>
            </a:r>
            <a:r>
              <a:rPr dirty="0" sz="1600" spc="-10">
                <a:latin typeface="Calibri Light"/>
                <a:cs typeface="Calibri Light"/>
              </a:rPr>
              <a:t>important </a:t>
            </a:r>
            <a:r>
              <a:rPr dirty="0" sz="1600" spc="-15">
                <a:latin typeface="Calibri Light"/>
                <a:cs typeface="Calibri Light"/>
              </a:rPr>
              <a:t>step towards </a:t>
            </a:r>
            <a:r>
              <a:rPr dirty="0" sz="1600" spc="-10">
                <a:latin typeface="Calibri Light"/>
                <a:cs typeface="Calibri Light"/>
              </a:rPr>
              <a:t>creating </a:t>
            </a:r>
            <a:r>
              <a:rPr dirty="0" sz="1600" spc="-5">
                <a:latin typeface="Calibri Light"/>
                <a:cs typeface="Calibri Light"/>
              </a:rPr>
              <a:t>a </a:t>
            </a:r>
            <a:r>
              <a:rPr dirty="0" sz="1600" spc="-15">
                <a:latin typeface="Calibri Light"/>
                <a:cs typeface="Calibri Light"/>
              </a:rPr>
              <a:t>more </a:t>
            </a:r>
            <a:r>
              <a:rPr dirty="0" sz="1600" spc="-5">
                <a:latin typeface="Calibri Light"/>
                <a:cs typeface="Calibri Light"/>
              </a:rPr>
              <a:t>inclusive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 </a:t>
            </a:r>
            <a:r>
              <a:rPr dirty="0" sz="1600" spc="-10">
                <a:latin typeface="Calibri Light"/>
                <a:cs typeface="Calibri Light"/>
              </a:rPr>
              <a:t>supportive</a:t>
            </a:r>
            <a:r>
              <a:rPr dirty="0" sz="1600" spc="15">
                <a:latin typeface="Calibri Light"/>
                <a:cs typeface="Calibri Light"/>
              </a:rPr>
              <a:t> </a:t>
            </a:r>
            <a:r>
              <a:rPr dirty="0" sz="1600" spc="-20">
                <a:latin typeface="Calibri Light"/>
                <a:cs typeface="Calibri Light"/>
              </a:rPr>
              <a:t>society,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where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everyone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can</a:t>
            </a:r>
            <a:r>
              <a:rPr dirty="0" sz="1600" spc="2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live</a:t>
            </a:r>
            <a:r>
              <a:rPr dirty="0" sz="1600">
                <a:latin typeface="Calibri Light"/>
                <a:cs typeface="Calibri Light"/>
              </a:rPr>
              <a:t> with </a:t>
            </a:r>
            <a:r>
              <a:rPr dirty="0" sz="1600" spc="-5">
                <a:latin typeface="Calibri Light"/>
                <a:cs typeface="Calibri Light"/>
              </a:rPr>
              <a:t>dignity</a:t>
            </a:r>
            <a:r>
              <a:rPr dirty="0" sz="1600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and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5">
                <a:latin typeface="Calibri Light"/>
                <a:cs typeface="Calibri Light"/>
              </a:rPr>
              <a:t>respect.</a:t>
            </a:r>
            <a:r>
              <a:rPr dirty="0" sz="1600" spc="1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By</a:t>
            </a:r>
            <a:endParaRPr sz="1600">
              <a:latin typeface="Calibri Light"/>
              <a:cs typeface="Calibri Light"/>
            </a:endParaRPr>
          </a:p>
          <a:p>
            <a:pPr algn="just" marL="12700" marR="47625">
              <a:lnSpc>
                <a:spcPct val="109700"/>
              </a:lnSpc>
              <a:spcBef>
                <a:spcPts val="5"/>
              </a:spcBef>
            </a:pPr>
            <a:r>
              <a:rPr dirty="0" sz="1600" spc="-10">
                <a:latin typeface="Calibri Light"/>
                <a:cs typeface="Calibri Light"/>
              </a:rPr>
              <a:t>raising awareness </a:t>
            </a:r>
            <a:r>
              <a:rPr dirty="0" sz="1600" spc="-5">
                <a:latin typeface="Calibri Light"/>
                <a:cs typeface="Calibri Light"/>
              </a:rPr>
              <a:t>and </a:t>
            </a:r>
            <a:r>
              <a:rPr dirty="0" sz="1600" spc="-10">
                <a:latin typeface="Calibri Light"/>
                <a:cs typeface="Calibri Light"/>
              </a:rPr>
              <a:t>promoting resources, </a:t>
            </a:r>
            <a:r>
              <a:rPr dirty="0" sz="1600" spc="-20">
                <a:latin typeface="Calibri Light"/>
                <a:cs typeface="Calibri Light"/>
              </a:rPr>
              <a:t>advocacy, </a:t>
            </a:r>
            <a:r>
              <a:rPr dirty="0" sz="1600" spc="-5">
                <a:latin typeface="Calibri Light"/>
                <a:cs typeface="Calibri Light"/>
              </a:rPr>
              <a:t>and </a:t>
            </a:r>
            <a:r>
              <a:rPr dirty="0" sz="1600" spc="-10">
                <a:latin typeface="Calibri Light"/>
                <a:cs typeface="Calibri Light"/>
              </a:rPr>
              <a:t>research, we can </a:t>
            </a:r>
            <a:r>
              <a:rPr dirty="0" sz="1600" spc="-5">
                <a:latin typeface="Calibri Light"/>
                <a:cs typeface="Calibri Light"/>
              </a:rPr>
              <a:t>help </a:t>
            </a:r>
            <a:r>
              <a:rPr dirty="0" sz="1600" spc="-350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empower communities </a:t>
            </a:r>
            <a:r>
              <a:rPr dirty="0" sz="1600">
                <a:latin typeface="Calibri Light"/>
                <a:cs typeface="Calibri Light"/>
              </a:rPr>
              <a:t>and </a:t>
            </a:r>
            <a:r>
              <a:rPr dirty="0" sz="1600" spc="-15">
                <a:latin typeface="Calibri Light"/>
                <a:cs typeface="Calibri Light"/>
              </a:rPr>
              <a:t>create </a:t>
            </a:r>
            <a:r>
              <a:rPr dirty="0" sz="1600" spc="-5">
                <a:latin typeface="Calibri Light"/>
                <a:cs typeface="Calibri Light"/>
              </a:rPr>
              <a:t>a </a:t>
            </a:r>
            <a:r>
              <a:rPr dirty="0" sz="1600" spc="-10">
                <a:latin typeface="Calibri Light"/>
                <a:cs typeface="Calibri Light"/>
              </a:rPr>
              <a:t>world </a:t>
            </a:r>
            <a:r>
              <a:rPr dirty="0" sz="1600" spc="-5">
                <a:latin typeface="Calibri Light"/>
                <a:cs typeface="Calibri Light"/>
              </a:rPr>
              <a:t>where </a:t>
            </a:r>
            <a:r>
              <a:rPr dirty="0" sz="1600">
                <a:latin typeface="Calibri Light"/>
                <a:cs typeface="Calibri Light"/>
              </a:rPr>
              <a:t>all </a:t>
            </a:r>
            <a:r>
              <a:rPr dirty="0" sz="1600" spc="-10">
                <a:latin typeface="Calibri Light"/>
                <a:cs typeface="Calibri Light"/>
              </a:rPr>
              <a:t>members </a:t>
            </a:r>
            <a:r>
              <a:rPr dirty="0" sz="1600" spc="-5">
                <a:latin typeface="Calibri Light"/>
                <a:cs typeface="Calibri Light"/>
              </a:rPr>
              <a:t>of </a:t>
            </a:r>
            <a:r>
              <a:rPr dirty="0" sz="1600" spc="-10">
                <a:latin typeface="Calibri Light"/>
                <a:cs typeface="Calibri Light"/>
              </a:rPr>
              <a:t>society can live </a:t>
            </a:r>
            <a:r>
              <a:rPr dirty="0" sz="1600" spc="-5">
                <a:latin typeface="Calibri Light"/>
                <a:cs typeface="Calibri Light"/>
              </a:rPr>
              <a:t> fulfilled</a:t>
            </a:r>
            <a:r>
              <a:rPr dirty="0" sz="1600" spc="5">
                <a:latin typeface="Calibri Light"/>
                <a:cs typeface="Calibri Light"/>
              </a:rPr>
              <a:t> </a:t>
            </a:r>
            <a:r>
              <a:rPr dirty="0" sz="1600" spc="-10">
                <a:latin typeface="Calibri Light"/>
                <a:cs typeface="Calibri Light"/>
              </a:rPr>
              <a:t>lives.</a:t>
            </a:r>
            <a:endParaRPr sz="1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sampravardhan@gmail.com</dc:creator>
  <dcterms:created xsi:type="dcterms:W3CDTF">2023-08-26T14:03:16Z</dcterms:created>
  <dcterms:modified xsi:type="dcterms:W3CDTF">2023-08-26T14:03:16Z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2023-08-26T00:00:00Z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2023-08-26T00:00:00Z</vt:filetime>
  </property>
</Properties>
</file>