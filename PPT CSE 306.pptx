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15"/>
  </p:normalViewPr>
  <p:slideViewPr>
    <p:cSldViewPr snapToGrid="0">
      <p:cViewPr varScale="1">
        <p:scale>
          <a:sx n="117" d="100"/>
          <a:sy n="117" d="100"/>
        </p:scale>
        <p:origin x="2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36F8F-E231-7EAC-9D3F-1A35ECF12C3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77BCAAB-34A9-B857-6FF4-1BE03009F1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3345006-7BC1-1111-5C19-932B975AEE0E}"/>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5" name="Footer Placeholder 4">
            <a:extLst>
              <a:ext uri="{FF2B5EF4-FFF2-40B4-BE49-F238E27FC236}">
                <a16:creationId xmlns:a16="http://schemas.microsoft.com/office/drawing/2014/main" id="{81D87492-0589-2352-5B9F-EF68C6E9D4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917D9-4EAA-5D65-3D7E-AAA2AFE1D331}"/>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510688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37A2E-C062-A2C5-EE72-AECA83A76B1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F1536E0-1019-B465-8853-07387CAE706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F9CA9B-22B2-63A8-AF6E-A1BDAA43192C}"/>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5" name="Footer Placeholder 4">
            <a:extLst>
              <a:ext uri="{FF2B5EF4-FFF2-40B4-BE49-F238E27FC236}">
                <a16:creationId xmlns:a16="http://schemas.microsoft.com/office/drawing/2014/main" id="{37A6B2A0-D01C-6764-478C-4E4A8D4FF6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3601D2-7D52-8070-14B3-82A867ACA2EA}"/>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2313276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27443-DC64-24ED-6C22-E872023002A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8133AFF-DE0F-E9B6-5099-9B6F70C728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6273158-A275-0CB5-274E-5831DE10438D}"/>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5" name="Footer Placeholder 4">
            <a:extLst>
              <a:ext uri="{FF2B5EF4-FFF2-40B4-BE49-F238E27FC236}">
                <a16:creationId xmlns:a16="http://schemas.microsoft.com/office/drawing/2014/main" id="{B7EFA255-5400-7180-1B73-CD54D057DF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501AD5-DF55-206F-F15E-EB5AAA5367CE}"/>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3931305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A158E-E4C1-A05C-D49D-8993DBF130F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9C7DFE3-65A1-6CFB-9379-A747A93F0A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2C1D75C-93C8-00DE-949A-CAF8FAF815E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84A015E-5F3F-1C8F-8B1E-68476BC2A924}"/>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6" name="Footer Placeholder 5">
            <a:extLst>
              <a:ext uri="{FF2B5EF4-FFF2-40B4-BE49-F238E27FC236}">
                <a16:creationId xmlns:a16="http://schemas.microsoft.com/office/drawing/2014/main" id="{0426A329-AAB0-8C54-DE41-BF0FE0E1C5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6227E2-AB35-101F-1322-781D9728E8DC}"/>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2178861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7E30F-ABAD-2DFA-F4E0-914191C5E0F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E6C839D-3AE3-4561-7B32-7010771C77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7F002F2-CCE8-9DC3-58DB-25CD3FDFF2B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78868DC-A353-BB7E-E0D2-10502D4ECB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EF34FBA-7180-1394-2641-7C1E13DA4F9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D294C93-5AF4-455F-5B1B-06D930B3A21D}"/>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8" name="Footer Placeholder 7">
            <a:extLst>
              <a:ext uri="{FF2B5EF4-FFF2-40B4-BE49-F238E27FC236}">
                <a16:creationId xmlns:a16="http://schemas.microsoft.com/office/drawing/2014/main" id="{EAD80D3E-69FC-0D09-2F8A-26BB58257D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5F6D2D-A0CD-8021-4AF0-6ADECE2B71C0}"/>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2544376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9F868-E80D-F231-9226-A699EBDE9A9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6E4784E-1645-860A-89E1-06F44340F4B3}"/>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4" name="Footer Placeholder 3">
            <a:extLst>
              <a:ext uri="{FF2B5EF4-FFF2-40B4-BE49-F238E27FC236}">
                <a16:creationId xmlns:a16="http://schemas.microsoft.com/office/drawing/2014/main" id="{8FAE8C17-D82C-A5B9-A9D3-971F20F437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D44CE4-2FD4-84CE-D802-441CBC763626}"/>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4037203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5675D1-F2D0-0247-9569-00A423AE3835}"/>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3" name="Footer Placeholder 2">
            <a:extLst>
              <a:ext uri="{FF2B5EF4-FFF2-40B4-BE49-F238E27FC236}">
                <a16:creationId xmlns:a16="http://schemas.microsoft.com/office/drawing/2014/main" id="{2B86A566-73BE-5524-0733-0E2F9E2B8E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A8CAFC-8E79-C9FA-63CF-9C1006867A3C}"/>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3893775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BA7B-411A-6CE6-CFA5-6EA43A74F2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CC2DE2D-6861-17B0-CDC0-E07D2CCD51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30A333F-FAE1-374F-57DA-16A2FB7EBE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2002123-C3D4-BC65-0C76-20990F46C38C}"/>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6" name="Footer Placeholder 5">
            <a:extLst>
              <a:ext uri="{FF2B5EF4-FFF2-40B4-BE49-F238E27FC236}">
                <a16:creationId xmlns:a16="http://schemas.microsoft.com/office/drawing/2014/main" id="{CF7F1B8D-C9B1-C204-2EE0-C7CB8CE9CA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B5F6-B5D3-2101-FAAC-A6B36D1D45A5}"/>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1850550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12D74-C741-472E-3AE5-BD6A56EE41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596A9ED-F2B7-2229-8803-C9FADD1C0E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167EF7-5F96-4023-B0D8-7962016855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88E53D5-A4F4-B85F-E465-EFB510C0F2D2}"/>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6" name="Footer Placeholder 5">
            <a:extLst>
              <a:ext uri="{FF2B5EF4-FFF2-40B4-BE49-F238E27FC236}">
                <a16:creationId xmlns:a16="http://schemas.microsoft.com/office/drawing/2014/main" id="{1B707ADC-9060-91EB-5019-FDAABA04F8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34AE48-B972-14B1-ADAC-34D9E4610509}"/>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708010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F91A8-FAED-ABDE-E757-0749BCDBD5F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FA19ECC-4FAC-7EE8-62B2-7FC4916DA09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D71BD3B-6F27-4168-4789-4E6C82ACEEE1}"/>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5" name="Footer Placeholder 4">
            <a:extLst>
              <a:ext uri="{FF2B5EF4-FFF2-40B4-BE49-F238E27FC236}">
                <a16:creationId xmlns:a16="http://schemas.microsoft.com/office/drawing/2014/main" id="{2E2B9897-715F-537A-3834-6F61A4D2EB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EA3ED-628E-9BB0-D8CE-34D0348DB768}"/>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223445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73F25B-6BFF-7826-30DF-38FE3018783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0A17FE1-2AC7-74E5-9C2E-D5AC4664502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FA5EAE-DB34-0E01-45E9-DE958622E2F2}"/>
              </a:ext>
            </a:extLst>
          </p:cNvPr>
          <p:cNvSpPr>
            <a:spLocks noGrp="1"/>
          </p:cNvSpPr>
          <p:nvPr>
            <p:ph type="dt" sz="half" idx="10"/>
          </p:nvPr>
        </p:nvSpPr>
        <p:spPr/>
        <p:txBody>
          <a:bodyPr/>
          <a:lstStyle/>
          <a:p>
            <a:fld id="{38FAFAFC-36A8-0D4C-BF9B-AEE183150343}" type="datetimeFigureOut">
              <a:rPr lang="en-US" smtClean="0"/>
              <a:t>8/10/23</a:t>
            </a:fld>
            <a:endParaRPr lang="en-US"/>
          </a:p>
        </p:txBody>
      </p:sp>
      <p:sp>
        <p:nvSpPr>
          <p:cNvPr id="5" name="Footer Placeholder 4">
            <a:extLst>
              <a:ext uri="{FF2B5EF4-FFF2-40B4-BE49-F238E27FC236}">
                <a16:creationId xmlns:a16="http://schemas.microsoft.com/office/drawing/2014/main" id="{9421DEFD-12DF-3F76-2566-908DBC18DC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91514F-1D16-70A3-0F34-38AEA2D5ABF7}"/>
              </a:ext>
            </a:extLst>
          </p:cNvPr>
          <p:cNvSpPr>
            <a:spLocks noGrp="1"/>
          </p:cNvSpPr>
          <p:nvPr>
            <p:ph type="sldNum" sz="quarter" idx="12"/>
          </p:nvPr>
        </p:nvSpPr>
        <p:spPr/>
        <p:txBody>
          <a:bodyPr/>
          <a:lstStyle/>
          <a:p>
            <a:fld id="{4A290E57-8ED0-6D4E-BCDB-64578E732040}" type="slidenum">
              <a:rPr lang="en-US" smtClean="0"/>
              <a:t>‹#›</a:t>
            </a:fld>
            <a:endParaRPr lang="en-US"/>
          </a:p>
        </p:txBody>
      </p:sp>
    </p:spTree>
    <p:extLst>
      <p:ext uri="{BB962C8B-B14F-4D97-AF65-F5344CB8AC3E}">
        <p14:creationId xmlns:p14="http://schemas.microsoft.com/office/powerpoint/2010/main" val="2676136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5B97FF-48B8-4BCA-0214-2C5E6CA61A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FE93F5C-4BD7-1931-820A-98EC1A4462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9F89B0-3B90-BF40-3914-75F83834E1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FAFAFC-36A8-0D4C-BF9B-AEE183150343}" type="datetimeFigureOut">
              <a:rPr lang="en-US" smtClean="0"/>
              <a:t>8/10/23</a:t>
            </a:fld>
            <a:endParaRPr lang="en-US"/>
          </a:p>
        </p:txBody>
      </p:sp>
      <p:sp>
        <p:nvSpPr>
          <p:cNvPr id="5" name="Footer Placeholder 4">
            <a:extLst>
              <a:ext uri="{FF2B5EF4-FFF2-40B4-BE49-F238E27FC236}">
                <a16:creationId xmlns:a16="http://schemas.microsoft.com/office/drawing/2014/main" id="{2A1BA750-D315-C304-8599-B998B37255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F82EB59-632D-4932-E048-C55CA67293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290E57-8ED0-6D4E-BCDB-64578E732040}" type="slidenum">
              <a:rPr lang="en-US" smtClean="0"/>
              <a:t>‹#›</a:t>
            </a:fld>
            <a:endParaRPr lang="en-US"/>
          </a:p>
        </p:txBody>
      </p:sp>
    </p:spTree>
    <p:extLst>
      <p:ext uri="{BB962C8B-B14F-4D97-AF65-F5344CB8AC3E}">
        <p14:creationId xmlns:p14="http://schemas.microsoft.com/office/powerpoint/2010/main" val="1623125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echtarget.com/whatis/definition/World-Wide-Web" TargetMode="External"/><Relationship Id="rId7" Type="http://schemas.openxmlformats.org/officeDocument/2006/relationships/hyperlink" Target="https://www.techtarget.com/whatis/definition/server" TargetMode="External"/><Relationship Id="rId2" Type="http://schemas.openxmlformats.org/officeDocument/2006/relationships/hyperlink" Target="https://www.techtarget.com/searchsoftwarequality/definition/application" TargetMode="External"/><Relationship Id="rId1" Type="http://schemas.openxmlformats.org/officeDocument/2006/relationships/slideLayout" Target="../slideLayouts/slideLayout1.xml"/><Relationship Id="rId6" Type="http://schemas.openxmlformats.org/officeDocument/2006/relationships/hyperlink" Target="https://www.techtarget.com/whatis/definition/HTTP-Hypertext-Transfer-Protocol" TargetMode="External"/><Relationship Id="rId5" Type="http://schemas.openxmlformats.org/officeDocument/2006/relationships/hyperlink" Target="https://www.techtarget.com/searchenterprisedesktop/definition/client" TargetMode="External"/><Relationship Id="rId4" Type="http://schemas.openxmlformats.org/officeDocument/2006/relationships/hyperlink" Target="https://www.techtarget.com/whatis/definition/text"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techtarget.com/searchenterprisedesktop/definition/Internet-Explorer" TargetMode="External"/><Relationship Id="rId2" Type="http://schemas.openxmlformats.org/officeDocument/2006/relationships/hyperlink" Target="https://www.techtarget.com/whatis/definition/GUI"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theserverside.com/definition/JavaScript" TargetMode="External"/><Relationship Id="rId2" Type="http://schemas.openxmlformats.org/officeDocument/2006/relationships/hyperlink" Target="https://www.techtarget.com/searchapparchitecture/definition/user-interface-UI" TargetMode="External"/><Relationship Id="rId1" Type="http://schemas.openxmlformats.org/officeDocument/2006/relationships/slideLayout" Target="../slideLayouts/slideLayout2.xml"/><Relationship Id="rId4" Type="http://schemas.openxmlformats.org/officeDocument/2006/relationships/hyperlink" Target="https://www.techtarget.com/searchsoftwarequality/definition/cookie"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techtarget.com/whatis/definition/Web-20-or-Web-2" TargetMode="External"/><Relationship Id="rId3" Type="http://schemas.openxmlformats.org/officeDocument/2006/relationships/hyperlink" Target="https://www.techtarget.com/whatis/definition/Safari" TargetMode="External"/><Relationship Id="rId7" Type="http://schemas.openxmlformats.org/officeDocument/2006/relationships/hyperlink" Target="https://www.techtarget.com/searchmobilecomputing/definition/Opera" TargetMode="External"/><Relationship Id="rId2" Type="http://schemas.openxmlformats.org/officeDocument/2006/relationships/hyperlink" Target="https://www.techtarget.com/whatis/definition/Firefox" TargetMode="External"/><Relationship Id="rId1" Type="http://schemas.openxmlformats.org/officeDocument/2006/relationships/slideLayout" Target="../slideLayouts/slideLayout2.xml"/><Relationship Id="rId6" Type="http://schemas.openxmlformats.org/officeDocument/2006/relationships/hyperlink" Target="https://www.techtarget.com/searchdatacenter/definition/shell" TargetMode="External"/><Relationship Id="rId5" Type="http://schemas.openxmlformats.org/officeDocument/2006/relationships/hyperlink" Target="https://www.techtarget.com/searchdatacenter/definition/Unix" TargetMode="External"/><Relationship Id="rId4" Type="http://schemas.openxmlformats.org/officeDocument/2006/relationships/hyperlink" Target="https://www.techtarget.com/whatis/definition/Apple" TargetMode="External"/><Relationship Id="rId9" Type="http://schemas.openxmlformats.org/officeDocument/2006/relationships/hyperlink" Target="https://www.techtarget.com/whatis/definition/blog"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computerhope.com/jargon/i/internet.htm" TargetMode="External"/><Relationship Id="rId7" Type="http://schemas.openxmlformats.org/officeDocument/2006/relationships/hyperlink" Target="https://www.computerhope.com/jargon/w/website.htm" TargetMode="External"/><Relationship Id="rId2" Type="http://schemas.openxmlformats.org/officeDocument/2006/relationships/hyperlink" Target="https://www.computerhope.com/jargon/u/uri.htm" TargetMode="External"/><Relationship Id="rId1" Type="http://schemas.openxmlformats.org/officeDocument/2006/relationships/slideLayout" Target="../slideLayouts/slideLayout2.xml"/><Relationship Id="rId6" Type="http://schemas.openxmlformats.org/officeDocument/2006/relationships/hyperlink" Target="https://www.computerhope.com/" TargetMode="External"/><Relationship Id="rId5" Type="http://schemas.openxmlformats.org/officeDocument/2006/relationships/hyperlink" Target="https://www.computerhope.com/jargon/w/webpage.htm" TargetMode="External"/><Relationship Id="rId4" Type="http://schemas.openxmlformats.org/officeDocument/2006/relationships/hyperlink" Target="https://www.computerhope.com/jargon/i/intranet.ht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cloudflare.com/learning/dns/what-is-dns/" TargetMode="External"/><Relationship Id="rId2" Type="http://schemas.openxmlformats.org/officeDocument/2006/relationships/hyperlink" Target="https://www.cloudflare.com/learning/dns/glossary/what-is-my-ip-addres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loudflare.com/learning/network-layer/how-does-the-internet-work/" TargetMode="External"/><Relationship Id="rId2" Type="http://schemas.openxmlformats.org/officeDocument/2006/relationships/hyperlink" Target="https://www.cloudflare.com/learning/network-layer/what-is-the-network-lay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700A-2C47-B359-7138-A89750143FFB}"/>
              </a:ext>
            </a:extLst>
          </p:cNvPr>
          <p:cNvSpPr>
            <a:spLocks noGrp="1"/>
          </p:cNvSpPr>
          <p:nvPr>
            <p:ph type="ctrTitle"/>
          </p:nvPr>
        </p:nvSpPr>
        <p:spPr>
          <a:xfrm>
            <a:off x="1524000" y="0"/>
            <a:ext cx="9144000" cy="1883229"/>
          </a:xfrm>
        </p:spPr>
        <p:txBody>
          <a:bodyPr/>
          <a:lstStyle/>
          <a:p>
            <a:r>
              <a:rPr lang="en-IN" b="1" dirty="0">
                <a:solidFill>
                  <a:srgbClr val="323232"/>
                </a:solidFill>
                <a:latin typeface="Arial" panose="020B0604020202020204" pitchFamily="34" charset="0"/>
              </a:rPr>
              <a:t>B</a:t>
            </a:r>
            <a:r>
              <a:rPr lang="en-IN" b="1" i="0" dirty="0">
                <a:solidFill>
                  <a:srgbClr val="323232"/>
                </a:solidFill>
                <a:effectLst/>
                <a:latin typeface="Arial" panose="020B0604020202020204" pitchFamily="34" charset="0"/>
              </a:rPr>
              <a:t>rowser</a:t>
            </a:r>
            <a:br>
              <a:rPr lang="en-IN" b="1" i="0" dirty="0">
                <a:solidFill>
                  <a:srgbClr val="323232"/>
                </a:solidFill>
                <a:effectLst/>
                <a:latin typeface="Arial" panose="020B0604020202020204" pitchFamily="34" charset="0"/>
              </a:rPr>
            </a:br>
            <a:endParaRPr lang="en-US" dirty="0"/>
          </a:p>
        </p:txBody>
      </p:sp>
      <p:sp>
        <p:nvSpPr>
          <p:cNvPr id="3" name="Subtitle 2">
            <a:extLst>
              <a:ext uri="{FF2B5EF4-FFF2-40B4-BE49-F238E27FC236}">
                <a16:creationId xmlns:a16="http://schemas.microsoft.com/office/drawing/2014/main" id="{892D0A70-5D88-2DDE-E0F5-028C5EECC9AD}"/>
              </a:ext>
            </a:extLst>
          </p:cNvPr>
          <p:cNvSpPr>
            <a:spLocks noGrp="1"/>
          </p:cNvSpPr>
          <p:nvPr>
            <p:ph type="subTitle" idx="1"/>
          </p:nvPr>
        </p:nvSpPr>
        <p:spPr>
          <a:xfrm>
            <a:off x="304799" y="1338943"/>
            <a:ext cx="11778343" cy="5061857"/>
          </a:xfrm>
        </p:spPr>
        <p:txBody>
          <a:bodyPr>
            <a:normAutofit/>
          </a:bodyPr>
          <a:lstStyle/>
          <a:p>
            <a:pPr algn="just"/>
            <a:r>
              <a:rPr lang="en-IN" b="0" i="0" dirty="0">
                <a:effectLst/>
                <a:latin typeface="Arial" panose="020B0604020202020204" pitchFamily="34" charset="0"/>
              </a:rPr>
              <a:t>A browser is an </a:t>
            </a:r>
            <a:r>
              <a:rPr lang="en-IN" b="0" i="0" dirty="0">
                <a:effectLst/>
                <a:latin typeface="Arial" panose="020B0604020202020204" pitchFamily="34" charset="0"/>
                <a:hlinkClick r:id="rId2">
                  <a:extLst>
                    <a:ext uri="{A12FA001-AC4F-418D-AE19-62706E023703}">
                      <ahyp:hlinkClr xmlns:ahyp="http://schemas.microsoft.com/office/drawing/2018/hyperlinkcolor" val="tx"/>
                    </a:ext>
                  </a:extLst>
                </a:hlinkClick>
              </a:rPr>
              <a:t>application program</a:t>
            </a:r>
            <a:r>
              <a:rPr lang="en-IN" b="0" i="0" dirty="0">
                <a:effectLst/>
                <a:latin typeface="Arial" panose="020B0604020202020204" pitchFamily="34" charset="0"/>
              </a:rPr>
              <a:t> that provides a way to look at and interact with all the information on the </a:t>
            </a:r>
            <a:r>
              <a:rPr lang="en-IN" b="0" i="0" u="sng" dirty="0">
                <a:effectLst/>
                <a:latin typeface="Arial" panose="020B0604020202020204" pitchFamily="34" charset="0"/>
                <a:hlinkClick r:id="rId3">
                  <a:extLst>
                    <a:ext uri="{A12FA001-AC4F-418D-AE19-62706E023703}">
                      <ahyp:hlinkClr xmlns:ahyp="http://schemas.microsoft.com/office/drawing/2018/hyperlinkcolor" val="tx"/>
                    </a:ext>
                  </a:extLst>
                </a:hlinkClick>
              </a:rPr>
              <a:t>World Wide Web</a:t>
            </a:r>
            <a:r>
              <a:rPr lang="en-IN" b="0" i="0" dirty="0">
                <a:effectLst/>
                <a:latin typeface="Arial" panose="020B0604020202020204" pitchFamily="34" charset="0"/>
              </a:rPr>
              <a:t>. This includes Web pages, videos and images. The word "browser" originated prior to the Web as a generic term for user interfaces that let you browse (navigate through and read) </a:t>
            </a:r>
            <a:r>
              <a:rPr lang="en-IN" b="0" i="0" dirty="0">
                <a:effectLst/>
                <a:latin typeface="Arial" panose="020B0604020202020204" pitchFamily="34" charset="0"/>
                <a:hlinkClick r:id="rId4">
                  <a:extLst>
                    <a:ext uri="{A12FA001-AC4F-418D-AE19-62706E023703}">
                      <ahyp:hlinkClr xmlns:ahyp="http://schemas.microsoft.com/office/drawing/2018/hyperlinkcolor" val="tx"/>
                    </a:ext>
                  </a:extLst>
                </a:hlinkClick>
              </a:rPr>
              <a:t>text</a:t>
            </a:r>
            <a:r>
              <a:rPr lang="en-IN" b="0" i="0" dirty="0">
                <a:effectLst/>
                <a:latin typeface="Arial" panose="020B0604020202020204" pitchFamily="34" charset="0"/>
              </a:rPr>
              <a:t> files online. Many people will use web browsers today for access to the internet and is seen almost as a necessity in how many navigate their daily life </a:t>
            </a:r>
          </a:p>
          <a:p>
            <a:pPr algn="just"/>
            <a:r>
              <a:rPr lang="en-IN" b="0" i="0" dirty="0">
                <a:effectLst/>
                <a:latin typeface="Arial" panose="020B0604020202020204" pitchFamily="34" charset="0"/>
              </a:rPr>
              <a:t>A Web browser is a </a:t>
            </a:r>
            <a:r>
              <a:rPr lang="en-IN" b="0" i="0" dirty="0">
                <a:effectLst/>
                <a:latin typeface="Arial" panose="020B0604020202020204" pitchFamily="34" charset="0"/>
                <a:hlinkClick r:id="rId5">
                  <a:extLst>
                    <a:ext uri="{A12FA001-AC4F-418D-AE19-62706E023703}">
                      <ahyp:hlinkClr xmlns:ahyp="http://schemas.microsoft.com/office/drawing/2018/hyperlinkcolor" val="tx"/>
                    </a:ext>
                  </a:extLst>
                </a:hlinkClick>
              </a:rPr>
              <a:t>client</a:t>
            </a:r>
            <a:r>
              <a:rPr lang="en-IN" b="0" i="0" dirty="0">
                <a:effectLst/>
                <a:latin typeface="Arial" panose="020B0604020202020204" pitchFamily="34" charset="0"/>
              </a:rPr>
              <a:t> program that uses </a:t>
            </a:r>
            <a:r>
              <a:rPr lang="en-IN" b="0" i="0" dirty="0">
                <a:effectLst/>
                <a:latin typeface="Arial" panose="020B0604020202020204" pitchFamily="34" charset="0"/>
                <a:hlinkClick r:id="rId6">
                  <a:extLst>
                    <a:ext uri="{A12FA001-AC4F-418D-AE19-62706E023703}">
                      <ahyp:hlinkClr xmlns:ahyp="http://schemas.microsoft.com/office/drawing/2018/hyperlinkcolor" val="tx"/>
                    </a:ext>
                  </a:extLst>
                </a:hlinkClick>
              </a:rPr>
              <a:t>HTTP</a:t>
            </a:r>
            <a:r>
              <a:rPr lang="en-IN" b="0" i="0" dirty="0">
                <a:effectLst/>
                <a:latin typeface="Arial" panose="020B0604020202020204" pitchFamily="34" charset="0"/>
              </a:rPr>
              <a:t> (Hypertext Transfer Protocol) to make requests of Web </a:t>
            </a:r>
            <a:r>
              <a:rPr lang="en-IN" b="0" i="0" dirty="0">
                <a:effectLst/>
                <a:latin typeface="Arial" panose="020B0604020202020204" pitchFamily="34" charset="0"/>
                <a:hlinkClick r:id="rId7">
                  <a:extLst>
                    <a:ext uri="{A12FA001-AC4F-418D-AE19-62706E023703}">
                      <ahyp:hlinkClr xmlns:ahyp="http://schemas.microsoft.com/office/drawing/2018/hyperlinkcolor" val="tx"/>
                    </a:ext>
                  </a:extLst>
                </a:hlinkClick>
              </a:rPr>
              <a:t>server</a:t>
            </a:r>
            <a:r>
              <a:rPr lang="en-IN" b="0" i="0" dirty="0">
                <a:effectLst/>
                <a:latin typeface="Arial" panose="020B0604020202020204" pitchFamily="34" charset="0"/>
              </a:rPr>
              <a:t>s throughout the Internet on behalf of the browser user. Most browsers support e-mail and the File Transfer Protocol (FTP), but a Web browser is not required for those Internet protocols and more specialized client programs are more popular</a:t>
            </a:r>
            <a:endParaRPr lang="en-US" dirty="0"/>
          </a:p>
        </p:txBody>
      </p:sp>
    </p:spTree>
    <p:extLst>
      <p:ext uri="{BB962C8B-B14F-4D97-AF65-F5344CB8AC3E}">
        <p14:creationId xmlns:p14="http://schemas.microsoft.com/office/powerpoint/2010/main" val="698024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7E53D-6456-A96E-517F-CD869ECE0676}"/>
              </a:ext>
            </a:extLst>
          </p:cNvPr>
          <p:cNvSpPr>
            <a:spLocks noGrp="1"/>
          </p:cNvSpPr>
          <p:nvPr>
            <p:ph type="title"/>
          </p:nvPr>
        </p:nvSpPr>
        <p:spPr>
          <a:xfrm>
            <a:off x="174171" y="1"/>
            <a:ext cx="11179629" cy="1690688"/>
          </a:xfrm>
        </p:spPr>
        <p:txBody>
          <a:bodyPr/>
          <a:lstStyle/>
          <a:p>
            <a:pPr algn="ctr"/>
            <a:r>
              <a:rPr lang="en-IN" b="1" i="0" dirty="0">
                <a:solidFill>
                  <a:srgbClr val="323232"/>
                </a:solidFill>
                <a:effectLst/>
                <a:latin typeface="Arial" panose="020B0604020202020204" pitchFamily="34" charset="0"/>
              </a:rPr>
              <a:t>Web browser history</a:t>
            </a:r>
            <a:br>
              <a:rPr lang="en-IN" b="1" i="0" dirty="0">
                <a:solidFill>
                  <a:srgbClr val="323232"/>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F0925A5C-D719-D8A9-0568-4D4E2F404222}"/>
              </a:ext>
            </a:extLst>
          </p:cNvPr>
          <p:cNvSpPr>
            <a:spLocks noGrp="1"/>
          </p:cNvSpPr>
          <p:nvPr>
            <p:ph idx="1"/>
          </p:nvPr>
        </p:nvSpPr>
        <p:spPr>
          <a:xfrm>
            <a:off x="174171" y="1393371"/>
            <a:ext cx="11723915" cy="4783592"/>
          </a:xfrm>
        </p:spPr>
        <p:txBody>
          <a:bodyPr/>
          <a:lstStyle/>
          <a:p>
            <a:pPr algn="just"/>
            <a:r>
              <a:rPr lang="en-IN" b="0" i="0" dirty="0">
                <a:effectLst/>
                <a:latin typeface="Arial" panose="020B0604020202020204" pitchFamily="34" charset="0"/>
              </a:rPr>
              <a:t>The first Web browser, called </a:t>
            </a:r>
            <a:r>
              <a:rPr lang="en-IN" b="0" i="0" dirty="0" err="1">
                <a:effectLst/>
                <a:latin typeface="Arial" panose="020B0604020202020204" pitchFamily="34" charset="0"/>
              </a:rPr>
              <a:t>WorldWideWeb</a:t>
            </a:r>
            <a:r>
              <a:rPr lang="en-IN" b="0" i="0" dirty="0">
                <a:effectLst/>
                <a:latin typeface="Arial" panose="020B0604020202020204" pitchFamily="34" charset="0"/>
              </a:rPr>
              <a:t>, was created in 1990. That browser's name was changed to Nexus to avoid confusion with the developing information space known as the World Wide Web. The first Web browser with a </a:t>
            </a:r>
            <a:r>
              <a:rPr lang="en-IN" b="0" i="0" u="sng" dirty="0">
                <a:effectLst/>
                <a:latin typeface="Arial" panose="020B0604020202020204" pitchFamily="34" charset="0"/>
                <a:hlinkClick r:id="rId2">
                  <a:extLst>
                    <a:ext uri="{A12FA001-AC4F-418D-AE19-62706E023703}">
                      <ahyp:hlinkClr xmlns:ahyp="http://schemas.microsoft.com/office/drawing/2018/hyperlinkcolor" val="tx"/>
                    </a:ext>
                  </a:extLst>
                </a:hlinkClick>
              </a:rPr>
              <a:t>graphical user interface</a:t>
            </a:r>
            <a:r>
              <a:rPr lang="en-IN" b="0" i="0" dirty="0">
                <a:effectLst/>
                <a:latin typeface="Arial" panose="020B0604020202020204" pitchFamily="34" charset="0"/>
              </a:rPr>
              <a:t> was Mosaic, which appeared in 1993. Many of the user interface features in Mosaic went into Netscape Navigator. Microsoft followed with its </a:t>
            </a:r>
            <a:r>
              <a:rPr lang="en-IN" b="0" i="0" u="sng" dirty="0">
                <a:effectLst/>
                <a:latin typeface="Arial" panose="020B0604020202020204" pitchFamily="34" charset="0"/>
                <a:hlinkClick r:id="rId3">
                  <a:extLst>
                    <a:ext uri="{A12FA001-AC4F-418D-AE19-62706E023703}">
                      <ahyp:hlinkClr xmlns:ahyp="http://schemas.microsoft.com/office/drawing/2018/hyperlinkcolor" val="tx"/>
                    </a:ext>
                  </a:extLst>
                </a:hlinkClick>
              </a:rPr>
              <a:t>Internet Explorer</a:t>
            </a:r>
            <a:r>
              <a:rPr lang="en-IN" b="0" i="0" dirty="0">
                <a:effectLst/>
                <a:latin typeface="Arial" panose="020B0604020202020204" pitchFamily="34" charset="0"/>
              </a:rPr>
              <a:t> (IE).</a:t>
            </a:r>
            <a:endParaRPr lang="en-US" dirty="0"/>
          </a:p>
        </p:txBody>
      </p:sp>
    </p:spTree>
    <p:extLst>
      <p:ext uri="{BB962C8B-B14F-4D97-AF65-F5344CB8AC3E}">
        <p14:creationId xmlns:p14="http://schemas.microsoft.com/office/powerpoint/2010/main" val="1104161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2ABDF-D6DE-3BFF-9AD6-65D1AF973C2B}"/>
              </a:ext>
            </a:extLst>
          </p:cNvPr>
          <p:cNvSpPr>
            <a:spLocks noGrp="1"/>
          </p:cNvSpPr>
          <p:nvPr>
            <p:ph type="title"/>
          </p:nvPr>
        </p:nvSpPr>
        <p:spPr>
          <a:xfrm>
            <a:off x="838200" y="1"/>
            <a:ext cx="10515600" cy="1690688"/>
          </a:xfrm>
        </p:spPr>
        <p:txBody>
          <a:bodyPr/>
          <a:lstStyle/>
          <a:p>
            <a:pPr algn="ctr"/>
            <a:r>
              <a:rPr lang="en-IN" b="1" i="0" dirty="0">
                <a:solidFill>
                  <a:srgbClr val="323232"/>
                </a:solidFill>
                <a:effectLst/>
                <a:latin typeface="Arial" panose="020B0604020202020204" pitchFamily="34" charset="0"/>
              </a:rPr>
              <a:t>How a Web browser works</a:t>
            </a:r>
            <a:br>
              <a:rPr lang="en-IN" b="1" i="0" dirty="0">
                <a:solidFill>
                  <a:srgbClr val="323232"/>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AEDC580F-1BA2-A3A0-4B26-23F353FF048D}"/>
              </a:ext>
            </a:extLst>
          </p:cNvPr>
          <p:cNvSpPr>
            <a:spLocks noGrp="1"/>
          </p:cNvSpPr>
          <p:nvPr>
            <p:ph idx="1"/>
          </p:nvPr>
        </p:nvSpPr>
        <p:spPr>
          <a:xfrm>
            <a:off x="163287" y="772886"/>
            <a:ext cx="11898084" cy="6085113"/>
          </a:xfrm>
        </p:spPr>
        <p:txBody>
          <a:bodyPr>
            <a:normAutofit lnSpcReduction="10000"/>
          </a:bodyPr>
          <a:lstStyle/>
          <a:p>
            <a:pPr algn="just"/>
            <a:r>
              <a:rPr lang="en-IN" b="0" i="0" dirty="0">
                <a:solidFill>
                  <a:srgbClr val="666666"/>
                </a:solidFill>
                <a:effectLst/>
                <a:latin typeface="Arial" panose="020B0604020202020204" pitchFamily="34" charset="0"/>
              </a:rPr>
              <a:t>Web browsers work as part of a client/server model. The client is the browser which runs on the user’s device and makes requests to the Web server, while the server-side is the Web server which sends information back to the browser. The browser then interprets and displays the information on the user’s device.</a:t>
            </a:r>
          </a:p>
          <a:p>
            <a:pPr algn="just"/>
            <a:r>
              <a:rPr lang="en-IN" dirty="0">
                <a:solidFill>
                  <a:srgbClr val="666666"/>
                </a:solidFill>
                <a:effectLst/>
              </a:rPr>
              <a:t>Web browsers are normally made up of a number of interworking parts. This includes the user interface (</a:t>
            </a:r>
            <a:r>
              <a:rPr lang="en-IN" u="sng" dirty="0">
                <a:solidFill>
                  <a:srgbClr val="007CAD"/>
                </a:solidFill>
                <a:effectLst/>
                <a:hlinkClick r:id="rId2"/>
              </a:rPr>
              <a:t>UI</a:t>
            </a:r>
            <a:r>
              <a:rPr lang="en-IN" dirty="0">
                <a:solidFill>
                  <a:srgbClr val="666666"/>
                </a:solidFill>
                <a:effectLst/>
              </a:rPr>
              <a:t>), which is the level in which the user interacts with the browser. The browser engine is what queries the rendering engine, and the rendering engine is what renders the requested web page—interpreting the HTML or XML documents. Networking is what handles internet security and communication. A </a:t>
            </a:r>
            <a:r>
              <a:rPr lang="en-IN" u="sng" dirty="0">
                <a:solidFill>
                  <a:srgbClr val="007CAD"/>
                </a:solidFill>
                <a:effectLst/>
                <a:hlinkClick r:id="rId3"/>
              </a:rPr>
              <a:t>JavaScript</a:t>
            </a:r>
            <a:r>
              <a:rPr lang="en-IN" dirty="0">
                <a:solidFill>
                  <a:srgbClr val="666666"/>
                </a:solidFill>
                <a:effectLst/>
              </a:rPr>
              <a:t> interpreter is used to interpret and execute JavaScript code in a Website. The UI backend is used to make widgets such as windows. Additionally, a persistence layer, called data persistence or storage, manages data such as bookmarks, caches and </a:t>
            </a:r>
            <a:r>
              <a:rPr lang="en-IN" u="sng" dirty="0">
                <a:solidFill>
                  <a:srgbClr val="007CAD"/>
                </a:solidFill>
                <a:effectLst/>
                <a:hlinkClick r:id="rId4"/>
              </a:rPr>
              <a:t>cookies</a:t>
            </a:r>
            <a:r>
              <a:rPr lang="en-IN" dirty="0">
                <a:solidFill>
                  <a:srgbClr val="666666"/>
                </a:solidFill>
                <a:effectLst/>
              </a:rPr>
              <a:t>.</a:t>
            </a:r>
          </a:p>
          <a:p>
            <a:pPr marL="0" indent="0">
              <a:buNone/>
            </a:pPr>
            <a:br>
              <a:rPr lang="en-IN" dirty="0"/>
            </a:br>
            <a:endParaRPr lang="en-US" dirty="0"/>
          </a:p>
        </p:txBody>
      </p:sp>
    </p:spTree>
    <p:extLst>
      <p:ext uri="{BB962C8B-B14F-4D97-AF65-F5344CB8AC3E}">
        <p14:creationId xmlns:p14="http://schemas.microsoft.com/office/powerpoint/2010/main" val="1853724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83175-19F6-A1BE-ABD4-42D28FDB9843}"/>
              </a:ext>
            </a:extLst>
          </p:cNvPr>
          <p:cNvSpPr>
            <a:spLocks noGrp="1"/>
          </p:cNvSpPr>
          <p:nvPr>
            <p:ph type="title"/>
          </p:nvPr>
        </p:nvSpPr>
        <p:spPr/>
        <p:txBody>
          <a:bodyPr/>
          <a:lstStyle/>
          <a:p>
            <a:pPr algn="ctr"/>
            <a:r>
              <a:rPr lang="en-IN" b="1" i="0" dirty="0">
                <a:solidFill>
                  <a:srgbClr val="323232"/>
                </a:solidFill>
                <a:effectLst/>
                <a:latin typeface="Arial" panose="020B0604020202020204" pitchFamily="34" charset="0"/>
              </a:rPr>
              <a:t>Popular web browsers</a:t>
            </a:r>
            <a:br>
              <a:rPr lang="en-IN" b="1" i="0" dirty="0">
                <a:solidFill>
                  <a:srgbClr val="323232"/>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CF72FDDC-E6C5-F472-2EEA-C063C010A5D7}"/>
              </a:ext>
            </a:extLst>
          </p:cNvPr>
          <p:cNvSpPr>
            <a:spLocks noGrp="1"/>
          </p:cNvSpPr>
          <p:nvPr>
            <p:ph idx="1"/>
          </p:nvPr>
        </p:nvSpPr>
        <p:spPr>
          <a:xfrm>
            <a:off x="391887" y="1825625"/>
            <a:ext cx="11702142" cy="4351338"/>
          </a:xfrm>
        </p:spPr>
        <p:txBody>
          <a:bodyPr>
            <a:normAutofit fontScale="85000" lnSpcReduction="20000"/>
          </a:bodyPr>
          <a:lstStyle/>
          <a:p>
            <a:pPr algn="just"/>
            <a:r>
              <a:rPr lang="en-IN" b="0" i="0" dirty="0">
                <a:solidFill>
                  <a:srgbClr val="666666"/>
                </a:solidFill>
                <a:effectLst/>
                <a:latin typeface="Arial" panose="020B0604020202020204" pitchFamily="34" charset="0"/>
              </a:rPr>
              <a:t>Google Chrome is currently one of the most commonly used browsers. Other browsers include:</a:t>
            </a:r>
          </a:p>
          <a:p>
            <a:pPr algn="just">
              <a:buFont typeface="Arial" panose="020B0604020202020204" pitchFamily="34" charset="0"/>
              <a:buChar char="•"/>
            </a:pPr>
            <a:r>
              <a:rPr lang="en-IN" b="0" i="0" u="sng" dirty="0">
                <a:solidFill>
                  <a:srgbClr val="007CAD"/>
                </a:solidFill>
                <a:effectLst/>
                <a:latin typeface="Arial" panose="020B0604020202020204" pitchFamily="34" charset="0"/>
                <a:hlinkClick r:id="rId2"/>
              </a:rPr>
              <a:t>Firefox</a:t>
            </a:r>
            <a:r>
              <a:rPr lang="en-IN" b="0" i="0" dirty="0">
                <a:solidFill>
                  <a:srgbClr val="666666"/>
                </a:solidFill>
                <a:effectLst/>
                <a:latin typeface="Arial" panose="020B0604020202020204" pitchFamily="34" charset="0"/>
              </a:rPr>
              <a:t>- which was developed by Mozilla.</a:t>
            </a:r>
          </a:p>
          <a:p>
            <a:pPr algn="just">
              <a:buFont typeface="Arial" panose="020B0604020202020204" pitchFamily="34" charset="0"/>
              <a:buChar char="•"/>
            </a:pPr>
            <a:r>
              <a:rPr lang="en-IN" b="0" i="0" dirty="0">
                <a:solidFill>
                  <a:srgbClr val="666666"/>
                </a:solidFill>
                <a:effectLst/>
                <a:latin typeface="Arial" panose="020B0604020202020204" pitchFamily="34" charset="0"/>
              </a:rPr>
              <a:t>Microsoft Edge- used a replacement for Internet Explorer, with Windows 10.</a:t>
            </a:r>
          </a:p>
          <a:p>
            <a:pPr algn="just">
              <a:buFont typeface="Arial" panose="020B0604020202020204" pitchFamily="34" charset="0"/>
              <a:buChar char="•"/>
            </a:pPr>
            <a:r>
              <a:rPr lang="en-IN" b="0" i="0" dirty="0">
                <a:solidFill>
                  <a:srgbClr val="666666"/>
                </a:solidFill>
                <a:effectLst/>
                <a:latin typeface="Arial" panose="020B0604020202020204" pitchFamily="34" charset="0"/>
              </a:rPr>
              <a:t>Internet explorer- relegated to the past, Microsoft has mostly replaced Internet Explorer with Edge.</a:t>
            </a:r>
          </a:p>
          <a:p>
            <a:pPr algn="just">
              <a:buFont typeface="Arial" panose="020B0604020202020204" pitchFamily="34" charset="0"/>
              <a:buChar char="•"/>
            </a:pPr>
            <a:r>
              <a:rPr lang="en-IN" b="0" i="0" u="sng" dirty="0">
                <a:solidFill>
                  <a:srgbClr val="007CAD"/>
                </a:solidFill>
                <a:effectLst/>
                <a:latin typeface="Arial" panose="020B0604020202020204" pitchFamily="34" charset="0"/>
                <a:hlinkClick r:id="rId3"/>
              </a:rPr>
              <a:t>Safari</a:t>
            </a:r>
            <a:r>
              <a:rPr lang="en-IN" b="0" i="0" dirty="0">
                <a:solidFill>
                  <a:srgbClr val="666666"/>
                </a:solidFill>
                <a:effectLst/>
                <a:latin typeface="Arial" panose="020B0604020202020204" pitchFamily="34" charset="0"/>
              </a:rPr>
              <a:t>- a browser for </a:t>
            </a:r>
            <a:r>
              <a:rPr lang="en-IN" b="0" i="0" u="sng" dirty="0">
                <a:solidFill>
                  <a:srgbClr val="007CAD"/>
                </a:solidFill>
                <a:effectLst/>
                <a:latin typeface="Arial" panose="020B0604020202020204" pitchFamily="34" charset="0"/>
                <a:hlinkClick r:id="rId4"/>
              </a:rPr>
              <a:t>Apple</a:t>
            </a:r>
            <a:r>
              <a:rPr lang="en-IN" b="0" i="0" dirty="0">
                <a:solidFill>
                  <a:srgbClr val="666666"/>
                </a:solidFill>
                <a:effectLst/>
                <a:latin typeface="Arial" panose="020B0604020202020204" pitchFamily="34" charset="0"/>
              </a:rPr>
              <a:t> computers and mobile devices.</a:t>
            </a:r>
          </a:p>
          <a:p>
            <a:pPr algn="just">
              <a:buFont typeface="Arial" panose="020B0604020202020204" pitchFamily="34" charset="0"/>
              <a:buChar char="•"/>
            </a:pPr>
            <a:r>
              <a:rPr lang="en-IN" b="0" i="0" dirty="0">
                <a:solidFill>
                  <a:srgbClr val="666666"/>
                </a:solidFill>
                <a:effectLst/>
                <a:latin typeface="Arial" panose="020B0604020202020204" pitchFamily="34" charset="0"/>
              </a:rPr>
              <a:t>Lynx- a text-only browser for </a:t>
            </a:r>
            <a:r>
              <a:rPr lang="en-IN" b="0" i="0" u="sng" dirty="0">
                <a:solidFill>
                  <a:srgbClr val="007CAD"/>
                </a:solidFill>
                <a:effectLst/>
                <a:latin typeface="Arial" panose="020B0604020202020204" pitchFamily="34" charset="0"/>
                <a:hlinkClick r:id="rId5"/>
              </a:rPr>
              <a:t>UNIX</a:t>
            </a:r>
            <a:r>
              <a:rPr lang="en-IN" b="0" i="0" dirty="0">
                <a:solidFill>
                  <a:srgbClr val="666666"/>
                </a:solidFill>
                <a:effectLst/>
                <a:latin typeface="Arial" panose="020B0604020202020204" pitchFamily="34" charset="0"/>
              </a:rPr>
              <a:t> </a:t>
            </a:r>
            <a:r>
              <a:rPr lang="en-IN" b="0" i="0" u="sng" dirty="0">
                <a:solidFill>
                  <a:srgbClr val="007CAD"/>
                </a:solidFill>
                <a:effectLst/>
                <a:latin typeface="Arial" panose="020B0604020202020204" pitchFamily="34" charset="0"/>
                <a:hlinkClick r:id="rId6"/>
              </a:rPr>
              <a:t>shell</a:t>
            </a:r>
            <a:r>
              <a:rPr lang="en-IN" b="0" i="0" dirty="0">
                <a:solidFill>
                  <a:srgbClr val="666666"/>
                </a:solidFill>
                <a:effectLst/>
                <a:latin typeface="Arial" panose="020B0604020202020204" pitchFamily="34" charset="0"/>
              </a:rPr>
              <a:t> and VMS users.</a:t>
            </a:r>
          </a:p>
          <a:p>
            <a:pPr algn="just">
              <a:buFont typeface="Arial" panose="020B0604020202020204" pitchFamily="34" charset="0"/>
              <a:buChar char="•"/>
            </a:pPr>
            <a:r>
              <a:rPr lang="en-IN" b="0" i="0" u="sng" dirty="0">
                <a:solidFill>
                  <a:srgbClr val="007CAD"/>
                </a:solidFill>
                <a:effectLst/>
                <a:latin typeface="Arial" panose="020B0604020202020204" pitchFamily="34" charset="0"/>
                <a:hlinkClick r:id="rId7"/>
              </a:rPr>
              <a:t>Opera</a:t>
            </a:r>
            <a:r>
              <a:rPr lang="en-IN" b="0" i="0" dirty="0">
                <a:solidFill>
                  <a:srgbClr val="666666"/>
                </a:solidFill>
                <a:effectLst/>
                <a:latin typeface="Arial" panose="020B0604020202020204" pitchFamily="34" charset="0"/>
              </a:rPr>
              <a:t>- a fast and stable browser that's compatible with most relatively operating systems.</a:t>
            </a:r>
          </a:p>
          <a:p>
            <a:pPr algn="just">
              <a:buFont typeface="Arial" panose="020B0604020202020204" pitchFamily="34" charset="0"/>
              <a:buChar char="•"/>
            </a:pPr>
            <a:r>
              <a:rPr lang="en-IN" b="0" i="0" dirty="0">
                <a:solidFill>
                  <a:srgbClr val="666666"/>
                </a:solidFill>
                <a:effectLst/>
                <a:latin typeface="Arial" panose="020B0604020202020204" pitchFamily="34" charset="0"/>
              </a:rPr>
              <a:t>Flock- an open source browser based on Firefox and optimized for </a:t>
            </a:r>
            <a:r>
              <a:rPr lang="en-IN" b="0" i="0" u="sng" dirty="0">
                <a:solidFill>
                  <a:srgbClr val="007CAD"/>
                </a:solidFill>
                <a:effectLst/>
                <a:latin typeface="Arial" panose="020B0604020202020204" pitchFamily="34" charset="0"/>
                <a:hlinkClick r:id="rId8"/>
              </a:rPr>
              <a:t>Web 2.0</a:t>
            </a:r>
            <a:r>
              <a:rPr lang="en-IN" b="0" i="0" dirty="0">
                <a:solidFill>
                  <a:srgbClr val="666666"/>
                </a:solidFill>
                <a:effectLst/>
                <a:latin typeface="Arial" panose="020B0604020202020204" pitchFamily="34" charset="0"/>
              </a:rPr>
              <a:t> features such as </a:t>
            </a:r>
            <a:r>
              <a:rPr lang="en-IN" b="0" i="0" u="sng" dirty="0">
                <a:solidFill>
                  <a:srgbClr val="007CAD"/>
                </a:solidFill>
                <a:effectLst/>
                <a:latin typeface="Arial" panose="020B0604020202020204" pitchFamily="34" charset="0"/>
                <a:hlinkClick r:id="rId9"/>
              </a:rPr>
              <a:t>blogging</a:t>
            </a:r>
            <a:r>
              <a:rPr lang="en-IN" b="0" i="0" dirty="0">
                <a:solidFill>
                  <a:srgbClr val="666666"/>
                </a:solidFill>
                <a:effectLst/>
                <a:latin typeface="Arial" panose="020B0604020202020204" pitchFamily="34" charset="0"/>
              </a:rPr>
              <a:t> and Social bookmarking.</a:t>
            </a:r>
          </a:p>
          <a:p>
            <a:endParaRPr lang="en-US" dirty="0"/>
          </a:p>
        </p:txBody>
      </p:sp>
    </p:spTree>
    <p:extLst>
      <p:ext uri="{BB962C8B-B14F-4D97-AF65-F5344CB8AC3E}">
        <p14:creationId xmlns:p14="http://schemas.microsoft.com/office/powerpoint/2010/main" val="3497730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D9A82-6364-C16B-AAD7-96DEBBAC62A1}"/>
              </a:ext>
            </a:extLst>
          </p:cNvPr>
          <p:cNvSpPr>
            <a:spLocks noGrp="1"/>
          </p:cNvSpPr>
          <p:nvPr>
            <p:ph type="title"/>
          </p:nvPr>
        </p:nvSpPr>
        <p:spPr/>
        <p:txBody>
          <a:bodyPr/>
          <a:lstStyle/>
          <a:p>
            <a:pPr algn="ctr"/>
            <a:r>
              <a:rPr lang="en-IN" b="0" i="0" dirty="0">
                <a:solidFill>
                  <a:srgbClr val="610B38"/>
                </a:solidFill>
                <a:effectLst/>
                <a:latin typeface="erdana"/>
              </a:rPr>
              <a:t>Web Servers</a:t>
            </a:r>
            <a:br>
              <a:rPr lang="en-IN" b="0" i="0" dirty="0">
                <a:solidFill>
                  <a:srgbClr val="610B38"/>
                </a:solidFill>
                <a:effectLst/>
                <a:latin typeface="erdana"/>
              </a:rPr>
            </a:br>
            <a:endParaRPr lang="en-US" dirty="0"/>
          </a:p>
        </p:txBody>
      </p:sp>
      <p:sp>
        <p:nvSpPr>
          <p:cNvPr id="3" name="Content Placeholder 2">
            <a:extLst>
              <a:ext uri="{FF2B5EF4-FFF2-40B4-BE49-F238E27FC236}">
                <a16:creationId xmlns:a16="http://schemas.microsoft.com/office/drawing/2014/main" id="{ACB04097-69EA-0BDF-1C09-0BF3FD5B7467}"/>
              </a:ext>
            </a:extLst>
          </p:cNvPr>
          <p:cNvSpPr>
            <a:spLocks noGrp="1"/>
          </p:cNvSpPr>
          <p:nvPr>
            <p:ph idx="1"/>
          </p:nvPr>
        </p:nvSpPr>
        <p:spPr>
          <a:xfrm>
            <a:off x="228600" y="968829"/>
            <a:ext cx="11125200" cy="3015342"/>
          </a:xfrm>
        </p:spPr>
        <p:txBody>
          <a:bodyPr/>
          <a:lstStyle/>
          <a:p>
            <a:pPr algn="just"/>
            <a:r>
              <a:rPr lang="en-IN" b="0" i="0" dirty="0">
                <a:solidFill>
                  <a:srgbClr val="333333"/>
                </a:solidFill>
                <a:effectLst/>
                <a:latin typeface="inter-regular"/>
              </a:rPr>
              <a:t>Web pages are a collection of data, including images, text files, hyperlinks, database files etc., all located on some computer (also known as server space) on the Internet. A web server is dedicated software that runs on the server-side. When any user requests their web browser to run any web page, the webserver places all the data materials together into an organized web page and forwards them back to the web browser with the help of the Internet</a:t>
            </a:r>
            <a:endParaRPr lang="en-US" dirty="0"/>
          </a:p>
        </p:txBody>
      </p:sp>
      <p:pic>
        <p:nvPicPr>
          <p:cNvPr id="4" name="Picture 3">
            <a:extLst>
              <a:ext uri="{FF2B5EF4-FFF2-40B4-BE49-F238E27FC236}">
                <a16:creationId xmlns:a16="http://schemas.microsoft.com/office/drawing/2014/main" id="{0587F455-309D-434B-1EFF-0E4F5E9B7DFE}"/>
              </a:ext>
            </a:extLst>
          </p:cNvPr>
          <p:cNvPicPr>
            <a:picLocks noChangeAspect="1"/>
          </p:cNvPicPr>
          <p:nvPr/>
        </p:nvPicPr>
        <p:blipFill>
          <a:blip r:embed="rId2"/>
          <a:stretch>
            <a:fillRect/>
          </a:stretch>
        </p:blipFill>
        <p:spPr>
          <a:xfrm>
            <a:off x="-76200" y="3984171"/>
            <a:ext cx="11908972" cy="2066819"/>
          </a:xfrm>
          <a:prstGeom prst="rect">
            <a:avLst/>
          </a:prstGeom>
        </p:spPr>
      </p:pic>
    </p:spTree>
    <p:extLst>
      <p:ext uri="{BB962C8B-B14F-4D97-AF65-F5344CB8AC3E}">
        <p14:creationId xmlns:p14="http://schemas.microsoft.com/office/powerpoint/2010/main" val="2572334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945BE-B53F-06F5-C34B-2640E529C4AE}"/>
              </a:ext>
            </a:extLst>
          </p:cNvPr>
          <p:cNvSpPr>
            <a:spLocks noGrp="1"/>
          </p:cNvSpPr>
          <p:nvPr>
            <p:ph type="title"/>
          </p:nvPr>
        </p:nvSpPr>
        <p:spPr>
          <a:xfrm>
            <a:off x="838200" y="1"/>
            <a:ext cx="10515600" cy="1056548"/>
          </a:xfrm>
        </p:spPr>
        <p:txBody>
          <a:bodyPr>
            <a:normAutofit fontScale="90000"/>
          </a:bodyPr>
          <a:lstStyle/>
          <a:p>
            <a:pPr algn="ctr"/>
            <a:r>
              <a:rPr lang="en-IN" b="0" i="0" dirty="0">
                <a:solidFill>
                  <a:srgbClr val="610B38"/>
                </a:solidFill>
                <a:effectLst/>
                <a:latin typeface="erdana"/>
              </a:rPr>
              <a:t>How do web servers work</a:t>
            </a:r>
            <a:br>
              <a:rPr lang="en-IN" b="0" i="0" dirty="0">
                <a:solidFill>
                  <a:srgbClr val="610B38"/>
                </a:solidFill>
                <a:effectLst/>
                <a:latin typeface="erdana"/>
              </a:rPr>
            </a:br>
            <a:endParaRPr lang="en-US" dirty="0"/>
          </a:p>
        </p:txBody>
      </p:sp>
      <p:sp>
        <p:nvSpPr>
          <p:cNvPr id="3" name="Content Placeholder 2">
            <a:extLst>
              <a:ext uri="{FF2B5EF4-FFF2-40B4-BE49-F238E27FC236}">
                <a16:creationId xmlns:a16="http://schemas.microsoft.com/office/drawing/2014/main" id="{AD497794-7182-4103-73D2-6CF1E3855701}"/>
              </a:ext>
            </a:extLst>
          </p:cNvPr>
          <p:cNvSpPr>
            <a:spLocks noGrp="1"/>
          </p:cNvSpPr>
          <p:nvPr>
            <p:ph idx="1"/>
          </p:nvPr>
        </p:nvSpPr>
        <p:spPr>
          <a:xfrm>
            <a:off x="838200" y="489857"/>
            <a:ext cx="10515600" cy="6003018"/>
          </a:xfrm>
        </p:spPr>
        <p:txBody>
          <a:bodyPr/>
          <a:lstStyle/>
          <a:p>
            <a:pPr algn="just">
              <a:buFont typeface="+mj-lt"/>
              <a:buAutoNum type="arabicPeriod"/>
            </a:pPr>
            <a:r>
              <a:rPr lang="en-IN" b="1" i="1" dirty="0">
                <a:solidFill>
                  <a:srgbClr val="000000"/>
                </a:solidFill>
                <a:effectLst/>
                <a:latin typeface="inter-bold"/>
              </a:rPr>
              <a:t>On the hardware side</a:t>
            </a:r>
            <a:r>
              <a:rPr lang="en-IN" b="0" i="0" dirty="0">
                <a:solidFill>
                  <a:srgbClr val="000000"/>
                </a:solidFill>
                <a:effectLst/>
                <a:latin typeface="inter-regular"/>
              </a:rPr>
              <a:t>, a web server is defined as a computer that stores software and another website raw data, such as HTML files, images, text documents, and JavaScript files. The hardware of the web servers are connected to the web and supports the data exchange with different devices connected to the Internet.</a:t>
            </a:r>
          </a:p>
          <a:p>
            <a:pPr algn="just">
              <a:buFont typeface="+mj-lt"/>
              <a:buAutoNum type="arabicPeriod"/>
            </a:pPr>
            <a:r>
              <a:rPr lang="en-IN" b="1" i="1" dirty="0">
                <a:solidFill>
                  <a:srgbClr val="000000"/>
                </a:solidFill>
                <a:effectLst/>
                <a:latin typeface="inter-bold"/>
              </a:rPr>
              <a:t>On the software side</a:t>
            </a:r>
            <a:r>
              <a:rPr lang="en-IN" b="0" i="0" dirty="0">
                <a:solidFill>
                  <a:srgbClr val="000000"/>
                </a:solidFill>
                <a:effectLst/>
                <a:latin typeface="inter-regular"/>
              </a:rPr>
              <a:t>, a web server includes server software accessed through website domain names. It controls how web users access the web files and ensures the supply of website content to the end-user. The web server contains several components, including an HTTP server</a:t>
            </a:r>
          </a:p>
          <a:p>
            <a:endParaRPr lang="en-US" dirty="0"/>
          </a:p>
        </p:txBody>
      </p:sp>
      <p:pic>
        <p:nvPicPr>
          <p:cNvPr id="4" name="Picture 3">
            <a:extLst>
              <a:ext uri="{FF2B5EF4-FFF2-40B4-BE49-F238E27FC236}">
                <a16:creationId xmlns:a16="http://schemas.microsoft.com/office/drawing/2014/main" id="{1C472089-79DC-F97E-D451-1B2490080480}"/>
              </a:ext>
            </a:extLst>
          </p:cNvPr>
          <p:cNvPicPr>
            <a:picLocks noChangeAspect="1"/>
          </p:cNvPicPr>
          <p:nvPr/>
        </p:nvPicPr>
        <p:blipFill>
          <a:blip r:embed="rId2"/>
          <a:stretch>
            <a:fillRect/>
          </a:stretch>
        </p:blipFill>
        <p:spPr>
          <a:xfrm>
            <a:off x="2478314" y="4169228"/>
            <a:ext cx="7235371" cy="2449286"/>
          </a:xfrm>
          <a:prstGeom prst="rect">
            <a:avLst/>
          </a:prstGeom>
        </p:spPr>
      </p:pic>
    </p:spTree>
    <p:extLst>
      <p:ext uri="{BB962C8B-B14F-4D97-AF65-F5344CB8AC3E}">
        <p14:creationId xmlns:p14="http://schemas.microsoft.com/office/powerpoint/2010/main" val="293868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FF0A-0D16-13BA-4E86-73706E38CF0A}"/>
              </a:ext>
            </a:extLst>
          </p:cNvPr>
          <p:cNvSpPr>
            <a:spLocks noGrp="1"/>
          </p:cNvSpPr>
          <p:nvPr>
            <p:ph type="title"/>
          </p:nvPr>
        </p:nvSpPr>
        <p:spPr/>
        <p:txBody>
          <a:bodyPr/>
          <a:lstStyle/>
          <a:p>
            <a:pPr algn="ctr"/>
            <a:r>
              <a:rPr lang="en-IN" b="1" i="0" dirty="0">
                <a:solidFill>
                  <a:srgbClr val="323232"/>
                </a:solidFill>
                <a:effectLst/>
                <a:latin typeface="Arial" panose="020B0604020202020204" pitchFamily="34" charset="0"/>
              </a:rPr>
              <a:t>URL (Uniform Resource Locator)</a:t>
            </a:r>
            <a:br>
              <a:rPr lang="en-IN" b="1" i="0" dirty="0">
                <a:solidFill>
                  <a:srgbClr val="323232"/>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2EB35E52-0B2C-C6F6-D6E2-12500250933E}"/>
              </a:ext>
            </a:extLst>
          </p:cNvPr>
          <p:cNvSpPr>
            <a:spLocks noGrp="1"/>
          </p:cNvSpPr>
          <p:nvPr>
            <p:ph idx="1"/>
          </p:nvPr>
        </p:nvSpPr>
        <p:spPr>
          <a:xfrm>
            <a:off x="838200" y="1413192"/>
            <a:ext cx="10515600" cy="5444808"/>
          </a:xfrm>
        </p:spPr>
        <p:txBody>
          <a:bodyPr/>
          <a:lstStyle/>
          <a:p>
            <a:pPr algn="just"/>
            <a:r>
              <a:rPr lang="en-IN" b="0" i="0" dirty="0">
                <a:effectLst/>
                <a:latin typeface="Verdana" panose="020B0604030504040204" pitchFamily="34" charset="0"/>
              </a:rPr>
              <a:t>Also known as an </a:t>
            </a:r>
            <a:r>
              <a:rPr lang="en-IN" b="1" i="0" dirty="0">
                <a:effectLst/>
                <a:latin typeface="Verdana" panose="020B0604030504040204" pitchFamily="34" charset="0"/>
              </a:rPr>
              <a:t>internet address</a:t>
            </a:r>
            <a:r>
              <a:rPr lang="en-IN" b="0" i="0" dirty="0">
                <a:effectLst/>
                <a:latin typeface="Verdana" panose="020B0604030504040204" pitchFamily="34" charset="0"/>
              </a:rPr>
              <a:t> or </a:t>
            </a:r>
            <a:r>
              <a:rPr lang="en-IN" b="1" i="0" dirty="0">
                <a:effectLst/>
                <a:latin typeface="Verdana" panose="020B0604030504040204" pitchFamily="34" charset="0"/>
              </a:rPr>
              <a:t>web address</a:t>
            </a:r>
            <a:r>
              <a:rPr lang="en-IN" b="0" i="0" dirty="0">
                <a:effectLst/>
                <a:latin typeface="Verdana" panose="020B0604030504040204" pitchFamily="34" charset="0"/>
              </a:rPr>
              <a:t>, a </a:t>
            </a:r>
            <a:r>
              <a:rPr lang="en-IN" b="1" i="0" dirty="0">
                <a:effectLst/>
                <a:latin typeface="Verdana" panose="020B0604030504040204" pitchFamily="34" charset="0"/>
              </a:rPr>
              <a:t>URL</a:t>
            </a:r>
            <a:r>
              <a:rPr lang="en-IN" b="0" i="0" dirty="0">
                <a:effectLst/>
                <a:latin typeface="Verdana" panose="020B0604030504040204" pitchFamily="34" charset="0"/>
              </a:rPr>
              <a:t> (</a:t>
            </a:r>
            <a:r>
              <a:rPr lang="en-IN" b="1" i="0" dirty="0">
                <a:effectLst/>
                <a:latin typeface="Verdana" panose="020B0604030504040204" pitchFamily="34" charset="0"/>
              </a:rPr>
              <a:t>uniform resource locator</a:t>
            </a:r>
            <a:r>
              <a:rPr lang="en-IN" b="0" i="0" dirty="0">
                <a:effectLst/>
                <a:latin typeface="Verdana" panose="020B0604030504040204" pitchFamily="34" charset="0"/>
              </a:rPr>
              <a:t>) is a </a:t>
            </a:r>
            <a:r>
              <a:rPr lang="en-IN" b="0" i="0" strike="noStrike" dirty="0">
                <a:effectLst/>
                <a:latin typeface="Verdana" panose="020B0604030504040204" pitchFamily="34" charset="0"/>
                <a:hlinkClick r:id="rId2">
                  <a:extLst>
                    <a:ext uri="{A12FA001-AC4F-418D-AE19-62706E023703}">
                      <ahyp:hlinkClr xmlns:ahyp="http://schemas.microsoft.com/office/drawing/2018/hyperlinkcolor" val="tx"/>
                    </a:ext>
                  </a:extLst>
                </a:hlinkClick>
              </a:rPr>
              <a:t>URI</a:t>
            </a:r>
            <a:r>
              <a:rPr lang="en-IN" b="0" i="0" dirty="0">
                <a:effectLst/>
                <a:latin typeface="Verdana" panose="020B0604030504040204" pitchFamily="34" charset="0"/>
              </a:rPr>
              <a:t> (uniform resource identifier) and standardized naming convention for addressing documents accessible over the </a:t>
            </a:r>
            <a:r>
              <a:rPr lang="en-IN" b="0" i="0" strike="noStrike" dirty="0">
                <a:effectLst/>
                <a:latin typeface="Verdana" panose="020B0604030504040204" pitchFamily="34" charset="0"/>
                <a:hlinkClick r:id="rId3">
                  <a:extLst>
                    <a:ext uri="{A12FA001-AC4F-418D-AE19-62706E023703}">
                      <ahyp:hlinkClr xmlns:ahyp="http://schemas.microsoft.com/office/drawing/2018/hyperlinkcolor" val="tx"/>
                    </a:ext>
                  </a:extLst>
                </a:hlinkClick>
              </a:rPr>
              <a:t>Internet</a:t>
            </a:r>
            <a:r>
              <a:rPr lang="en-IN" b="0" i="0" dirty="0">
                <a:effectLst/>
                <a:latin typeface="Verdana" panose="020B0604030504040204" pitchFamily="34" charset="0"/>
              </a:rPr>
              <a:t> and </a:t>
            </a:r>
            <a:r>
              <a:rPr lang="en-IN" b="0" i="0" strike="noStrike" dirty="0">
                <a:effectLst/>
                <a:latin typeface="Verdana" panose="020B0604030504040204" pitchFamily="34" charset="0"/>
                <a:hlinkClick r:id="rId4">
                  <a:extLst>
                    <a:ext uri="{A12FA001-AC4F-418D-AE19-62706E023703}">
                      <ahyp:hlinkClr xmlns:ahyp="http://schemas.microsoft.com/office/drawing/2018/hyperlinkcolor" val="tx"/>
                    </a:ext>
                  </a:extLst>
                </a:hlinkClick>
              </a:rPr>
              <a:t>Intranet</a:t>
            </a:r>
            <a:r>
              <a:rPr lang="en-IN" b="0" i="0" dirty="0">
                <a:effectLst/>
                <a:latin typeface="Verdana" panose="020B0604030504040204" pitchFamily="34" charset="0"/>
              </a:rPr>
              <a:t>. The URL makes it possible for a computer to locate and open a </a:t>
            </a:r>
            <a:r>
              <a:rPr lang="en-IN" b="0" i="0" strike="noStrike" dirty="0">
                <a:effectLst/>
                <a:latin typeface="Verdana" panose="020B0604030504040204" pitchFamily="34" charset="0"/>
                <a:hlinkClick r:id="rId5">
                  <a:extLst>
                    <a:ext uri="{A12FA001-AC4F-418D-AE19-62706E023703}">
                      <ahyp:hlinkClr xmlns:ahyp="http://schemas.microsoft.com/office/drawing/2018/hyperlinkcolor" val="tx"/>
                    </a:ext>
                  </a:extLst>
                </a:hlinkClick>
              </a:rPr>
              <a:t>web page</a:t>
            </a:r>
            <a:r>
              <a:rPr lang="en-IN" b="0" i="0" dirty="0">
                <a:effectLst/>
                <a:latin typeface="Verdana" panose="020B0604030504040204" pitchFamily="34" charset="0"/>
              </a:rPr>
              <a:t> on a different computer on the Internet. An example of a URL is </a:t>
            </a:r>
            <a:r>
              <a:rPr lang="en-IN" b="0" i="0" strike="noStrike" dirty="0">
                <a:effectLst/>
                <a:latin typeface="Verdana" panose="020B0604030504040204" pitchFamily="34" charset="0"/>
                <a:hlinkClick r:id="rId6">
                  <a:extLst>
                    <a:ext uri="{A12FA001-AC4F-418D-AE19-62706E023703}">
                      <ahyp:hlinkClr xmlns:ahyp="http://schemas.microsoft.com/office/drawing/2018/hyperlinkcolor" val="tx"/>
                    </a:ext>
                  </a:extLst>
                </a:hlinkClick>
              </a:rPr>
              <a:t>https://www.computerhope.com</a:t>
            </a:r>
            <a:r>
              <a:rPr lang="en-IN" b="0" i="0" dirty="0">
                <a:effectLst/>
                <a:latin typeface="Verdana" panose="020B0604030504040204" pitchFamily="34" charset="0"/>
              </a:rPr>
              <a:t>, the URL for the Computer Hope </a:t>
            </a:r>
            <a:r>
              <a:rPr lang="en-IN" b="0" i="0" strike="noStrike" dirty="0">
                <a:effectLst/>
                <a:latin typeface="Verdana" panose="020B0604030504040204" pitchFamily="34" charset="0"/>
                <a:hlinkClick r:id="rId7">
                  <a:extLst>
                    <a:ext uri="{A12FA001-AC4F-418D-AE19-62706E023703}">
                      <ahyp:hlinkClr xmlns:ahyp="http://schemas.microsoft.com/office/drawing/2018/hyperlinkcolor" val="tx"/>
                    </a:ext>
                  </a:extLst>
                </a:hlinkClick>
              </a:rPr>
              <a:t>website</a:t>
            </a:r>
            <a:endParaRPr lang="en-US" dirty="0"/>
          </a:p>
        </p:txBody>
      </p:sp>
      <p:pic>
        <p:nvPicPr>
          <p:cNvPr id="4" name="Picture 3">
            <a:extLst>
              <a:ext uri="{FF2B5EF4-FFF2-40B4-BE49-F238E27FC236}">
                <a16:creationId xmlns:a16="http://schemas.microsoft.com/office/drawing/2014/main" id="{8F973EF2-E30D-8825-B7D7-52A83A2D3AA7}"/>
              </a:ext>
            </a:extLst>
          </p:cNvPr>
          <p:cNvPicPr>
            <a:picLocks noChangeAspect="1"/>
          </p:cNvPicPr>
          <p:nvPr/>
        </p:nvPicPr>
        <p:blipFill>
          <a:blip r:embed="rId8"/>
          <a:stretch>
            <a:fillRect/>
          </a:stretch>
        </p:blipFill>
        <p:spPr>
          <a:xfrm>
            <a:off x="1968500" y="4985656"/>
            <a:ext cx="7772400" cy="1719943"/>
          </a:xfrm>
          <a:prstGeom prst="rect">
            <a:avLst/>
          </a:prstGeom>
        </p:spPr>
      </p:pic>
    </p:spTree>
    <p:extLst>
      <p:ext uri="{BB962C8B-B14F-4D97-AF65-F5344CB8AC3E}">
        <p14:creationId xmlns:p14="http://schemas.microsoft.com/office/powerpoint/2010/main" val="1080196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0874B-CD1D-C118-352A-177CFA9B3A0E}"/>
              </a:ext>
            </a:extLst>
          </p:cNvPr>
          <p:cNvSpPr>
            <a:spLocks noGrp="1"/>
          </p:cNvSpPr>
          <p:nvPr>
            <p:ph type="title"/>
          </p:nvPr>
        </p:nvSpPr>
        <p:spPr/>
        <p:txBody>
          <a:bodyPr/>
          <a:lstStyle/>
          <a:p>
            <a:pPr algn="ctr"/>
            <a:r>
              <a:rPr lang="en-IN" b="0" i="0" dirty="0">
                <a:solidFill>
                  <a:srgbClr val="000000"/>
                </a:solidFill>
                <a:effectLst/>
                <a:latin typeface="Linux Libertine"/>
              </a:rPr>
              <a:t>Domain name</a:t>
            </a:r>
            <a:br>
              <a:rPr lang="en-IN" b="0" i="0" dirty="0">
                <a:solidFill>
                  <a:srgbClr val="000000"/>
                </a:solidFill>
                <a:effectLst/>
                <a:latin typeface="Linux Libertine"/>
              </a:rPr>
            </a:br>
            <a:endParaRPr lang="en-US" dirty="0"/>
          </a:p>
        </p:txBody>
      </p:sp>
      <p:sp>
        <p:nvSpPr>
          <p:cNvPr id="3" name="Content Placeholder 2">
            <a:extLst>
              <a:ext uri="{FF2B5EF4-FFF2-40B4-BE49-F238E27FC236}">
                <a16:creationId xmlns:a16="http://schemas.microsoft.com/office/drawing/2014/main" id="{360F172B-2E4B-CAD9-DB12-8B65DF08A4E3}"/>
              </a:ext>
            </a:extLst>
          </p:cNvPr>
          <p:cNvSpPr>
            <a:spLocks noGrp="1"/>
          </p:cNvSpPr>
          <p:nvPr>
            <p:ph idx="1"/>
          </p:nvPr>
        </p:nvSpPr>
        <p:spPr/>
        <p:txBody>
          <a:bodyPr/>
          <a:lstStyle/>
          <a:p>
            <a:pPr algn="ctr"/>
            <a:r>
              <a:rPr lang="en-IN" b="0" i="0" dirty="0">
                <a:solidFill>
                  <a:srgbClr val="222222"/>
                </a:solidFill>
                <a:effectLst/>
                <a:latin typeface="-apple-system"/>
              </a:rPr>
              <a:t>A domain name is a string of text that maps to an alphanumeric </a:t>
            </a:r>
            <a:r>
              <a:rPr lang="en-IN" b="0" i="0" u="none" strike="noStrike" dirty="0">
                <a:effectLst/>
                <a:latin typeface="-apple-system"/>
                <a:hlinkClick r:id="rId2"/>
              </a:rPr>
              <a:t>IP address</a:t>
            </a:r>
            <a:r>
              <a:rPr lang="en-IN" b="0" i="0" dirty="0">
                <a:solidFill>
                  <a:srgbClr val="222222"/>
                </a:solidFill>
                <a:effectLst/>
                <a:latin typeface="-apple-system"/>
              </a:rPr>
              <a:t>, used to access a website from client software. In plain English, a domain name is the text that a user types into a browser window to reach a particular website. For instance, the domain name for Google is ‘</a:t>
            </a:r>
            <a:r>
              <a:rPr lang="en-IN" b="0" i="0" dirty="0" err="1">
                <a:solidFill>
                  <a:srgbClr val="222222"/>
                </a:solidFill>
                <a:effectLst/>
                <a:latin typeface="-apple-system"/>
              </a:rPr>
              <a:t>google.com</a:t>
            </a:r>
            <a:r>
              <a:rPr lang="en-IN" b="0" i="0" dirty="0">
                <a:solidFill>
                  <a:srgbClr val="222222"/>
                </a:solidFill>
                <a:effectLst/>
                <a:latin typeface="-apple-system"/>
              </a:rPr>
              <a:t>’.</a:t>
            </a:r>
          </a:p>
          <a:p>
            <a:pPr algn="ctr"/>
            <a:r>
              <a:rPr lang="en-IN" b="0" i="0" dirty="0">
                <a:solidFill>
                  <a:srgbClr val="222222"/>
                </a:solidFill>
                <a:effectLst/>
                <a:latin typeface="-apple-system"/>
              </a:rPr>
              <a:t>The actual address of a website is a complex numerical IP address (e.g. 192.0.2.2), but thanks to </a:t>
            </a:r>
            <a:r>
              <a:rPr lang="en-IN" b="0" i="0" u="none" strike="noStrike" dirty="0">
                <a:effectLst/>
                <a:latin typeface="-apple-system"/>
                <a:hlinkClick r:id="rId3"/>
              </a:rPr>
              <a:t>DNS</a:t>
            </a:r>
            <a:r>
              <a:rPr lang="en-IN" b="0" i="0" dirty="0">
                <a:solidFill>
                  <a:srgbClr val="222222"/>
                </a:solidFill>
                <a:effectLst/>
                <a:latin typeface="-apple-system"/>
              </a:rPr>
              <a:t>, users are able to enter human-friendly domain names and be routed to the websites they are looking for. This process is known as a DNS lookup.</a:t>
            </a:r>
            <a:endParaRPr lang="en-US" dirty="0"/>
          </a:p>
        </p:txBody>
      </p:sp>
    </p:spTree>
    <p:extLst>
      <p:ext uri="{BB962C8B-B14F-4D97-AF65-F5344CB8AC3E}">
        <p14:creationId xmlns:p14="http://schemas.microsoft.com/office/powerpoint/2010/main" val="3458573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8731-2D0D-20DB-A068-0E234AD8302D}"/>
              </a:ext>
            </a:extLst>
          </p:cNvPr>
          <p:cNvSpPr>
            <a:spLocks noGrp="1"/>
          </p:cNvSpPr>
          <p:nvPr>
            <p:ph type="title"/>
          </p:nvPr>
        </p:nvSpPr>
        <p:spPr/>
        <p:txBody>
          <a:bodyPr/>
          <a:lstStyle/>
          <a:p>
            <a:pPr algn="ctr"/>
            <a:r>
              <a:rPr lang="en-IN" b="1" i="0" dirty="0">
                <a:solidFill>
                  <a:srgbClr val="444444"/>
                </a:solidFill>
                <a:effectLst/>
                <a:latin typeface="MuseoSans"/>
              </a:rPr>
              <a:t>What is an IP Address</a:t>
            </a:r>
            <a:br>
              <a:rPr lang="en-IN" b="1" i="0" dirty="0">
                <a:solidFill>
                  <a:srgbClr val="444444"/>
                </a:solidFill>
                <a:effectLst/>
                <a:latin typeface="MuseoSans"/>
              </a:rPr>
            </a:br>
            <a:endParaRPr lang="en-US" dirty="0"/>
          </a:p>
        </p:txBody>
      </p:sp>
      <p:sp>
        <p:nvSpPr>
          <p:cNvPr id="3" name="Content Placeholder 2">
            <a:extLst>
              <a:ext uri="{FF2B5EF4-FFF2-40B4-BE49-F238E27FC236}">
                <a16:creationId xmlns:a16="http://schemas.microsoft.com/office/drawing/2014/main" id="{52A76B03-6715-9109-10E1-13C8ABA88C0D}"/>
              </a:ext>
            </a:extLst>
          </p:cNvPr>
          <p:cNvSpPr>
            <a:spLocks noGrp="1"/>
          </p:cNvSpPr>
          <p:nvPr>
            <p:ph idx="1"/>
          </p:nvPr>
        </p:nvSpPr>
        <p:spPr>
          <a:xfrm>
            <a:off x="206828" y="1349829"/>
            <a:ext cx="10515600" cy="4990420"/>
          </a:xfrm>
        </p:spPr>
        <p:txBody>
          <a:bodyPr/>
          <a:lstStyle/>
          <a:p>
            <a:r>
              <a:rPr lang="en-IN" b="0" i="0" dirty="0">
                <a:effectLst/>
                <a:latin typeface="MuseoSans"/>
              </a:rPr>
              <a:t>An IP address is a string of numbers separated by periods. IP addresses are expressed as a set of four numbers — an example address might be 192.158.1.38. Each number in the set can range from 0 to 255. So, the full IP addressing range goes from 0.0.0.0 to 255.255.255.255.</a:t>
            </a:r>
            <a:endParaRPr lang="en-US" dirty="0"/>
          </a:p>
        </p:txBody>
      </p:sp>
    </p:spTree>
    <p:extLst>
      <p:ext uri="{BB962C8B-B14F-4D97-AF65-F5344CB8AC3E}">
        <p14:creationId xmlns:p14="http://schemas.microsoft.com/office/powerpoint/2010/main" val="3102980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FED1D-684D-62B8-93D5-D7D99D083D03}"/>
              </a:ext>
            </a:extLst>
          </p:cNvPr>
          <p:cNvSpPr>
            <a:spLocks noGrp="1"/>
          </p:cNvSpPr>
          <p:nvPr>
            <p:ph type="title"/>
          </p:nvPr>
        </p:nvSpPr>
        <p:spPr/>
        <p:txBody>
          <a:bodyPr/>
          <a:lstStyle/>
          <a:p>
            <a:pPr algn="ctr"/>
            <a:r>
              <a:rPr lang="en-IN" b="1" i="0" dirty="0">
                <a:solidFill>
                  <a:srgbClr val="222222"/>
                </a:solidFill>
                <a:effectLst/>
                <a:latin typeface="-apple-system"/>
              </a:rPr>
              <a:t>What is a packet</a:t>
            </a:r>
            <a:br>
              <a:rPr lang="en-IN" b="1"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5D4E1ADA-CB8B-AB12-0D20-0693A0D82F87}"/>
              </a:ext>
            </a:extLst>
          </p:cNvPr>
          <p:cNvSpPr>
            <a:spLocks noGrp="1"/>
          </p:cNvSpPr>
          <p:nvPr>
            <p:ph idx="1"/>
          </p:nvPr>
        </p:nvSpPr>
        <p:spPr/>
        <p:txBody>
          <a:bodyPr/>
          <a:lstStyle/>
          <a:p>
            <a:pPr algn="ctr"/>
            <a:r>
              <a:rPr lang="en-IN" b="0" i="0" dirty="0">
                <a:solidFill>
                  <a:srgbClr val="222222"/>
                </a:solidFill>
                <a:effectLst/>
                <a:latin typeface="-apple-system"/>
              </a:rPr>
              <a:t>In </a:t>
            </a:r>
            <a:r>
              <a:rPr lang="en-IN" b="0" i="0" u="none" strike="noStrike" dirty="0">
                <a:effectLst/>
                <a:latin typeface="-apple-system"/>
                <a:hlinkClick r:id="rId2"/>
              </a:rPr>
              <a:t>networking</a:t>
            </a:r>
            <a:r>
              <a:rPr lang="en-IN" b="0" i="0" dirty="0">
                <a:solidFill>
                  <a:srgbClr val="222222"/>
                </a:solidFill>
                <a:effectLst/>
                <a:latin typeface="-apple-system"/>
              </a:rPr>
              <a:t>, a packet is a small segment of a larger message. Data sent over computer networks*, such as the </a:t>
            </a:r>
            <a:r>
              <a:rPr lang="en-IN" b="0" i="0" u="none" strike="noStrike" dirty="0">
                <a:effectLst/>
                <a:latin typeface="-apple-system"/>
                <a:hlinkClick r:id="rId3"/>
              </a:rPr>
              <a:t>Internet</a:t>
            </a:r>
            <a:r>
              <a:rPr lang="en-IN" b="0" i="0" dirty="0">
                <a:solidFill>
                  <a:srgbClr val="222222"/>
                </a:solidFill>
                <a:effectLst/>
                <a:latin typeface="-apple-system"/>
              </a:rPr>
              <a:t>, is divided into packets. These packets are then recombined by the computer or device that receives them</a:t>
            </a:r>
            <a:endParaRPr lang="en-US" dirty="0"/>
          </a:p>
        </p:txBody>
      </p:sp>
    </p:spTree>
    <p:extLst>
      <p:ext uri="{BB962C8B-B14F-4D97-AF65-F5344CB8AC3E}">
        <p14:creationId xmlns:p14="http://schemas.microsoft.com/office/powerpoint/2010/main" val="1989599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D3180-C9C4-3F3F-A6C5-9DDAA21D0A7C}"/>
              </a:ext>
            </a:extLst>
          </p:cNvPr>
          <p:cNvSpPr>
            <a:spLocks noGrp="1"/>
          </p:cNvSpPr>
          <p:nvPr>
            <p:ph type="title"/>
          </p:nvPr>
        </p:nvSpPr>
        <p:spPr>
          <a:xfrm>
            <a:off x="838200" y="-1"/>
            <a:ext cx="10515600" cy="1230087"/>
          </a:xfrm>
        </p:spPr>
        <p:txBody>
          <a:bodyPr>
            <a:normAutofit fontScale="90000"/>
          </a:bodyPr>
          <a:lstStyle/>
          <a:p>
            <a:pPr algn="ctr"/>
            <a:r>
              <a:rPr lang="en-IN" b="1" i="0" dirty="0">
                <a:solidFill>
                  <a:srgbClr val="222222"/>
                </a:solidFill>
                <a:effectLst/>
                <a:latin typeface="-apple-system"/>
              </a:rPr>
              <a:t>Why use packets</a:t>
            </a:r>
            <a:br>
              <a:rPr lang="en-IN" b="1"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04778972-54AD-EFEC-C107-52646DA2060D}"/>
              </a:ext>
            </a:extLst>
          </p:cNvPr>
          <p:cNvSpPr>
            <a:spLocks noGrp="1"/>
          </p:cNvSpPr>
          <p:nvPr>
            <p:ph idx="1"/>
          </p:nvPr>
        </p:nvSpPr>
        <p:spPr>
          <a:xfrm>
            <a:off x="293914" y="740229"/>
            <a:ext cx="11059886" cy="5436734"/>
          </a:xfrm>
        </p:spPr>
        <p:txBody>
          <a:bodyPr>
            <a:normAutofit lnSpcReduction="10000"/>
          </a:bodyPr>
          <a:lstStyle/>
          <a:p>
            <a:pPr algn="just"/>
            <a:r>
              <a:rPr lang="en-IN" b="0" i="0" dirty="0">
                <a:solidFill>
                  <a:srgbClr val="222222"/>
                </a:solidFill>
                <a:effectLst/>
                <a:latin typeface="-apple-system"/>
              </a:rPr>
              <a:t>Theoretically, it could be possible to send files and data over the Internet without chopping them down into small packets of information. One computer could send data to another computer in the form of a long unbroken line of bits (small units of information, communicated as pulses of electricity that computers can interpret).</a:t>
            </a:r>
          </a:p>
          <a:p>
            <a:pPr algn="just"/>
            <a:r>
              <a:rPr lang="en-IN" b="0" i="0" dirty="0">
                <a:solidFill>
                  <a:srgbClr val="222222"/>
                </a:solidFill>
                <a:effectLst/>
                <a:latin typeface="-apple-system"/>
              </a:rPr>
              <a:t>However, such an approach quickly becomes impractical when more than two computers are involved. While the long line of bits passed over the wires between the two computers, no third computer could use those same wires to send information — it would have to wait its turn</a:t>
            </a:r>
            <a:endParaRPr lang="en-IN" dirty="0">
              <a:solidFill>
                <a:srgbClr val="222222"/>
              </a:solidFill>
              <a:latin typeface="-apple-system"/>
            </a:endParaRPr>
          </a:p>
          <a:p>
            <a:pPr algn="just"/>
            <a:r>
              <a:rPr lang="en-IN" b="0" i="0" dirty="0">
                <a:solidFill>
                  <a:srgbClr val="222222"/>
                </a:solidFill>
                <a:effectLst/>
                <a:latin typeface="-apple-system"/>
              </a:rPr>
              <a:t>Because of packet switching, packets from multiple computers can travel over the same wires in basically any order. This enables multiple connections to take place over the same networking equipment at the same time. As a result, billions of devices can exchange data on the Internet at the same time, instead of just a handful</a:t>
            </a:r>
            <a:endParaRPr lang="en-US" dirty="0"/>
          </a:p>
        </p:txBody>
      </p:sp>
    </p:spTree>
    <p:extLst>
      <p:ext uri="{BB962C8B-B14F-4D97-AF65-F5344CB8AC3E}">
        <p14:creationId xmlns:p14="http://schemas.microsoft.com/office/powerpoint/2010/main" val="3418846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1226</Words>
  <Application>Microsoft Macintosh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-apple-system</vt:lpstr>
      <vt:lpstr>Arial</vt:lpstr>
      <vt:lpstr>Calibri</vt:lpstr>
      <vt:lpstr>Calibri Light</vt:lpstr>
      <vt:lpstr>erdana</vt:lpstr>
      <vt:lpstr>inter-bold</vt:lpstr>
      <vt:lpstr>inter-regular</vt:lpstr>
      <vt:lpstr>Linux Libertine</vt:lpstr>
      <vt:lpstr>MuseoSans</vt:lpstr>
      <vt:lpstr>Verdana</vt:lpstr>
      <vt:lpstr>Office Theme</vt:lpstr>
      <vt:lpstr>Browser </vt:lpstr>
      <vt:lpstr>Web browser history </vt:lpstr>
      <vt:lpstr>How a Web browser works </vt:lpstr>
      <vt:lpstr>Popular web browsers </vt:lpstr>
      <vt:lpstr>Web Servers </vt:lpstr>
      <vt:lpstr>How do web servers work </vt:lpstr>
      <vt:lpstr>URL (Uniform Resource Locator) </vt:lpstr>
      <vt:lpstr>Domain name </vt:lpstr>
      <vt:lpstr>What is an IP Address </vt:lpstr>
      <vt:lpstr>What is a packet </vt:lpstr>
      <vt:lpstr>Why use packets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Browser </dc:title>
  <dc:creator>bilal19962020@outlook.com</dc:creator>
  <cp:lastModifiedBy>bilal19962020@outlook.com</cp:lastModifiedBy>
  <cp:revision>1</cp:revision>
  <dcterms:created xsi:type="dcterms:W3CDTF">2023-08-10T17:46:51Z</dcterms:created>
  <dcterms:modified xsi:type="dcterms:W3CDTF">2023-08-10T18:17:06Z</dcterms:modified>
</cp:coreProperties>
</file>