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57" r:id="rId3"/>
    <p:sldId id="258" r:id="rId4"/>
    <p:sldId id="259" r:id="rId5"/>
    <p:sldId id="29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96" r:id="rId25"/>
    <p:sldId id="278" r:id="rId26"/>
    <p:sldId id="297" r:id="rId27"/>
    <p:sldId id="29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99" r:id="rId38"/>
    <p:sldId id="300" r:id="rId39"/>
    <p:sldId id="301" r:id="rId40"/>
    <p:sldId id="308" r:id="rId41"/>
    <p:sldId id="302" r:id="rId42"/>
    <p:sldId id="303" r:id="rId43"/>
    <p:sldId id="310" r:id="rId44"/>
    <p:sldId id="304" r:id="rId45"/>
    <p:sldId id="309" r:id="rId46"/>
    <p:sldId id="305" r:id="rId47"/>
    <p:sldId id="306" r:id="rId48"/>
    <p:sldId id="307" r:id="rId49"/>
    <p:sldId id="288" r:id="rId50"/>
    <p:sldId id="289" r:id="rId51"/>
    <p:sldId id="290" r:id="rId52"/>
    <p:sldId id="291" r:id="rId53"/>
    <p:sldId id="292" r:id="rId54"/>
    <p:sldId id="293" r:id="rId55"/>
    <p:sldId id="294" r:id="rId56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58"/>
      <p:bold r:id="rId59"/>
      <p:italic r:id="rId60"/>
      <p:boldItalic r:id="rId61"/>
    </p:embeddedFont>
    <p:embeddedFont>
      <p:font typeface="Lato" panose="020F0502020204030203" pitchFamily="34" charset="0"/>
      <p:regular r:id="rId62"/>
      <p:bold r:id="rId63"/>
      <p:italic r:id="rId64"/>
      <p:boldItalic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ixhtyqualR4csvfBChkRxijhs5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80" y="-1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customschemas.google.com/relationships/presentationmetadata" Target="metadata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7.fntdata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5354732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2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>
            <a:lvl1pPr marL="457200" lvl="0" indent="-3429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2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3"/>
          <p:cNvSpPr txBox="1">
            <a:spLocks noGrp="1"/>
          </p:cNvSpPr>
          <p:nvPr>
            <p:ph type="body" idx="1"/>
          </p:nvPr>
        </p:nvSpPr>
        <p:spPr>
          <a:xfrm>
            <a:off x="456481" y="1604329"/>
            <a:ext cx="3983040" cy="440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>
            <a:lvl1pPr marL="457200" lvl="0" indent="-38735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  <a:defRPr sz="2500"/>
            </a:lvl1pPr>
            <a:lvl2pPr marL="914400" lvl="1" indent="-36830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2200"/>
              <a:buChar char="–"/>
              <a:defRPr sz="2200"/>
            </a:lvl2pPr>
            <a:lvl3pPr marL="1371600" lvl="2" indent="-3429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2" name="Google Shape;22;p43"/>
          <p:cNvSpPr txBox="1">
            <a:spLocks noGrp="1"/>
          </p:cNvSpPr>
          <p:nvPr>
            <p:ph type="body" idx="2"/>
          </p:nvPr>
        </p:nvSpPr>
        <p:spPr>
          <a:xfrm>
            <a:off x="4577760" y="1604329"/>
            <a:ext cx="3984480" cy="4403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>
            <a:lvl1pPr marL="457200" lvl="0" indent="-38735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  <a:defRPr sz="2500"/>
            </a:lvl1pPr>
            <a:lvl2pPr marL="914400" lvl="1" indent="-36830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2200"/>
              <a:buChar char="–"/>
              <a:defRPr sz="2200"/>
            </a:lvl2pPr>
            <a:lvl3pPr marL="1371600" lvl="2" indent="-3429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3020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1600"/>
              <a:buChar char="–"/>
              <a:defRPr sz="1600"/>
            </a:lvl4pPr>
            <a:lvl5pPr marL="2286000" lvl="4" indent="-33020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1600"/>
              <a:buChar char="»"/>
              <a:defRPr sz="1600"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43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4"/>
          <p:cNvSpPr txBox="1">
            <a:spLocks noGrp="1"/>
          </p:cNvSpPr>
          <p:nvPr>
            <p:ph type="title"/>
          </p:nvPr>
        </p:nvSpPr>
        <p:spPr>
          <a:xfrm>
            <a:off x="456481" y="273629"/>
            <a:ext cx="8105760" cy="1022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4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5"/>
          <p:cNvSpPr txBox="1">
            <a:spLocks noGrp="1"/>
          </p:cNvSpPr>
          <p:nvPr>
            <p:ph type="title"/>
          </p:nvPr>
        </p:nvSpPr>
        <p:spPr>
          <a:xfrm rot="5400000">
            <a:off x="4681859" y="2127930"/>
            <a:ext cx="5734682" cy="20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5"/>
          <p:cNvSpPr txBox="1">
            <a:spLocks noGrp="1"/>
          </p:cNvSpPr>
          <p:nvPr>
            <p:ph type="body" idx="1"/>
          </p:nvPr>
        </p:nvSpPr>
        <p:spPr>
          <a:xfrm rot="5400000">
            <a:off x="559860" y="170250"/>
            <a:ext cx="5734682" cy="594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>
            <a:lvl1pPr marL="457200" lvl="0" indent="-3429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5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6"/>
          <p:cNvSpPr txBox="1">
            <a:spLocks noGrp="1"/>
          </p:cNvSpPr>
          <p:nvPr>
            <p:ph type="body" idx="1"/>
          </p:nvPr>
        </p:nvSpPr>
        <p:spPr>
          <a:xfrm rot="5400000">
            <a:off x="2308225" y="-246063"/>
            <a:ext cx="4403725" cy="810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>
            <a:lvl1pPr marL="457200" lvl="0" indent="-3429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6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7"/>
          <p:cNvSpPr txBox="1">
            <a:spLocks noGrp="1"/>
          </p:cNvSpPr>
          <p:nvPr>
            <p:ph type="title"/>
          </p:nvPr>
        </p:nvSpPr>
        <p:spPr>
          <a:xfrm>
            <a:off x="1792801" y="4800025"/>
            <a:ext cx="5486400" cy="567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b" anchorCtr="0">
            <a:noAutofit/>
          </a:bodyPr>
          <a:lstStyle>
            <a:lvl1pPr lv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7"/>
          <p:cNvSpPr>
            <a:spLocks noGrp="1"/>
          </p:cNvSpPr>
          <p:nvPr>
            <p:ph type="pic" idx="2"/>
          </p:nvPr>
        </p:nvSpPr>
        <p:spPr>
          <a:xfrm>
            <a:off x="1792801" y="612065"/>
            <a:ext cx="5486400" cy="4115952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47"/>
          <p:cNvSpPr txBox="1">
            <a:spLocks noGrp="1"/>
          </p:cNvSpPr>
          <p:nvPr>
            <p:ph type="body" idx="1"/>
          </p:nvPr>
        </p:nvSpPr>
        <p:spPr>
          <a:xfrm>
            <a:off x="1792801" y="5367444"/>
            <a:ext cx="5486400" cy="805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>
            <a:lvl1pPr marL="457200" lvl="0" indent="-228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marL="914400" lvl="1" indent="-22860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800"/>
              <a:buNone/>
              <a:defRPr sz="800"/>
            </a:lvl4pPr>
            <a:lvl5pPr marL="2286000" lvl="4" indent="-22860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800"/>
              <a:buNone/>
              <a:defRPr sz="800"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800"/>
              <a:buNone/>
              <a:defRPr sz="800"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800"/>
              <a:buNone/>
              <a:defRPr sz="800"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9" name="Google Shape;39;p47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8"/>
          <p:cNvSpPr txBox="1"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b" anchorCtr="0">
            <a:noAutofit/>
          </a:bodyPr>
          <a:lstStyle>
            <a:lvl1pPr lv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1"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8"/>
          <p:cNvSpPr txBox="1">
            <a:spLocks noGrp="1"/>
          </p:cNvSpPr>
          <p:nvPr>
            <p:ph type="body" idx="1"/>
          </p:nvPr>
        </p:nvSpPr>
        <p:spPr>
          <a:xfrm>
            <a:off x="3575521" y="273629"/>
            <a:ext cx="5112000" cy="5852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>
            <a:lvl1pPr marL="457200" lvl="0" indent="-41275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900"/>
              <a:buChar char="•"/>
              <a:defRPr sz="2900"/>
            </a:lvl1pPr>
            <a:lvl2pPr marL="914400" lvl="1" indent="-38735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2500"/>
              <a:buChar char="–"/>
              <a:defRPr sz="2500"/>
            </a:lvl2pPr>
            <a:lvl3pPr marL="1371600" lvl="2" indent="-3683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2200"/>
              <a:buChar char="•"/>
              <a:defRPr sz="2200"/>
            </a:lvl3pPr>
            <a:lvl4pPr marL="1828800" lvl="3" indent="-34290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1800"/>
              <a:buChar char="–"/>
              <a:defRPr sz="1800"/>
            </a:lvl4pPr>
            <a:lvl5pPr marL="2286000" lvl="4" indent="-34290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1800"/>
              <a:buChar char="»"/>
              <a:defRPr sz="1800"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48"/>
          <p:cNvSpPr txBox="1">
            <a:spLocks noGrp="1"/>
          </p:cNvSpPr>
          <p:nvPr>
            <p:ph type="body" idx="2"/>
          </p:nvPr>
        </p:nvSpPr>
        <p:spPr>
          <a:xfrm>
            <a:off x="457920" y="1434391"/>
            <a:ext cx="3008160" cy="4692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>
            <a:lvl1pPr marL="457200" lvl="0" indent="-228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marL="914400" lvl="1" indent="-22860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1100"/>
              <a:buNone/>
              <a:defRPr sz="1100"/>
            </a:lvl2pPr>
            <a:lvl3pPr marL="1371600" lvl="2" indent="-2286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900"/>
              <a:buNone/>
              <a:defRPr sz="900"/>
            </a:lvl3pPr>
            <a:lvl4pPr marL="1828800" lvl="3" indent="-22860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800"/>
              <a:buNone/>
              <a:defRPr sz="800"/>
            </a:lvl4pPr>
            <a:lvl5pPr marL="2286000" lvl="4" indent="-22860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800"/>
              <a:buNone/>
              <a:defRPr sz="800"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800"/>
              <a:buNone/>
              <a:defRPr sz="800"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800"/>
              <a:buNone/>
              <a:defRPr sz="800"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800"/>
              <a:buNone/>
              <a:defRPr sz="800"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44" name="Google Shape;44;p48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9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0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1"/>
          <p:cNvSpPr txBox="1">
            <a:spLocks noGrp="1"/>
          </p:cNvSpPr>
          <p:nvPr>
            <p:ph type="title"/>
          </p:nvPr>
        </p:nvSpPr>
        <p:spPr>
          <a:xfrm>
            <a:off x="457921" y="275070"/>
            <a:ext cx="8229600" cy="1142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1"/>
          <p:cNvSpPr txBox="1"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b" anchorCtr="0">
            <a:noAutofit/>
          </a:bodyPr>
          <a:lstStyle>
            <a:lvl1pPr marL="457200" lvl="0" indent="-228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marL="914400" lvl="1" indent="-22860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1800"/>
              <a:buNone/>
              <a:defRPr sz="1800" b="1"/>
            </a:lvl2pPr>
            <a:lvl3pPr marL="1371600" lvl="2" indent="-2286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1600"/>
              <a:buNone/>
              <a:defRPr sz="1600" b="1"/>
            </a:lvl3pPr>
            <a:lvl4pPr marL="1828800" lvl="3" indent="-22860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1500"/>
              <a:buNone/>
              <a:defRPr sz="1500" b="1"/>
            </a:lvl4pPr>
            <a:lvl5pPr marL="2286000" lvl="4" indent="-22860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sz="1500" b="1"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500"/>
              <a:buNone/>
              <a:defRPr sz="1500" b="1"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500"/>
              <a:buNone/>
              <a:defRPr sz="1500" b="1"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500"/>
              <a:buNone/>
              <a:defRPr sz="1500" b="1"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53" name="Google Shape;53;p51"/>
          <p:cNvSpPr txBox="1">
            <a:spLocks noGrp="1"/>
          </p:cNvSpPr>
          <p:nvPr>
            <p:ph type="body" idx="2"/>
          </p:nvPr>
        </p:nvSpPr>
        <p:spPr>
          <a:xfrm>
            <a:off x="457920" y="2174628"/>
            <a:ext cx="4039200" cy="395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>
            <a:lvl1pPr marL="457200" lvl="0" indent="-3683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4290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1800"/>
              <a:buChar char="–"/>
              <a:defRPr sz="1800"/>
            </a:lvl2pPr>
            <a:lvl3pPr marL="1371600" lvl="2" indent="-3302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2385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1500"/>
              <a:buChar char="–"/>
              <a:defRPr sz="1500"/>
            </a:lvl4pPr>
            <a:lvl5pPr marL="2286000" lvl="4" indent="-32385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1500"/>
              <a:buChar char="»"/>
              <a:defRPr sz="1500"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400"/>
              <a:buNone/>
              <a:defRPr sz="1500"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 sz="1500"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 sz="1500"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54" name="Google Shape;54;p51"/>
          <p:cNvSpPr txBox="1">
            <a:spLocks noGrp="1"/>
          </p:cNvSpPr>
          <p:nvPr>
            <p:ph type="body" idx="3"/>
          </p:nvPr>
        </p:nvSpPr>
        <p:spPr>
          <a:xfrm>
            <a:off x="4645441" y="1535201"/>
            <a:ext cx="4042080" cy="639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b" anchorCtr="0">
            <a:noAutofit/>
          </a:bodyPr>
          <a:lstStyle>
            <a:lvl1pPr marL="457200" lvl="0" indent="-228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marL="914400" lvl="1" indent="-22860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1800"/>
              <a:buNone/>
              <a:defRPr sz="1800" b="1"/>
            </a:lvl2pPr>
            <a:lvl3pPr marL="1371600" lvl="2" indent="-2286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1600"/>
              <a:buNone/>
              <a:defRPr sz="1600" b="1"/>
            </a:lvl3pPr>
            <a:lvl4pPr marL="1828800" lvl="3" indent="-22860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1500"/>
              <a:buNone/>
              <a:defRPr sz="1500" b="1"/>
            </a:lvl4pPr>
            <a:lvl5pPr marL="2286000" lvl="4" indent="-22860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1500"/>
              <a:buNone/>
              <a:defRPr sz="1500" b="1"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500"/>
              <a:buNone/>
              <a:defRPr sz="1500" b="1"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500"/>
              <a:buNone/>
              <a:defRPr sz="1500" b="1"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500"/>
              <a:buNone/>
              <a:defRPr sz="1500" b="1"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500"/>
              <a:buNone/>
              <a:defRPr sz="1500" b="1"/>
            </a:lvl9pPr>
          </a:lstStyle>
          <a:p>
            <a:endParaRPr/>
          </a:p>
        </p:txBody>
      </p:sp>
      <p:sp>
        <p:nvSpPr>
          <p:cNvPr id="55" name="Google Shape;55;p51"/>
          <p:cNvSpPr txBox="1">
            <a:spLocks noGrp="1"/>
          </p:cNvSpPr>
          <p:nvPr>
            <p:ph type="body" idx="4"/>
          </p:nvPr>
        </p:nvSpPr>
        <p:spPr>
          <a:xfrm>
            <a:off x="4645441" y="2174628"/>
            <a:ext cx="4042080" cy="3951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>
            <a:lvl1pPr marL="457200" lvl="0" indent="-3683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200"/>
              <a:buChar char="•"/>
              <a:defRPr sz="2200"/>
            </a:lvl1pPr>
            <a:lvl2pPr marL="914400" lvl="1" indent="-34290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1800"/>
              <a:buChar char="–"/>
              <a:defRPr sz="1800"/>
            </a:lvl2pPr>
            <a:lvl3pPr marL="1371600" lvl="2" indent="-3302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1600"/>
              <a:buChar char="•"/>
              <a:defRPr sz="1600"/>
            </a:lvl3pPr>
            <a:lvl4pPr marL="1828800" lvl="3" indent="-32385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1500"/>
              <a:buChar char="–"/>
              <a:defRPr sz="1500"/>
            </a:lvl4pPr>
            <a:lvl5pPr marL="2286000" lvl="4" indent="-32385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1500"/>
              <a:buChar char="»"/>
              <a:defRPr sz="1500"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400"/>
              <a:buNone/>
              <a:defRPr sz="1500"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 sz="1500"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 sz="1500"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400"/>
              <a:buNone/>
              <a:defRPr sz="1500"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2"/>
          <p:cNvSpPr txBox="1">
            <a:spLocks noGrp="1"/>
          </p:cNvSpPr>
          <p:nvPr>
            <p:ph type="title"/>
          </p:nvPr>
        </p:nvSpPr>
        <p:spPr>
          <a:xfrm>
            <a:off x="722880" y="4406863"/>
            <a:ext cx="7771680" cy="1362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t" anchorCtr="0">
            <a:noAutofit/>
          </a:bodyPr>
          <a:lstStyle>
            <a:lvl1pPr lvl="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cap="none"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2"/>
          <p:cNvSpPr txBox="1"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b" anchorCtr="0">
            <a:noAutofit/>
          </a:bodyPr>
          <a:lstStyle>
            <a:lvl1pPr marL="457200" lvl="0" indent="-228600"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1600"/>
              <a:buNone/>
              <a:defRPr sz="1600"/>
            </a:lvl2pPr>
            <a:lvl3pPr marL="1371600" lvl="2" indent="-228600" algn="l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1500"/>
              <a:buNone/>
              <a:defRPr sz="1500"/>
            </a:lvl3pPr>
            <a:lvl4pPr marL="1828800" lvl="3" indent="-228600" algn="l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1300"/>
              <a:buNone/>
              <a:defRPr sz="1300"/>
            </a:lvl4pPr>
            <a:lvl5pPr marL="2286000" lvl="4" indent="-228600" algn="l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1300"/>
              <a:buNone/>
              <a:defRPr sz="1300"/>
            </a:lvl5pPr>
            <a:lvl6pPr marL="2743200" lvl="5" indent="-228600" algn="l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300"/>
              <a:buNone/>
              <a:defRPr sz="1300"/>
            </a:lvl6pPr>
            <a:lvl7pPr marL="3200400" lvl="6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300"/>
              <a:buNone/>
              <a:defRPr sz="1300"/>
            </a:lvl7pPr>
            <a:lvl8pPr marL="3657600" lvl="7" indent="-228600" algn="l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300"/>
              <a:buNone/>
              <a:defRPr sz="1300"/>
            </a:lvl8pPr>
            <a:lvl9pPr marL="4114800" lvl="8" indent="-228600" algn="l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60" name="Google Shape;60;p52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3"/>
          <p:cNvSpPr txBox="1">
            <a:spLocks noGrp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3"/>
          <p:cNvSpPr txBox="1">
            <a:spLocks noGrp="1"/>
          </p:cNvSpPr>
          <p:nvPr>
            <p:ph type="subTitle" idx="1"/>
          </p:nvPr>
        </p:nvSpPr>
        <p:spPr>
          <a:xfrm>
            <a:off x="1372321" y="3885528"/>
            <a:ext cx="6400800" cy="1752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>
            <a:lvl1pPr lvl="0" algn="ctr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1pPr>
            <a:lvl2pPr lvl="1" algn="ctr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SzPts val="2500"/>
              <a:buNone/>
              <a:defRPr/>
            </a:lvl2pPr>
            <a:lvl3pPr lvl="2" algn="ctr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SzPts val="2200"/>
              <a:buNone/>
              <a:defRPr/>
            </a:lvl3pPr>
            <a:lvl4pPr lvl="3" algn="ctr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3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>
            <a:lvl1pPr marR="0" lvl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41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>
            <a:lvl1pPr marL="457200" marR="0" lvl="0" indent="-41275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Times New Roman"/>
              <a:buChar char="•"/>
              <a:defRPr sz="29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7350" algn="l" rtl="0">
              <a:lnSpc>
                <a:spcPct val="97000"/>
              </a:lnSpc>
              <a:spcBef>
                <a:spcPts val="1288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–"/>
              <a:defRPr sz="25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68300" algn="l" rtl="0">
              <a:lnSpc>
                <a:spcPct val="97000"/>
              </a:lnSpc>
              <a:spcBef>
                <a:spcPts val="1038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Char char="•"/>
              <a:defRPr sz="2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97000"/>
              </a:lnSpc>
              <a:spcBef>
                <a:spcPts val="77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97000"/>
              </a:lnSpc>
              <a:spcBef>
                <a:spcPts val="52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97000"/>
              </a:lnSpc>
              <a:spcBef>
                <a:spcPts val="263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97000"/>
              </a:lnSpc>
              <a:spcBef>
                <a:spcPts val="261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97000"/>
              </a:lnSpc>
              <a:spcBef>
                <a:spcPts val="261"/>
              </a:spcBef>
              <a:spcAft>
                <a:spcPts val="261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41"/>
          <p:cNvSpPr txBox="1"/>
          <p:nvPr/>
        </p:nvSpPr>
        <p:spPr>
          <a:xfrm>
            <a:off x="457200" y="6246812"/>
            <a:ext cx="2127250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25" tIns="41450" rIns="82925" bIns="4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1"/>
          <p:cNvSpPr txBox="1"/>
          <p:nvPr/>
        </p:nvSpPr>
        <p:spPr>
          <a:xfrm>
            <a:off x="3127375" y="6246812"/>
            <a:ext cx="2897187" cy="4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25" tIns="41450" rIns="82925" bIns="41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41"/>
          <p:cNvSpPr txBox="1">
            <a:spLocks noGrp="1"/>
          </p:cNvSpPr>
          <p:nvPr>
            <p:ph type="sldNum" idx="12"/>
          </p:nvPr>
        </p:nvSpPr>
        <p:spPr>
          <a:xfrm>
            <a:off x="6556375" y="6246812"/>
            <a:ext cx="2006600" cy="350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  <a:defRPr sz="13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"/>
          <p:cNvSpPr txBox="1">
            <a:spLocks noGrp="1"/>
          </p:cNvSpPr>
          <p:nvPr>
            <p:ph type="title"/>
          </p:nvPr>
        </p:nvSpPr>
        <p:spPr>
          <a:xfrm>
            <a:off x="398462" y="2720975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Lecture 5</a:t>
            </a:r>
            <a:endParaRPr/>
          </a:p>
        </p:txBody>
      </p:sp>
      <p:sp>
        <p:nvSpPr>
          <p:cNvPr id="70" name="Google Shape;70;p1"/>
          <p:cNvSpPr txBox="1"/>
          <p:nvPr/>
        </p:nvSpPr>
        <p:spPr>
          <a:xfrm>
            <a:off x="1524000" y="32321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CSE202: OBJECT ORIENTED PROGRAMMING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 </a:t>
            </a:r>
            <a:endParaRPr/>
          </a:p>
        </p:txBody>
      </p:sp>
      <p:sp>
        <p:nvSpPr>
          <p:cNvPr id="76" name="Google Shape;76;p2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309562" marR="0" lvl="0" indent="-195261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9562" marR="0" lvl="0" indent="-309562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 member functions</a:t>
            </a:r>
            <a:endParaRPr/>
          </a:p>
          <a:p>
            <a:pPr marL="309562" marR="0" lvl="0" indent="-309562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Non-inline member functions</a:t>
            </a:r>
            <a:endParaRPr/>
          </a:p>
          <a:p>
            <a:pPr marL="309562" marR="0" lvl="0" indent="-309562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Data Members</a:t>
            </a:r>
            <a:endParaRPr/>
          </a:p>
          <a:p>
            <a:pPr marL="309562" marR="0" lvl="0" indent="-309562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⮚"/>
            </a:pP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 functions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 b="1" i="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C++ inline function</a:t>
            </a:r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body" idx="1"/>
          </p:nvPr>
        </p:nvSpPr>
        <p:spPr>
          <a:xfrm>
            <a:off x="457200" y="1227137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309562" marR="0" lvl="0" indent="-309562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C++ </a:t>
            </a:r>
            <a:r>
              <a:rPr lang="en-US" sz="20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</a:t>
            </a: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function is powerful concept that is commonly used with classes. If a function is inline, the compiler places a copy of the code of that function at each point where the function is called at compile time.</a:t>
            </a:r>
            <a:endParaRPr/>
          </a:p>
          <a:p>
            <a:pPr marL="309562" marR="0" lvl="0" indent="-309562" algn="just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time a function is called, it takes a lot of extra time in executing a series of instructions for tasks such as jumping to the function, saving registers, pushing arguments into the stack, and returning to the calling function. </a:t>
            </a:r>
            <a:endParaRPr/>
          </a:p>
          <a:p>
            <a:pPr marL="309562" marR="0" lvl="0" indent="-309562" algn="just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a function is small, a substantial percentage of execution time may be spent in such overheads.</a:t>
            </a:r>
            <a:endParaRPr/>
          </a:p>
          <a:p>
            <a:pPr marL="309562" marR="0" lvl="0" indent="-309562" algn="just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eliminate the cost of calls to smaller functions, C++ introduces a new feature called inline function, which is expanded in line when it is invoked.</a:t>
            </a:r>
            <a:endParaRPr/>
          </a:p>
          <a:p>
            <a:pPr marL="309562" marR="0" lvl="0" indent="-309562" algn="just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Times New Roman"/>
              <a:buNone/>
            </a:pPr>
            <a:endParaRPr sz="29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9563" marR="0" lvl="0" indent="-12541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Times New Roman"/>
              <a:buNone/>
            </a:pPr>
            <a:endParaRPr sz="29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body" idx="1"/>
          </p:nvPr>
        </p:nvSpPr>
        <p:spPr>
          <a:xfrm>
            <a:off x="381000" y="533400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&lt;iostream&gt;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namespace std;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 int Max(int x, int y) {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return (x &gt; y)? x : y;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main() {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cout &lt;&lt; "Max (20,10): " &lt;&lt; Max(20,10) &lt;&lt; endl;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cout &lt;&lt; "Max (0,200): " &lt;&lt; Max(0,200) &lt;&lt; endl;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cout &lt;&lt; "Max (100,1010): " &lt;&lt; Max(100,1010) &lt;&lt; endl;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return 0;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example of Inline function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32044E-19D2-83E5-F4E8-232275904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41" y="930159"/>
            <a:ext cx="7104443" cy="537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005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"/>
          <p:cNvSpPr txBox="1">
            <a:spLocks noGrp="1"/>
          </p:cNvSpPr>
          <p:nvPr>
            <p:ph type="title"/>
          </p:nvPr>
        </p:nvSpPr>
        <p:spPr>
          <a:xfrm>
            <a:off x="581025" y="53340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 Member Function</a:t>
            </a:r>
            <a:endParaRPr/>
          </a:p>
        </p:txBody>
      </p:sp>
      <p:sp>
        <p:nvSpPr>
          <p:cNvPr id="94" name="Google Shape;94;p5"/>
          <p:cNvSpPr txBox="1">
            <a:spLocks noGrp="1"/>
          </p:cNvSpPr>
          <p:nvPr>
            <p:ph type="body" idx="1"/>
          </p:nvPr>
        </p:nvSpPr>
        <p:spPr>
          <a:xfrm>
            <a:off x="457200" y="1546225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309562" marR="0" lvl="0" indent="-309562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inline a function, place the keyword 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</a:t>
            </a: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before the function name and define the function before any calls are made to the function. The compiler can ignore the inline qualifier in case defined function is more than 3-5 lines.</a:t>
            </a:r>
            <a:endParaRPr/>
          </a:p>
          <a:p>
            <a:pPr marL="309562" marR="0" lvl="0" indent="-309562" algn="just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function definition in a class definition is an inline function definition, even without the use of the 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 </a:t>
            </a: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specifier.</a:t>
            </a:r>
            <a:endParaRPr/>
          </a:p>
          <a:p>
            <a:pPr marL="309562" marR="0" lvl="0" indent="-309562" algn="just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member function that is defined inside its class member list is called an 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 member function</a:t>
            </a: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09562" marR="0" lvl="0" indent="-309562" algn="just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equivalent way to declare an inline member function is to either declare it in the class with the 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</a:t>
            </a: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keyword (and define the function outside of its class) or to define it outside of the class declaration using the 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</a:t>
            </a: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keyword. </a:t>
            </a:r>
            <a:endParaRPr/>
          </a:p>
          <a:p>
            <a:pPr marL="309562" marR="0" lvl="0" indent="-309562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9562" marR="0" lvl="0" indent="-157161" algn="just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9563" marR="0" lvl="0" indent="-1571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/>
        </p:nvSpPr>
        <p:spPr>
          <a:xfrm>
            <a:off x="4894262" y="1949450"/>
            <a:ext cx="5594350" cy="230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main()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 &lt;&lt; "Program using inline function\n";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s.get();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s.sum();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0;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100" name="Google Shape;100;p6"/>
          <p:cNvSpPr txBox="1"/>
          <p:nvPr/>
        </p:nvSpPr>
        <p:spPr>
          <a:xfrm>
            <a:off x="152400" y="406400"/>
            <a:ext cx="4587875" cy="6462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&lt;iostream&gt;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namespace std;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operation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int a,b,add;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public: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get() // inline Member Function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cout &lt;&lt; "Enter first value:";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cin &gt;&gt; a;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cout &lt;&lt; "Enter second value:";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cin &gt;&gt; b;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void sum();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}s;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800"/>
              <a:buFont typeface="Times New Roman"/>
              <a:buNone/>
            </a:pPr>
            <a:r>
              <a:rPr lang="en-US" sz="1800" b="1" i="0" u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</a:t>
            </a: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void operation :: sum()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add = a+b;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 &lt;&lt;"Addition of two numbers: " &lt;&lt; a+b;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581400" y="1276350"/>
            <a:ext cx="4110037" cy="620712"/>
          </a:xfrm>
          <a:prstGeom prst="ellipse">
            <a:avLst/>
          </a:prstGeom>
          <a:solidFill>
            <a:srgbClr val="B64A8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 1: Inline Member Function</a:t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886200" y="4495800"/>
            <a:ext cx="4110037" cy="620712"/>
          </a:xfrm>
          <a:prstGeom prst="ellipse">
            <a:avLst/>
          </a:prstGeom>
          <a:solidFill>
            <a:srgbClr val="B64A8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0" i="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 2: Inline Member Function</a:t>
            </a:r>
            <a:endParaRPr/>
          </a:p>
        </p:txBody>
      </p:sp>
      <p:cxnSp>
        <p:nvCxnSpPr>
          <p:cNvPr id="103" name="Google Shape;103;p6"/>
          <p:cNvCxnSpPr/>
          <p:nvPr/>
        </p:nvCxnSpPr>
        <p:spPr>
          <a:xfrm rot="10800000">
            <a:off x="2971800" y="1585912"/>
            <a:ext cx="0" cy="5476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4" name="Google Shape;104;p6"/>
          <p:cNvCxnSpPr/>
          <p:nvPr/>
        </p:nvCxnSpPr>
        <p:spPr>
          <a:xfrm rot="10800000">
            <a:off x="3276600" y="4495800"/>
            <a:ext cx="0" cy="54768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5" name="Google Shape;105;p6"/>
          <p:cNvCxnSpPr/>
          <p:nvPr/>
        </p:nvCxnSpPr>
        <p:spPr>
          <a:xfrm>
            <a:off x="2971800" y="1585912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cxnSp>
        <p:nvCxnSpPr>
          <p:cNvPr id="106" name="Google Shape;106;p6"/>
          <p:cNvCxnSpPr/>
          <p:nvPr/>
        </p:nvCxnSpPr>
        <p:spPr>
          <a:xfrm>
            <a:off x="3276600" y="4805362"/>
            <a:ext cx="609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sp>
        <p:nvSpPr>
          <p:cNvPr id="107" name="Google Shape;107;p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example of Inline Member function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 txBox="1"/>
          <p:nvPr/>
        </p:nvSpPr>
        <p:spPr>
          <a:xfrm>
            <a:off x="419100" y="1295400"/>
            <a:ext cx="8305800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0424E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rgbClr val="4042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Note:  </a:t>
            </a:r>
            <a:r>
              <a:rPr lang="en-US" sz="2400" b="0" i="0" u="none">
                <a:solidFill>
                  <a:srgbClr val="4042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Inlining is </a:t>
            </a:r>
            <a:r>
              <a:rPr lang="en-US" sz="2400" b="1" i="0" u="none">
                <a:solidFill>
                  <a:srgbClr val="4042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a request </a:t>
            </a:r>
            <a:r>
              <a:rPr lang="en-US" sz="2400" b="0" i="0" u="none">
                <a:solidFill>
                  <a:srgbClr val="4042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the compiler, not a command. </a:t>
            </a:r>
            <a:r>
              <a:rPr lang="en-US" sz="2400" b="1" i="0" u="none">
                <a:solidFill>
                  <a:srgbClr val="4042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Compiler can ignore the request for inlining. Compiler may not perform inlining in such circumstances like: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4042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1) If a function contains a loop. (for, while, do-while)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4042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2) If a function contains static variables.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4042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3) If a function is recursive.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4042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4) For Functions not returning values, if a return statement exists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40424E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5) If a function contains switch or goto statement.</a:t>
            </a:r>
            <a:endParaRPr/>
          </a:p>
        </p:txBody>
      </p:sp>
      <p:sp>
        <p:nvSpPr>
          <p:cNvPr id="113" name="Google Shape;113;p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not to use Inline Function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and Disadvantages of Inline Function</a:t>
            </a:r>
            <a:endParaRPr/>
          </a:p>
        </p:txBody>
      </p:sp>
      <p:pic>
        <p:nvPicPr>
          <p:cNvPr id="119" name="Google Shape;119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752600"/>
            <a:ext cx="388620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8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4343400" y="1600200"/>
            <a:ext cx="4219575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"/>
          <p:cNvSpPr txBox="1"/>
          <p:nvPr/>
        </p:nvSpPr>
        <p:spPr>
          <a:xfrm>
            <a:off x="228600" y="1524000"/>
            <a:ext cx="8839200" cy="310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function is defined inside a class, it is treated as ………………….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b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data function</a:t>
            </a:r>
            <a:b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inline function</a:t>
            </a:r>
            <a:b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non inline function</a:t>
            </a:r>
            <a:br>
              <a:rPr lang="en-US" sz="28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member variable</a:t>
            </a:r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MCQ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/>
        </p:nvSpPr>
        <p:spPr>
          <a:xfrm>
            <a:off x="609600" y="1295400"/>
            <a:ext cx="8001000" cy="267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function is defined inside a class, it is treated as ………………….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data function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 function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non inline function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member variable</a:t>
            </a:r>
            <a:endParaRPr/>
          </a:p>
        </p:txBody>
      </p:sp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"/>
          <p:cNvSpPr txBox="1"/>
          <p:nvPr/>
        </p:nvSpPr>
        <p:spPr>
          <a:xfrm>
            <a:off x="228600" y="1600200"/>
            <a:ext cx="8686800" cy="267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which are declared in a class declaration and defined outside the class is known as……………….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inline member function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non-inline member function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static member function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dynamic member function</a:t>
            </a:r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MCQ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/>
        </p:nvSpPr>
        <p:spPr>
          <a:xfrm>
            <a:off x="228600" y="1600200"/>
            <a:ext cx="8686800" cy="2678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 which are declared in a class declaration and defined outside the class is known as……………….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A) inline member function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</a:t>
            </a: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non-inline member function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static member function</a:t>
            </a:r>
            <a:br>
              <a:rPr lang="en-US" sz="2400" b="0" i="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dynamic member function</a:t>
            </a:r>
            <a:endParaRPr/>
          </a:p>
        </p:txBody>
      </p:sp>
      <p:sp>
        <p:nvSpPr>
          <p:cNvPr id="144" name="Google Shape;144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3"/>
          <p:cNvSpPr txBox="1"/>
          <p:nvPr/>
        </p:nvSpPr>
        <p:spPr>
          <a:xfrm>
            <a:off x="615950" y="508000"/>
            <a:ext cx="5505450" cy="584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5200" tIns="0" rIns="0" bIns="2380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rgbClr val="474747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>
              <a:solidFill>
                <a:srgbClr val="474747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Lato"/>
              <a:buNone/>
            </a:pPr>
            <a:r>
              <a:rPr lang="en-US" sz="2000" b="1" i="0" u="none">
                <a:solidFill>
                  <a:srgbClr val="474747"/>
                </a:solidFill>
                <a:latin typeface="Lato"/>
                <a:ea typeface="Lato"/>
                <a:cs typeface="Lato"/>
                <a:sym typeface="Lato"/>
              </a:rPr>
              <a:t>True about inline function statements in C++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class 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{ public: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 void func1()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 void func2();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 inline void A::func2()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Arial"/>
              <a:buNone/>
            </a:pPr>
            <a:r>
              <a:rPr lang="en-US" sz="2000" b="0" i="0" u="none">
                <a:solidFill>
                  <a:srgbClr val="474747"/>
                </a:solidFill>
                <a:latin typeface="Arial"/>
                <a:ea typeface="Arial"/>
                <a:cs typeface="Arial"/>
                <a:sym typeface="Arial"/>
              </a:rPr>
              <a:t>{ }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Lato"/>
              <a:buAutoNum type="arabicPeriod"/>
            </a:pPr>
            <a:r>
              <a:rPr lang="en-US" sz="2000" b="0" i="0" u="none">
                <a:solidFill>
                  <a:srgbClr val="474747"/>
                </a:solidFill>
                <a:latin typeface="Lato"/>
                <a:ea typeface="Lato"/>
                <a:cs typeface="Lato"/>
                <a:sym typeface="Lato"/>
              </a:rPr>
              <a:t>Func1 is inline function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Lato"/>
              <a:buAutoNum type="arabicPeriod"/>
            </a:pPr>
            <a:r>
              <a:rPr lang="en-US" sz="2000" b="0" i="0" u="none">
                <a:solidFill>
                  <a:srgbClr val="474747"/>
                </a:solidFill>
                <a:latin typeface="Lato"/>
                <a:ea typeface="Lato"/>
                <a:cs typeface="Lato"/>
                <a:sym typeface="Lato"/>
              </a:rPr>
              <a:t>Func2 only is inline function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Lato"/>
              <a:buAutoNum type="arabicPeriod"/>
            </a:pPr>
            <a:r>
              <a:rPr lang="en-US" sz="2000" b="0" i="0" u="none">
                <a:solidFill>
                  <a:srgbClr val="474747"/>
                </a:solidFill>
                <a:latin typeface="Lato"/>
                <a:ea typeface="Lato"/>
                <a:cs typeface="Lato"/>
                <a:sym typeface="Lato"/>
              </a:rPr>
              <a:t>Func1 and Func2 both are inline functions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Lato"/>
              <a:buAutoNum type="arabicPeriod"/>
            </a:pPr>
            <a:r>
              <a:rPr lang="en-US" sz="2000" b="0" i="0" u="none">
                <a:solidFill>
                  <a:srgbClr val="474747"/>
                </a:solidFill>
                <a:latin typeface="Lato"/>
                <a:ea typeface="Lato"/>
                <a:cs typeface="Lato"/>
                <a:sym typeface="Lato"/>
              </a:rPr>
              <a:t>None of the above is inline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474747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0" name="Google Shape;150;p1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717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MCQ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/>
        </p:nvSpPr>
        <p:spPr>
          <a:xfrm>
            <a:off x="615950" y="785812"/>
            <a:ext cx="7080250" cy="52863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5200" tIns="0" rIns="0" bIns="23805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0" u="none">
              <a:solidFill>
                <a:srgbClr val="4747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1" i="0" u="none">
              <a:solidFill>
                <a:srgbClr val="4747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True about inline function statements in C++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public: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void func1()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}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void func2();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inline void A::func2()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}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AutoNum type="arabicPeriod"/>
            </a:pPr>
            <a:r>
              <a:rPr lang="en-US" sz="2000" b="0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Func1 is inline function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AutoNum type="arabicPeriod"/>
            </a:pPr>
            <a:r>
              <a:rPr lang="en-US" sz="2000" b="0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Func2 only is inline function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AutoNum type="arabicPeriod"/>
            </a:pPr>
            <a:r>
              <a:rPr lang="en-US" sz="2000" b="1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Func1 and Func2 both are inline functions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74747"/>
              </a:buClr>
              <a:buSzPts val="2000"/>
              <a:buFont typeface="Times New Roman"/>
              <a:buAutoNum type="arabicPeriod"/>
            </a:pPr>
            <a:r>
              <a:rPr lang="en-US" sz="2000" b="0" i="0" u="none">
                <a:solidFill>
                  <a:srgbClr val="47474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None of the above is inline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>
              <a:solidFill>
                <a:srgbClr val="4747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4"/>
          <p:cNvSpPr txBox="1">
            <a:spLocks noGrp="1"/>
          </p:cNvSpPr>
          <p:nvPr>
            <p:ph type="title"/>
          </p:nvPr>
        </p:nvSpPr>
        <p:spPr>
          <a:xfrm>
            <a:off x="457200" y="609600"/>
            <a:ext cx="810577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Non-Inline Member Function</a:t>
            </a:r>
            <a:endParaRPr/>
          </a:p>
        </p:txBody>
      </p:sp>
      <p:sp>
        <p:nvSpPr>
          <p:cNvPr id="162" name="Google Shape;162;p15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309562" marR="0" lvl="0" indent="-309562" algn="just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Non-Inline Member Function is basically same as Normal function in C++.</a:t>
            </a:r>
            <a:endParaRPr/>
          </a:p>
          <a:p>
            <a:pPr marL="309562" marR="0" lvl="0" indent="-309562" algn="just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promotes code reuse and makes the program modular. During function calls, a lot of overhead tasks are performed like saving registers, pushing arguments to the stack, and returning to the calling function.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9562" marR="0" lvl="0" indent="-309562" algn="ctr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</a:t>
            </a:r>
            <a:endParaRPr/>
          </a:p>
          <a:p>
            <a:pPr marL="309562" marR="0" lvl="0" indent="-309562" algn="ctr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return_type_name function_name( parameters) </a:t>
            </a:r>
            <a:endParaRPr/>
          </a:p>
          <a:p>
            <a:pPr marL="309562" marR="0" lvl="0" indent="-309562" algn="ctr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</a:t>
            </a:r>
            <a:endParaRPr/>
          </a:p>
          <a:p>
            <a:pPr marL="309562" marR="0" lvl="0" indent="-309562" algn="ctr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Insert your Function code here </a:t>
            </a:r>
            <a:endParaRPr/>
          </a:p>
          <a:p>
            <a:pPr marL="309562" marR="0" lvl="0" indent="-309562" algn="ctr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lang="en-US"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example of Non-Inline function</a:t>
            </a:r>
            <a:endParaRPr/>
          </a:p>
        </p:txBody>
      </p:sp>
      <p:sp>
        <p:nvSpPr>
          <p:cNvPr id="168" name="Google Shape;168;p16"/>
          <p:cNvSpPr txBox="1">
            <a:spLocks noGrp="1"/>
          </p:cNvSpPr>
          <p:nvPr>
            <p:ph type="body" idx="1"/>
          </p:nvPr>
        </p:nvSpPr>
        <p:spPr>
          <a:xfrm>
            <a:off x="457200" y="1066800"/>
            <a:ext cx="3983037" cy="4941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&lt;iostream&gt;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using namespace std;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int square(int s)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return s * s;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main()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cout &lt;&lt; "Enter number to compute its square : 5 " &lt;&lt; endl;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lang="en-US"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endParaRPr/>
          </a:p>
        </p:txBody>
      </p:sp>
      <p:sp>
        <p:nvSpPr>
          <p:cNvPr id="169" name="Google Shape;169;p16"/>
          <p:cNvSpPr txBox="1">
            <a:spLocks noGrp="1"/>
          </p:cNvSpPr>
          <p:nvPr>
            <p:ph type="body" idx="2"/>
          </p:nvPr>
        </p:nvSpPr>
        <p:spPr>
          <a:xfrm>
            <a:off x="4578350" y="1066800"/>
            <a:ext cx="3984625" cy="4941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</a:t>
            </a:r>
            <a:r>
              <a:rPr lang="en-US"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cout &lt;&lt; "Square is : " &lt;&lt; square(5) &lt;&lt; endl;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return 0;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endParaRPr sz="28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r>
              <a:rPr lang="en-US" sz="25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  <a:p>
            <a:pPr marL="309563" marR="0" lvl="0" indent="-15081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None/>
            </a:pPr>
            <a:endParaRPr sz="25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MCQ</a:t>
            </a:r>
            <a:endParaRPr/>
          </a:p>
        </p:txBody>
      </p:sp>
      <p:sp>
        <p:nvSpPr>
          <p:cNvPr id="175" name="Google Shape;175;p17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statements about non-inline functions is true? </a:t>
            </a:r>
            <a:endParaRPr sz="20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UcParenR"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Non-inline functions must be defined in the same file where they are declared. </a:t>
            </a:r>
            <a:endParaRPr dirty="0"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UcParenR"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Non-inline functions are automatically </a:t>
            </a:r>
            <a:r>
              <a:rPr lang="en-US" sz="20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inlined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the compiler. </a:t>
            </a:r>
            <a:endParaRPr dirty="0"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Non-inline functions result in faster program execution compared to inline functions. </a:t>
            </a:r>
            <a:endParaRPr lang="en-US" dirty="0"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Non-inline functions can only be called from within the same class where they are defined.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statements about non-inline functions is true? </a:t>
            </a:r>
            <a:endParaRPr dirty="0"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UcParenR"/>
            </a:pPr>
            <a:r>
              <a:rPr lang="en-US" sz="2000" b="1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Non-inline functions must be defined in the same file where they are declared. </a:t>
            </a:r>
            <a:endParaRPr dirty="0"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Non-inline functions are automatically </a:t>
            </a:r>
            <a:r>
              <a:rPr lang="en-US" sz="2000" b="0" i="0" u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inlined</a:t>
            </a: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by the compiler. </a:t>
            </a:r>
            <a:endParaRPr dirty="0"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Non-inline functions result in faster program execution compared to inline functions. </a:t>
            </a:r>
            <a:endParaRPr dirty="0"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 b="0" i="0" u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Non-inline functions can only be called from within the same class where they are defined.</a:t>
            </a:r>
            <a:endParaRPr dirty="0"/>
          </a:p>
          <a:p>
            <a:pPr marL="309563" marR="0" lvl="0" indent="-1825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0" i="0" u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MCQ</a:t>
            </a:r>
            <a:endParaRPr/>
          </a:p>
        </p:txBody>
      </p:sp>
      <p:sp>
        <p:nvSpPr>
          <p:cNvPr id="187" name="Google Shape;187;p19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is a non-inline function declared in C++? 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U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the external keyword.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U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placing the noninline modifier before the function name.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U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the noinline keyword.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U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Non-inline functions don't need any special keyword for declaration.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</p:txBody>
      </p:sp>
      <p:sp>
        <p:nvSpPr>
          <p:cNvPr id="193" name="Google Shape;193;p20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is a non-inline function declared in C++?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U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the external keyword.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U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placing the noninline modifier before the function name.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U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the noinline keyword.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UcParenR"/>
            </a:pPr>
            <a:r>
              <a:rPr lang="en-US"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Non-inline functions don't need any special keyword for declaration.</a:t>
            </a:r>
            <a:endParaRPr/>
          </a:p>
          <a:p>
            <a:pPr marL="309563" marR="0" lvl="0" indent="-1825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Questions</a:t>
            </a:r>
            <a:endParaRPr/>
          </a:p>
        </p:txBody>
      </p:sp>
      <p:sp>
        <p:nvSpPr>
          <p:cNvPr id="199" name="Google Shape;199;p21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457200" marR="0" lvl="0" indent="-45720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program to find sum of 2 integers using inline function.</a:t>
            </a:r>
            <a:endParaRPr/>
          </a:p>
          <a:p>
            <a:pPr marL="457200" marR="0" lvl="0" indent="-4572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program to find the multiplication values and the cubic values using the inline function.</a:t>
            </a:r>
            <a:endParaRPr/>
          </a:p>
          <a:p>
            <a:pPr marL="457200" marR="0" lvl="0" indent="-4572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program for Inline Function without Class.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Data Members</a:t>
            </a:r>
            <a:endParaRPr/>
          </a:p>
        </p:txBody>
      </p:sp>
      <p:sp>
        <p:nvSpPr>
          <p:cNvPr id="205" name="Google Shape;205;p22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data members are class members that are declared using </a:t>
            </a:r>
            <a:r>
              <a:rPr lang="en-US"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</a:t>
            </a: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keywords. A static member has certain special characteristics which are as follows: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one copy of that member is created for the entire class and is shared by all the objects of that class, no matter how many objects are created.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initialized before any object of this class is created, even before the main starts.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visible only within the class, but its lifetime is the entire program.</a:t>
            </a:r>
            <a:endParaRPr/>
          </a:p>
          <a:p>
            <a:pPr marL="0" marR="0" lvl="0" indent="0" algn="ctr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Syntax:</a:t>
            </a:r>
            <a:endParaRPr/>
          </a:p>
          <a:p>
            <a:pPr marL="0" marR="0" lvl="0" indent="0" algn="ctr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data_type data_member_name;</a:t>
            </a:r>
            <a:endParaRPr sz="20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9563" marR="0" lvl="0" indent="-1825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0E7F017-BEBB-C0F5-CC32-96C7B8175E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22" y="868941"/>
            <a:ext cx="5648219" cy="58148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AB4F5D-3CC2-EF6C-CDED-101B74EEA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941" y="868941"/>
            <a:ext cx="3004309" cy="580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9985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 txBox="1">
            <a:spLocks noGrp="1"/>
          </p:cNvSpPr>
          <p:nvPr>
            <p:ph type="title"/>
          </p:nvPr>
        </p:nvSpPr>
        <p:spPr>
          <a:xfrm>
            <a:off x="457200" y="685800"/>
            <a:ext cx="81057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data member(count)</a:t>
            </a:r>
            <a:endParaRPr/>
          </a:p>
        </p:txBody>
      </p:sp>
      <p:pic>
        <p:nvPicPr>
          <p:cNvPr id="211" name="Google Shape;211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722437"/>
            <a:ext cx="8105775" cy="4168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67819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5E0C5-9E1D-015C-98AB-137B64E1F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51" y="690677"/>
            <a:ext cx="6129651" cy="57863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921E53-4429-7D83-2700-B705A76A0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1802" y="1316012"/>
            <a:ext cx="2720005" cy="49562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8E9099-4869-D47F-24D6-145D4BD50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925196"/>
            <a:ext cx="2249424" cy="33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047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785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example of static data member</a:t>
            </a:r>
            <a:endParaRPr/>
          </a:p>
        </p:txBody>
      </p:sp>
      <p:sp>
        <p:nvSpPr>
          <p:cNvPr id="217" name="Google Shape;217;p24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3983037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#include &lt;iostream&gt; #include&lt;string.h&gt;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namespace std;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Student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  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private: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rollNo;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 name[10];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 int marks;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public:  </a:t>
            </a:r>
            <a:endParaRPr/>
          </a:p>
        </p:txBody>
      </p:sp>
      <p:sp>
        <p:nvSpPr>
          <p:cNvPr id="218" name="Google Shape;218;p24"/>
          <p:cNvSpPr txBox="1">
            <a:spLocks noGrp="1"/>
          </p:cNvSpPr>
          <p:nvPr>
            <p:ph type="body" idx="2"/>
          </p:nvPr>
        </p:nvSpPr>
        <p:spPr>
          <a:xfrm>
            <a:off x="4572000" y="1600200"/>
            <a:ext cx="398462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int objectCount;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Student()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     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objectCount++;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getdata()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     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 &lt;&lt; "Enter roll number: "&lt;&lt;endl;  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cin &gt;&gt; rollNo;      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 &lt;&lt; "Enter name: "&lt;&lt;endl;     </a:t>
            </a:r>
            <a:r>
              <a:rPr lang="en-US" sz="16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 </a:t>
            </a: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9563" marR="0" lvl="0" indent="-2079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endParaRPr sz="16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Continued..</a:t>
            </a:r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3983037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 &gt;&gt; name;  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cout &lt;&lt; "Enter marks: "&lt;&lt;endl;      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cin &gt;&gt; marks;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 putdata()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      cout&lt;&lt;"Roll Number = "&lt;&lt; rollNo &lt;&lt;endl;      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cout&lt;&lt;"Name = "&lt;&lt; name &lt;&lt;endl;      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cout&lt;&lt;"Marks = "&lt;&lt; marks &lt;&lt;endl;      </a:t>
            </a:r>
            <a:endParaRPr/>
          </a:p>
        </p:txBody>
      </p:sp>
      <p:sp>
        <p:nvSpPr>
          <p:cNvPr id="225" name="Google Shape;225;p25"/>
          <p:cNvSpPr txBox="1">
            <a:spLocks noGrp="1"/>
          </p:cNvSpPr>
          <p:nvPr>
            <p:ph type="body" idx="2"/>
          </p:nvPr>
        </p:nvSpPr>
        <p:spPr>
          <a:xfrm>
            <a:off x="4578350" y="1604962"/>
            <a:ext cx="3984625" cy="479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lang="en-US" sz="28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cout&lt;&lt;endl;  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}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Student::objectCount = 0;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 main(void)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s1;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s1.getdata();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s1.putdata();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s2;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09563" marR="0" lvl="0" indent="-1571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Continued..</a:t>
            </a:r>
            <a:endParaRPr/>
          </a:p>
        </p:txBody>
      </p:sp>
      <p:sp>
        <p:nvSpPr>
          <p:cNvPr id="231" name="Google Shape;231;p26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3983037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s2.getdata();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s2.putdata();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Students3;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s3.getdata();   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s3.putdata();   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cout &lt;&lt; "Total objects created = " &lt;&lt; Student::objectCount &lt;&lt; endl;   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0;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body" idx="2"/>
          </p:nvPr>
        </p:nvSpPr>
        <p:spPr>
          <a:xfrm>
            <a:off x="4578350" y="1604962"/>
            <a:ext cx="398462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309563" marR="0" lvl="0" indent="-125413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Times New Roman"/>
              <a:buNone/>
            </a:pPr>
            <a:endParaRPr sz="2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 functions</a:t>
            </a:r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body" idx="1"/>
          </p:nvPr>
        </p:nvSpPr>
        <p:spPr>
          <a:xfrm>
            <a:off x="457200" y="1143000"/>
            <a:ext cx="8105775" cy="4865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 Function in a class is the function that is declared as static because of which function attains certain properties as defined below: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static member function is independent of any object of the class. 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static member function can be called even if no objects of the class exist.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static member function can also be accessed using the class name through the scope resolution operator.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static member function can access static data members and static member functions inside or outside of the class.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 functions have a scope inside the class and cannot access the current object pointer.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also use a static member function to determine how many objects of the class have been created.</a:t>
            </a:r>
            <a:endParaRPr/>
          </a:p>
          <a:p>
            <a:pPr marL="309563" marR="0" lvl="0" indent="-1825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MCQ</a:t>
            </a:r>
            <a:endParaRPr/>
          </a:p>
        </p:txBody>
      </p:sp>
      <p:sp>
        <p:nvSpPr>
          <p:cNvPr id="244" name="Google Shape;244;p28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is true about static member functions in C++? 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have access to all non-static members of the class.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can be called using the dot (.) operator.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automatically called when an instance of the class is created.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don't have a 'this' pointer.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</p:txBody>
      </p:sp>
      <p:sp>
        <p:nvSpPr>
          <p:cNvPr id="250" name="Google Shape;250;p29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is true about static member functions in C++? 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have access to all non-static members of the class. 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can be called using the dot (.) operator. 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are automatically called when an instance of the class is created.</a:t>
            </a:r>
            <a:endParaRPr/>
          </a:p>
          <a:p>
            <a:pPr marL="0" marR="0" lvl="0" indent="-1270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don't have a 'this' pointer</a:t>
            </a: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  <a:p>
            <a:pPr marL="309563" marR="0" lvl="0" indent="-1063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endParaRPr sz="3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MCQ</a:t>
            </a:r>
            <a:endParaRPr/>
          </a:p>
        </p:txBody>
      </p:sp>
      <p:sp>
        <p:nvSpPr>
          <p:cNvPr id="256" name="Google Shape;256;p30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benefit of using a static member function in C++?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modify all instances' data members simultaneously.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It can access private data members of the class.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can be called without creating an instance of the class.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d) It can be overridden in derived classes.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</p:txBody>
      </p:sp>
      <p:sp>
        <p:nvSpPr>
          <p:cNvPr id="262" name="Google Shape;262;p31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the benefit of using a static member function in C++?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 modify all instances' data members simultaneously.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can access private data members of the class.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can be called without creating an instance of the class.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It can be overridden in derived classes.</a:t>
            </a:r>
            <a:endParaRPr/>
          </a:p>
          <a:p>
            <a:pPr marL="309563" marR="0" lvl="0" indent="-1825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of Static Member functions</a:t>
            </a:r>
            <a:endParaRPr/>
          </a:p>
        </p:txBody>
      </p:sp>
      <p:sp>
        <p:nvSpPr>
          <p:cNvPr id="268" name="Google Shape;268;p32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309562" marR="0" lvl="0" indent="-309562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members are frequently used to store information that is shared by all objects in a class. </a:t>
            </a:r>
            <a:endParaRPr/>
          </a:p>
          <a:p>
            <a:pPr marL="309562" marR="0" lvl="0" indent="-309562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•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instance, you may keep track of the quantity of newly generated objects of a specific class type using a static data member as a counter. This static data member can be increased each time an object is generated to keep track of the overall number of objects.</a:t>
            </a:r>
            <a:endParaRPr/>
          </a:p>
          <a:p>
            <a:pPr marL="309563" marR="0" lvl="0" indent="-1825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A518106-65D3-9A36-D536-F4EAA4102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892" y="696686"/>
            <a:ext cx="882673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3782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C4B50E-7BE4-F079-8A58-04B05E424C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79" y="576943"/>
            <a:ext cx="8955404" cy="437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6044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04A89-3234-F2EE-D0BB-035D590C9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522515"/>
            <a:ext cx="9080137" cy="462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8985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F563C-176B-162C-5B47-A23244D8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3D066-CB81-E7A8-FB48-5CA29648F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9850" indent="0">
              <a:buNone/>
            </a:pPr>
            <a:r>
              <a:rPr lang="en-IN" sz="2000" dirty="0"/>
              <a:t>#include&lt;iostream&gt;</a:t>
            </a:r>
          </a:p>
          <a:p>
            <a:pPr marL="69850" indent="0">
              <a:buNone/>
            </a:pPr>
            <a:r>
              <a:rPr lang="en-IN" sz="2000" dirty="0"/>
              <a:t>using namespace std;</a:t>
            </a:r>
          </a:p>
          <a:p>
            <a:pPr marL="69850" indent="0">
              <a:buNone/>
            </a:pPr>
            <a:r>
              <a:rPr lang="en-IN" sz="2000" dirty="0"/>
              <a:t>class Rectangle</a:t>
            </a:r>
          </a:p>
          <a:p>
            <a:pPr marL="69850" indent="0">
              <a:buNone/>
            </a:pPr>
            <a:r>
              <a:rPr lang="en-IN" sz="2000" dirty="0"/>
              <a:t>{</a:t>
            </a:r>
          </a:p>
          <a:p>
            <a:pPr marL="69850" indent="0">
              <a:buNone/>
            </a:pPr>
            <a:r>
              <a:rPr lang="en-IN" sz="2000" dirty="0"/>
              <a:t>    int </a:t>
            </a:r>
            <a:r>
              <a:rPr lang="en-IN" sz="2000" dirty="0" err="1"/>
              <a:t>h,w</a:t>
            </a:r>
            <a:r>
              <a:rPr lang="en-IN" sz="2000" dirty="0"/>
              <a:t>;</a:t>
            </a:r>
          </a:p>
          <a:p>
            <a:pPr marL="69850" indent="0">
              <a:buNone/>
            </a:pPr>
            <a:r>
              <a:rPr lang="en-IN" sz="2000" dirty="0"/>
              <a:t>    static int count;</a:t>
            </a:r>
          </a:p>
          <a:p>
            <a:pPr marL="69850" indent="0">
              <a:buNone/>
            </a:pPr>
            <a:r>
              <a:rPr lang="en-IN" sz="2000" dirty="0"/>
              <a:t>    public:</a:t>
            </a:r>
          </a:p>
          <a:p>
            <a:pPr marL="69850" indent="0">
              <a:buNone/>
            </a:pPr>
            <a:r>
              <a:rPr lang="en-IN" sz="2000" dirty="0"/>
              <a:t>    void </a:t>
            </a:r>
            <a:r>
              <a:rPr lang="en-IN" sz="2000" dirty="0" err="1"/>
              <a:t>setDimensions</a:t>
            </a:r>
            <a:r>
              <a:rPr lang="en-IN" sz="2000" dirty="0"/>
              <a:t>()</a:t>
            </a:r>
          </a:p>
          <a:p>
            <a:pPr marL="69850" indent="0">
              <a:buNone/>
            </a:pPr>
            <a:r>
              <a:rPr lang="en-IN" sz="2000" dirty="0"/>
              <a:t>    {</a:t>
            </a:r>
          </a:p>
          <a:p>
            <a:pPr marL="69850" indent="0">
              <a:buNone/>
            </a:pPr>
            <a:r>
              <a:rPr lang="en-IN" sz="2000" dirty="0"/>
              <a:t>        </a:t>
            </a:r>
            <a:r>
              <a:rPr lang="en-IN" sz="2000" dirty="0" err="1"/>
              <a:t>cin</a:t>
            </a:r>
            <a:r>
              <a:rPr lang="en-IN" sz="2000" dirty="0"/>
              <a:t>&gt;&gt;h&gt;&gt;w;</a:t>
            </a:r>
          </a:p>
          <a:p>
            <a:pPr marL="69850" indent="0">
              <a:buNone/>
            </a:pPr>
            <a:r>
              <a:rPr lang="en-IN" sz="2000" dirty="0"/>
              <a:t>    }</a:t>
            </a:r>
          </a:p>
          <a:p>
            <a:pPr marL="69850" indent="0">
              <a:buNone/>
            </a:pPr>
            <a:r>
              <a:rPr lang="en-IN" sz="2000" dirty="0"/>
              <a:t>    int print(){return h*w;}</a:t>
            </a:r>
          </a:p>
          <a:p>
            <a:pPr marL="69850" indent="0">
              <a:buNone/>
            </a:pPr>
            <a:r>
              <a:rPr lang="en-IN" sz="2000" dirty="0"/>
              <a:t>};</a:t>
            </a:r>
          </a:p>
          <a:p>
            <a:pPr marL="69850" indent="0">
              <a:buNone/>
            </a:pPr>
            <a:r>
              <a:rPr lang="en-IN" sz="2000" dirty="0"/>
              <a:t>int Rectangle:: count =0;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7B2F0A-CD9C-65CC-E762-03C4F54A87D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52800" y="1604329"/>
            <a:ext cx="5715000" cy="4403982"/>
          </a:xfrm>
        </p:spPr>
        <p:txBody>
          <a:bodyPr/>
          <a:lstStyle/>
          <a:p>
            <a:pPr marL="69850" indent="0">
              <a:buNone/>
            </a:pPr>
            <a:r>
              <a:rPr lang="en-IN" sz="1800" dirty="0"/>
              <a:t>int main()</a:t>
            </a:r>
          </a:p>
          <a:p>
            <a:pPr marL="69850" indent="0">
              <a:buNone/>
            </a:pPr>
            <a:r>
              <a:rPr lang="en-IN" sz="1800" dirty="0"/>
              <a:t>{</a:t>
            </a:r>
          </a:p>
          <a:p>
            <a:pPr marL="69850" indent="0">
              <a:buNone/>
            </a:pPr>
            <a:r>
              <a:rPr lang="en-IN" sz="1800" dirty="0"/>
              <a:t>    Rectangle </a:t>
            </a:r>
            <a:r>
              <a:rPr lang="en-IN" sz="1800" dirty="0" err="1"/>
              <a:t>ob</a:t>
            </a:r>
            <a:r>
              <a:rPr lang="en-IN" sz="1800" dirty="0"/>
              <a:t>;</a:t>
            </a:r>
          </a:p>
          <a:p>
            <a:pPr marL="69850" indent="0">
              <a:buNone/>
            </a:pPr>
            <a:r>
              <a:rPr lang="en-IN" sz="1800" dirty="0"/>
              <a:t>    int n;</a:t>
            </a:r>
          </a:p>
          <a:p>
            <a:pPr marL="6985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cin</a:t>
            </a:r>
            <a:r>
              <a:rPr lang="en-IN" sz="1800" dirty="0"/>
              <a:t>&gt;&gt;n;</a:t>
            </a:r>
          </a:p>
          <a:p>
            <a:pPr marL="69850" indent="0">
              <a:buNone/>
            </a:pPr>
            <a:r>
              <a:rPr lang="en-IN" sz="1800" dirty="0"/>
              <a:t>    </a:t>
            </a:r>
            <a:r>
              <a:rPr lang="en-IN" sz="1800" dirty="0" err="1"/>
              <a:t>cout</a:t>
            </a:r>
            <a:r>
              <a:rPr lang="en-IN" sz="1800" dirty="0"/>
              <a:t>&lt;&lt;"Total number of rectangles: "&lt;&lt;n&lt;&lt;</a:t>
            </a:r>
            <a:r>
              <a:rPr lang="en-IN" sz="1800" dirty="0" err="1"/>
              <a:t>endl</a:t>
            </a:r>
            <a:r>
              <a:rPr lang="en-IN" sz="1800" dirty="0"/>
              <a:t>;</a:t>
            </a:r>
          </a:p>
          <a:p>
            <a:pPr marL="69850" indent="0">
              <a:buNone/>
            </a:pPr>
            <a:r>
              <a:rPr lang="en-IN" sz="1800" dirty="0"/>
              <a:t>    for(int </a:t>
            </a:r>
            <a:r>
              <a:rPr lang="en-IN" sz="1800" dirty="0" err="1"/>
              <a:t>i</a:t>
            </a:r>
            <a:r>
              <a:rPr lang="en-IN" sz="1800" dirty="0"/>
              <a:t>=1;i&lt;=</a:t>
            </a:r>
            <a:r>
              <a:rPr lang="en-IN" sz="1800" dirty="0" err="1"/>
              <a:t>n;i</a:t>
            </a:r>
            <a:r>
              <a:rPr lang="en-IN" sz="1800" dirty="0"/>
              <a:t>++)</a:t>
            </a:r>
          </a:p>
          <a:p>
            <a:pPr marL="69850" indent="0">
              <a:buNone/>
            </a:pPr>
            <a:r>
              <a:rPr lang="en-IN" sz="1800" dirty="0"/>
              <a:t>    {</a:t>
            </a:r>
          </a:p>
          <a:p>
            <a:pPr marL="6985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ob.setDimensions</a:t>
            </a:r>
            <a:r>
              <a:rPr lang="en-IN" sz="1800" dirty="0"/>
              <a:t>();</a:t>
            </a:r>
          </a:p>
          <a:p>
            <a:pPr marL="69850" indent="0">
              <a:buNone/>
            </a:pPr>
            <a:r>
              <a:rPr lang="en-IN" sz="1800" dirty="0"/>
              <a:t>        </a:t>
            </a:r>
            <a:r>
              <a:rPr lang="en-IN" sz="1800" dirty="0" err="1"/>
              <a:t>cout</a:t>
            </a:r>
            <a:r>
              <a:rPr lang="en-IN" sz="1800" dirty="0"/>
              <a:t>&lt;&lt;"Area of rectangle "&lt;&lt;</a:t>
            </a:r>
            <a:r>
              <a:rPr lang="en-IN" sz="1800" dirty="0" err="1"/>
              <a:t>i</a:t>
            </a:r>
            <a:r>
              <a:rPr lang="en-IN" sz="1800" dirty="0"/>
              <a:t>&lt;&lt;":"&lt;&lt;</a:t>
            </a:r>
            <a:r>
              <a:rPr lang="en-IN" sz="1800" dirty="0" err="1"/>
              <a:t>ob.print</a:t>
            </a:r>
            <a:r>
              <a:rPr lang="en-IN" sz="1800" dirty="0"/>
              <a:t>()&lt;&lt;</a:t>
            </a:r>
            <a:r>
              <a:rPr lang="en-IN" sz="1800" dirty="0" err="1"/>
              <a:t>endl</a:t>
            </a:r>
            <a:r>
              <a:rPr lang="en-IN" sz="1800" dirty="0"/>
              <a:t>;</a:t>
            </a:r>
          </a:p>
          <a:p>
            <a:pPr marL="69850" indent="0">
              <a:buNone/>
            </a:pPr>
            <a:r>
              <a:rPr lang="en-IN" sz="1800" dirty="0"/>
              <a:t>    }</a:t>
            </a:r>
          </a:p>
          <a:p>
            <a:pPr marL="69850" indent="0">
              <a:buNone/>
            </a:pPr>
            <a:r>
              <a:rPr lang="en-IN" sz="1800" dirty="0"/>
              <a:t>    return 0;</a:t>
            </a:r>
          </a:p>
          <a:p>
            <a:pPr marL="69850" indent="0">
              <a:buNone/>
            </a:pPr>
            <a:r>
              <a:rPr lang="en-IN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58246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3DA77D-A24C-E6DF-3D09-A6832BFC0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62" y="604850"/>
            <a:ext cx="4899336" cy="507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100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6F895D-B8E9-9541-913E-CA57DAB30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02" y="1012372"/>
            <a:ext cx="8654172" cy="399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0658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6F895D-B8E9-9541-913E-CA57DAB30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521" y="838200"/>
            <a:ext cx="4739752" cy="35052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DE66922-37DF-2181-28A2-DB16A61B3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62" y="539536"/>
            <a:ext cx="3859463" cy="522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0559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0B75EE-708C-8D64-FCD0-134D81E5B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2884"/>
            <a:ext cx="9032036" cy="478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243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0232B8-8FBC-2CCD-229E-6345E0016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" y="914401"/>
            <a:ext cx="9142408" cy="295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642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1B4523-2755-3F6B-D152-06F7DFFD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10" y="674915"/>
            <a:ext cx="8523976" cy="55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4737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0710C9-B715-B6D3-1044-5C36E3B3C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12" y="554637"/>
            <a:ext cx="6387731" cy="601706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80BD15-B4DF-CF1A-5D57-8A5067501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433" y="848864"/>
            <a:ext cx="4562620" cy="3461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0854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875F99-CB4E-2522-FC6F-0BB93D939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14" y="943610"/>
            <a:ext cx="6489364" cy="4923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9278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3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 example of Static Member functions</a:t>
            </a:r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3983037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 &lt;iostream&gt;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namespace std;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class Box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 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private: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static int length;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static int breadth;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static int height;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public: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</a:t>
            </a:r>
            <a:endParaRPr/>
          </a:p>
          <a:p>
            <a:pPr marL="309563" marR="0" lvl="0" indent="-1825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3"/>
          <p:cNvSpPr txBox="1">
            <a:spLocks noGrp="1"/>
          </p:cNvSpPr>
          <p:nvPr>
            <p:ph type="body" idx="2"/>
          </p:nvPr>
        </p:nvSpPr>
        <p:spPr>
          <a:xfrm>
            <a:off x="4578350" y="1604962"/>
            <a:ext cx="398462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 void print()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{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cout &lt;&lt; "The value of the length is: " &lt;&lt; length &lt;&lt; endl;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cout &lt;&lt; "The value of the breadth is: " &lt;&lt; breadth &lt;&lt; endl;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 cout &lt;&lt; "The value of the height is: " &lt;&lt; height &lt;&lt; endl;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}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}; </a:t>
            </a:r>
            <a:endParaRPr/>
          </a:p>
          <a:p>
            <a:pPr marL="309563" marR="0" lvl="0" indent="-1825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34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3983037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Box :: length = 10;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Box :: breadth = 20;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Box :: height = 30;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int main()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{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Box b; 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 &lt;&lt; "Static member function is called through Object name: \n" &lt;&lt; endl;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b.print();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</a:t>
            </a:r>
            <a:endParaRPr/>
          </a:p>
        </p:txBody>
      </p:sp>
      <p:sp>
        <p:nvSpPr>
          <p:cNvPr id="282" name="Google Shape;282;p34"/>
          <p:cNvSpPr txBox="1">
            <a:spLocks noGrp="1"/>
          </p:cNvSpPr>
          <p:nvPr>
            <p:ph type="body" idx="2"/>
          </p:nvPr>
        </p:nvSpPr>
        <p:spPr>
          <a:xfrm>
            <a:off x="4578350" y="1604962"/>
            <a:ext cx="398462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cout &lt;&lt; "\nStatic member function is called through Class name: \n" &lt;&lt; endl;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Box::print();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return 0; 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/>
          </a:p>
          <a:p>
            <a:pPr marL="309563" marR="0" lvl="0" indent="-1825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MCQ</a:t>
            </a:r>
            <a:endParaRPr/>
          </a:p>
        </p:txBody>
      </p:sp>
      <p:sp>
        <p:nvSpPr>
          <p:cNvPr id="288" name="Google Shape;288;p35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static member function in C++? 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member function that can only be called from objects of the class.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A member function that is declared as 'const' within the class.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c) A member function that belongs to the class rather than to any specific object of the class.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A member function that has access to private data members of the class.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</p:txBody>
      </p:sp>
      <p:sp>
        <p:nvSpPr>
          <p:cNvPr id="294" name="Google Shape;294;p36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static member function in C++? 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member function that can only be called from objects of the class. </a:t>
            </a:r>
            <a:endParaRPr/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member function that is declared as 'const' within the class. 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member function that belongs to the class rather than to any specific object of the class. </a:t>
            </a:r>
            <a:endParaRPr sz="20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270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lphaLcParenR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member function that has access to private data members of the class.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MCQ</a:t>
            </a:r>
            <a:endParaRPr/>
          </a:p>
        </p:txBody>
      </p:sp>
      <p:sp>
        <p:nvSpPr>
          <p:cNvPr id="300" name="Google Shape;300;p37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is true about static member functions in C++?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a) They can access non-static data members directly.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They can be called using the dot (.) operator.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c) They have a 'this' pointer pointing to the current object.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They are invoked using the class name without creating an instance of the class.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8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</a:t>
            </a:r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0" marR="0" lvl="0" indent="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of the following is true about static member functions in C++?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a) They can access non-static data members directly.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b) They can be called using the dot (.) operator.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c) They have a 'this' pointer pointing to the current object. </a:t>
            </a:r>
            <a:endParaRPr/>
          </a:p>
          <a:p>
            <a:pPr marL="0" marR="0" lvl="0" indent="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lang="en-US"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d) They are invoked using the class name without creating an instance of the class.</a:t>
            </a:r>
            <a:endParaRPr/>
          </a:p>
          <a:p>
            <a:pPr marL="309563" marR="0" lvl="0" indent="-182563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endParaRPr sz="20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105775" cy="1022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625" tIns="42450" rIns="81625" bIns="42450" anchor="ctr" anchorCtr="0">
            <a:noAutofit/>
          </a:bodyPr>
          <a:lstStyle/>
          <a:p>
            <a:pPr marL="0" lvl="0" indent="0" algn="ctr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b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Questions</a:t>
            </a:r>
            <a:endParaRPr/>
          </a:p>
        </p:txBody>
      </p:sp>
      <p:sp>
        <p:nvSpPr>
          <p:cNvPr id="312" name="Google Shape;312;p39"/>
          <p:cNvSpPr txBox="1">
            <a:spLocks noGrp="1"/>
          </p:cNvSpPr>
          <p:nvPr>
            <p:ph type="body" idx="1"/>
          </p:nvPr>
        </p:nvSpPr>
        <p:spPr>
          <a:xfrm>
            <a:off x="457200" y="1604962"/>
            <a:ext cx="8105775" cy="4403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400" rIns="0" bIns="0" anchor="t" anchorCtr="0">
            <a:noAutofit/>
          </a:bodyPr>
          <a:lstStyle/>
          <a:p>
            <a:pPr marL="457200" marR="0" lvl="0" indent="-457200" algn="l" rtl="0">
              <a:lnSpc>
                <a:spcPct val="9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program to calculate the area of circles using static data members and static member function.</a:t>
            </a:r>
            <a:endParaRPr/>
          </a:p>
          <a:p>
            <a:pPr marL="457200" marR="0" lvl="0" indent="-4572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program to keep track of the number of objects using static data members.</a:t>
            </a:r>
            <a:endParaRPr/>
          </a:p>
          <a:p>
            <a:pPr marL="457200" marR="0" lvl="0" indent="-457200" algn="l" rtl="0">
              <a:lnSpc>
                <a:spcPct val="97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-US"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Write a program to calculate the factorial of a number using a static member function.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2743</Words>
  <Application>Microsoft Office PowerPoint</Application>
  <PresentationFormat>On-screen Show (4:3)</PresentationFormat>
  <Paragraphs>348</Paragraphs>
  <Slides>55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1" baseType="lpstr">
      <vt:lpstr>Arial</vt:lpstr>
      <vt:lpstr>Calibri</vt:lpstr>
      <vt:lpstr>Noto Sans Symbols</vt:lpstr>
      <vt:lpstr>Lato</vt:lpstr>
      <vt:lpstr>Times New Roman</vt:lpstr>
      <vt:lpstr>Theme1</vt:lpstr>
      <vt:lpstr>Lecture 5</vt:lpstr>
      <vt:lpstr>Outline </vt:lpstr>
      <vt:lpstr>C++ inline function</vt:lpstr>
      <vt:lpstr>Program example of Inline function</vt:lpstr>
      <vt:lpstr>PowerPoint Presentation</vt:lpstr>
      <vt:lpstr>Inline Member Function</vt:lpstr>
      <vt:lpstr>Program example of Inline Member function</vt:lpstr>
      <vt:lpstr> When not to use Inline Function</vt:lpstr>
      <vt:lpstr>  Advantages and Disadvantages of Inline Function</vt:lpstr>
      <vt:lpstr>MCQ</vt:lpstr>
      <vt:lpstr>Solution</vt:lpstr>
      <vt:lpstr>MCQ</vt:lpstr>
      <vt:lpstr>Solution</vt:lpstr>
      <vt:lpstr> MCQ</vt:lpstr>
      <vt:lpstr>Solution</vt:lpstr>
      <vt:lpstr> Non-Inline Member Function</vt:lpstr>
      <vt:lpstr>Program example of Non-Inline function</vt:lpstr>
      <vt:lpstr> MCQ</vt:lpstr>
      <vt:lpstr> Solution</vt:lpstr>
      <vt:lpstr> MCQ</vt:lpstr>
      <vt:lpstr> Solution</vt:lpstr>
      <vt:lpstr> Practice Questions</vt:lpstr>
      <vt:lpstr> Static Data Members</vt:lpstr>
      <vt:lpstr>PowerPoint Presentation</vt:lpstr>
      <vt:lpstr>Static data member(count)</vt:lpstr>
      <vt:lpstr>PowerPoint Presentation</vt:lpstr>
      <vt:lpstr>PowerPoint Presentation</vt:lpstr>
      <vt:lpstr> Program example of static data member</vt:lpstr>
      <vt:lpstr>Continued..</vt:lpstr>
      <vt:lpstr>Continued..</vt:lpstr>
      <vt:lpstr>Static Member functions</vt:lpstr>
      <vt:lpstr> MCQ</vt:lpstr>
      <vt:lpstr> Solution</vt:lpstr>
      <vt:lpstr> MCQ</vt:lpstr>
      <vt:lpstr> Solution</vt:lpstr>
      <vt:lpstr> Need of Static Member functions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Program example of Static Member functions</vt:lpstr>
      <vt:lpstr>PowerPoint Presentation</vt:lpstr>
      <vt:lpstr> MCQ</vt:lpstr>
      <vt:lpstr> Solution</vt:lpstr>
      <vt:lpstr> MCQ</vt:lpstr>
      <vt:lpstr> Solution</vt:lpstr>
      <vt:lpstr> Practice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</dc:title>
  <dc:creator>Shilpa</dc:creator>
  <cp:lastModifiedBy>Vipin Kumar</cp:lastModifiedBy>
  <cp:revision>9</cp:revision>
  <dcterms:created xsi:type="dcterms:W3CDTF">2012-08-08T04:10:33Z</dcterms:created>
  <dcterms:modified xsi:type="dcterms:W3CDTF">2023-08-10T06:05:30Z</dcterms:modified>
</cp:coreProperties>
</file>